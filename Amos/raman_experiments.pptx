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5A6B76"/>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B76"/>
              </a:solidFill>
              <a:effectLst/>
            </c:spPr>
          </c:dPt>
          <c:dPt>
            <c:idx val="1"/>
            <c:invertIfNegative val="0"/>
            <c:bubble3D val="0"/>
            <c:spPr>
              <a:solidFill>
                <a:srgbClr val="5A6B76"/>
              </a:solidFill>
              <a:effectLst/>
            </c:spPr>
          </c:dPt>
          <c:dPt>
            <c:idx val="2"/>
            <c:invertIfNegative val="0"/>
            <c:bubble3D val="0"/>
            <c:spPr>
              <a:solidFill>
                <a:srgbClr val="5A6B76"/>
              </a:solidFill>
              <a:effectLst/>
            </c:spPr>
          </c:dPt>
          <c:cat>
            <c:multiLvlStrRef>
              <c:f>Sheet1!$A$2:$A$4</c:f>
              <c:multiLvlStrCache>
                <c:ptCount val="3"/>
                <c:lvl>
                  <c:pt idx="0">
                    <c:v>Run 1</c:v>
                  </c:pt>
                  <c:pt idx="1">
                    <c:v>Run 2</c:v>
                  </c:pt>
                  <c:pt idx="2">
                    <c:v>Run 3</c:v>
                  </c:pt>
                </c:lvl>
              </c:multiLvlStrCache>
            </c:multiLvlStrRef>
          </c:cat>
          <c:val>
            <c:numRef>
              <c:f>Sheet1!$B$2:$B$4</c:f>
              <c:numCache>
                <c:formatCode>General</c:formatCode>
                <c:ptCount val="3"/>
                <c:pt idx="0">
                  <c:v>74.67</c:v>
                </c:pt>
                <c:pt idx="1">
                  <c:v>73.8</c:v>
                </c:pt>
                <c:pt idx="2">
                  <c:v>75.87</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78"/>
          <c:min val="7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After stage 1</c:v>
                </c:pt>
              </c:strCache>
            </c:strRef>
          </c:tx>
          <c:spPr>
            <a:solidFill>
              <a:srgbClr val="C05A3C"/>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Sheet1!$B$2:$B$4</c:f>
              <c:numCache>
                <c:formatCode>General</c:formatCode>
                <c:ptCount val="3"/>
                <c:pt idx="0">
                  <c:v>50.2</c:v>
                </c:pt>
                <c:pt idx="1">
                  <c:v>49.2</c:v>
                </c:pt>
                <c:pt idx="2">
                  <c:v>55.5</c:v>
                </c:pt>
              </c:numCache>
            </c:numRef>
          </c:val>
        </c:ser>
        <c:ser>
          <c:idx val="1"/>
          <c:order val="1"/>
          <c:tx>
            <c:strRef>
              <c:f>Sheet1!$C$1</c:f>
              <c:strCache>
                <c:ptCount val="1"/>
                <c:pt idx="0">
                  <c:v>After stage 2</c:v>
                </c:pt>
              </c:strCache>
            </c:strRef>
          </c:tx>
          <c:spPr>
            <a:solidFill>
              <a:srgbClr val="3F9E86"/>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Sheet1!$C$2:$C$4</c:f>
              <c:numCache>
                <c:formatCode>General</c:formatCode>
                <c:ptCount val="3"/>
                <c:pt idx="0">
                  <c:v>74.67</c:v>
                </c:pt>
                <c:pt idx="1">
                  <c:v>73.8</c:v>
                </c:pt>
                <c:pt idx="2">
                  <c:v>75.87</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0C2E4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C05A3C"/>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C05A3C"/>
              </a:solidFill>
              <a:effectLst/>
            </c:spPr>
          </c:dPt>
          <c:dPt>
            <c:idx val="1"/>
            <c:invertIfNegative val="0"/>
            <c:bubble3D val="0"/>
            <c:spPr>
              <a:solidFill>
                <a:srgbClr val="C05A3C"/>
              </a:solidFill>
              <a:effectLst/>
            </c:spPr>
          </c:dPt>
          <c:dPt>
            <c:idx val="2"/>
            <c:invertIfNegative val="0"/>
            <c:bubble3D val="0"/>
            <c:spPr>
              <a:solidFill>
                <a:srgbClr val="C05A3C"/>
              </a:solidFill>
              <a:effectLst/>
            </c:spPr>
          </c:dPt>
          <c:dPt>
            <c:idx val="3"/>
            <c:invertIfNegative val="0"/>
            <c:bubble3D val="0"/>
            <c:spPr>
              <a:solidFill>
                <a:srgbClr val="3F9E86"/>
              </a:solidFill>
              <a:effectLst/>
            </c:spPr>
          </c:dPt>
          <c:dPt>
            <c:idx val="4"/>
            <c:invertIfNegative val="0"/>
            <c:bubble3D val="0"/>
            <c:spPr>
              <a:solidFill>
                <a:srgbClr val="3F9E86"/>
              </a:solidFill>
              <a:effectLst/>
            </c:spPr>
          </c:dPt>
          <c:dPt>
            <c:idx val="5"/>
            <c:invertIfNegative val="0"/>
            <c:bubble3D val="0"/>
            <c:spPr>
              <a:solidFill>
                <a:srgbClr val="3F9E86"/>
              </a:solidFill>
              <a:effectLst/>
            </c:spPr>
          </c:dPt>
          <c:cat>
            <c:multiLvlStrRef>
              <c:f>Sheet1!$A$2:$A$7</c:f>
              <c:multiLvlStrCache>
                <c:ptCount val="6"/>
                <c:lvl>
                  <c:pt idx="0">
                    <c:v>All four steps</c:v>
                  </c:pt>
                  <c:pt idx="1">
                    <c:v>No speck removal</c:v>
                  </c:pt>
                  <c:pt idx="2">
                    <c:v>No smoothing</c:v>
                  </c:pt>
                  <c:pt idx="3">
                    <c:v>No background step</c:v>
                  </c:pt>
                  <c:pt idx="4">
                    <c:v>No cleaning at all</c:v>
                  </c:pt>
                  <c:pt idx="5">
                    <c:v>Rescaling only</c:v>
                  </c:pt>
                </c:lvl>
              </c:multiLvlStrCache>
            </c:multiLvlStrRef>
          </c:cat>
          <c:val>
            <c:numRef>
              <c:f>Sheet1!$B$2:$B$7</c:f>
              <c:numCache>
                <c:formatCode>General</c:formatCode>
                <c:ptCount val="6"/>
                <c:pt idx="0">
                  <c:v>74.78</c:v>
                </c:pt>
                <c:pt idx="1">
                  <c:v>74.04</c:v>
                </c:pt>
                <c:pt idx="2">
                  <c:v>75.64</c:v>
                </c:pt>
                <c:pt idx="3">
                  <c:v>82.39</c:v>
                </c:pt>
                <c:pt idx="4">
                  <c:v>83.56</c:v>
                </c:pt>
                <c:pt idx="5">
                  <c:v>83.89</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6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3F9E86"/>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3F9E86"/>
              </a:solidFill>
              <a:effectLst/>
            </c:spPr>
          </c:dPt>
          <c:dPt>
            <c:idx val="1"/>
            <c:invertIfNegative val="0"/>
            <c:bubble3D val="0"/>
            <c:spPr>
              <a:solidFill>
                <a:srgbClr val="1C7293"/>
              </a:solidFill>
              <a:effectLst/>
            </c:spPr>
          </c:dPt>
          <c:dPt>
            <c:idx val="2"/>
            <c:invertIfNegative val="0"/>
            <c:bubble3D val="0"/>
            <c:spPr>
              <a:solidFill>
                <a:srgbClr val="5A6B76"/>
              </a:solidFill>
              <a:effectLst/>
            </c:spPr>
          </c:dPt>
          <c:dPt>
            <c:idx val="3"/>
            <c:invertIfNegative val="0"/>
            <c:bubble3D val="0"/>
            <c:spPr>
              <a:solidFill>
                <a:srgbClr val="5A6B76"/>
              </a:solidFill>
              <a:effectLst/>
            </c:spPr>
          </c:dPt>
          <c:dPt>
            <c:idx val="4"/>
            <c:invertIfNegative val="0"/>
            <c:bubble3D val="0"/>
            <c:spPr>
              <a:solidFill>
                <a:srgbClr val="5A6B76"/>
              </a:solidFill>
              <a:effectLst/>
            </c:spPr>
          </c:dPt>
          <c:cat>
            <c:multiLvlStrRef>
              <c:f>Sheet1!$A$2:$A$6</c:f>
              <c:multiLvlStrCache>
                <c:ptCount val="5"/>
                <c:lvl>
                  <c:pt idx="0">
                    <c:v>Simple (40k)</c:v>
                  </c:pt>
                  <c:pt idx="1">
                    <c:v>Deep (263k)</c:v>
                  </c:pt>
                  <c:pt idx="2">
                    <c:v>Multi-scale (193k)</c:v>
                  </c:pt>
                  <c:pt idx="3">
                    <c:v>Attention (110k)</c:v>
                  </c:pt>
                  <c:pt idx="4">
                    <c:v>Hybrid (76k)</c:v>
                  </c:pt>
                </c:lvl>
              </c:multiLvlStrCache>
            </c:multiLvlStrRef>
          </c:cat>
          <c:val>
            <c:numRef>
              <c:f>Sheet1!$B$2:$B$6</c:f>
              <c:numCache>
                <c:formatCode>General</c:formatCode>
                <c:ptCount val="5"/>
                <c:pt idx="0">
                  <c:v>83.89</c:v>
                </c:pt>
                <c:pt idx="1">
                  <c:v>79.56</c:v>
                </c:pt>
                <c:pt idx="2">
                  <c:v>74.6</c:v>
                </c:pt>
                <c:pt idx="3">
                  <c:v>72.76</c:v>
                </c:pt>
                <c:pt idx="4">
                  <c:v>66.47</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5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5A6B76"/>
            </a:solidFill>
            <a:effectLst/>
          </c:spPr>
          <c:invertIfNegative val="0"/>
          <c:dLbls>
            <c:numFmt formatCode="0.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B76"/>
              </a:solidFill>
              <a:effectLst/>
            </c:spPr>
          </c:dPt>
          <c:dPt>
            <c:idx val="1"/>
            <c:invertIfNegative val="0"/>
            <c:bubble3D val="0"/>
            <c:spPr>
              <a:solidFill>
                <a:srgbClr val="5A6B76"/>
              </a:solidFill>
              <a:effectLst/>
            </c:spPr>
          </c:dPt>
          <c:dPt>
            <c:idx val="2"/>
            <c:invertIfNegative val="0"/>
            <c:bubble3D val="0"/>
            <c:spPr>
              <a:solidFill>
                <a:srgbClr val="5A6B76"/>
              </a:solidFill>
              <a:effectLst/>
            </c:spPr>
          </c:dPt>
          <c:dPt>
            <c:idx val="3"/>
            <c:invertIfNegative val="0"/>
            <c:bubble3D val="0"/>
            <c:spPr>
              <a:solidFill>
                <a:srgbClr val="5A6B76"/>
              </a:solidFill>
              <a:effectLst/>
            </c:spPr>
          </c:dPt>
          <c:cat>
            <c:multiLvlStrRef>
              <c:f>Sheet1!$A$2:$A$5</c:f>
              <c:multiLvlStrCache>
                <c:ptCount val="4"/>
                <c:lvl>
                  <c:pt idx="0">
                    <c:v>Unchanged</c:v>
                  </c:pt>
                  <c:pt idx="1">
                    <c:v>Progress checking</c:v>
                  </c:pt>
                  <c:pt idx="2">
                    <c:v>Random variations</c:v>
                  </c:pt>
                  <c:pt idx="3">
                    <c:v>Confidence penalty</c:v>
                  </c:pt>
                </c:lvl>
              </c:multiLvlStrCache>
            </c:multiLvlStrRef>
          </c:cat>
          <c:val>
            <c:numRef>
              <c:f>Sheet1!$B$2:$B$5</c:f>
              <c:numCache>
                <c:formatCode>General</c:formatCode>
                <c:ptCount val="4"/>
                <c:pt idx="0">
                  <c:v>83.89</c:v>
                </c:pt>
                <c:pt idx="1">
                  <c:v>83.91</c:v>
                </c:pt>
                <c:pt idx="2">
                  <c:v>83.86</c:v>
                </c:pt>
                <c:pt idx="3">
                  <c:v>84.04</c:v>
                </c:pt>
              </c:numCache>
            </c:numRef>
          </c:val>
        </c:ser>
        <c:dLbls>
          <c:numFmt formatCode="0.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86"/>
          <c:min val="8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3F9E86"/>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3F9E86"/>
              </a:solidFill>
              <a:effectLst/>
            </c:spPr>
          </c:dPt>
          <c:dPt>
            <c:idx val="1"/>
            <c:invertIfNegative val="0"/>
            <c:bubble3D val="0"/>
            <c:spPr>
              <a:solidFill>
                <a:srgbClr val="C05A3C"/>
              </a:solidFill>
              <a:effectLst/>
            </c:spPr>
          </c:dPt>
          <c:cat>
            <c:multiLvlStrRef>
              <c:f>Sheet1!$A$2:$A$3</c:f>
              <c:multiLvlStrCache>
                <c:ptCount val="2"/>
                <c:lvl>
                  <c:pt idx="0">
                    <c:v>20 passes</c:v>
                  </c:pt>
                  <c:pt idx="1">
                    <c:v>60 passes</c:v>
                  </c:pt>
                </c:lvl>
              </c:multiLvlStrCache>
            </c:multiLvlStrRef>
          </c:cat>
          <c:val>
            <c:numRef>
              <c:f>Sheet1!$B$2:$B$3</c:f>
              <c:numCache>
                <c:formatCode>General</c:formatCode>
                <c:ptCount val="2"/>
                <c:pt idx="0">
                  <c:v>83.89</c:v>
                </c:pt>
                <c:pt idx="1">
                  <c:v>82.88</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86"/>
          <c:min val="78"/>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Run-to-run wobble</c:v>
                </c:pt>
              </c:strCache>
            </c:strRef>
          </c:tx>
          <c:spPr>
            <a:solidFill>
              <a:srgbClr val="3F9E86"/>
            </a:solidFill>
            <a:effectLst/>
          </c:spPr>
          <c:invertIfNegative val="0"/>
          <c:dLbls>
            <c:numFmt formatCode="0.00&quot; pts&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3F9E86"/>
              </a:solidFill>
              <a:effectLst/>
            </c:spPr>
          </c:dPt>
          <c:dPt>
            <c:idx val="1"/>
            <c:invertIfNegative val="0"/>
            <c:bubble3D val="0"/>
            <c:spPr>
              <a:solidFill>
                <a:srgbClr val="C05A3C"/>
              </a:solidFill>
              <a:effectLst/>
            </c:spPr>
          </c:dPt>
          <c:cat>
            <c:multiLvlStrRef>
              <c:f>Sheet1!$A$2:$A$3</c:f>
              <c:multiLvlStrCache>
                <c:ptCount val="2"/>
                <c:lvl>
                  <c:pt idx="0">
                    <c:v>20 passes</c:v>
                  </c:pt>
                  <c:pt idx="1">
                    <c:v>60 passes</c:v>
                  </c:pt>
                </c:lvl>
              </c:multiLvlStrCache>
            </c:multiLvlStrRef>
          </c:cat>
          <c:val>
            <c:numRef>
              <c:f>Sheet1!$B$2:$B$3</c:f>
              <c:numCache>
                <c:formatCode>General</c:formatCode>
                <c:ptCount val="2"/>
                <c:pt idx="0">
                  <c:v>0.33</c:v>
                </c:pt>
                <c:pt idx="1">
                  <c:v>1.14</c:v>
                </c:pt>
              </c:numCache>
            </c:numRef>
          </c:val>
        </c:ser>
        <c:dLbls>
          <c:numFmt formatCode="0.00&quot; pts&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5"/>
          <c:min val="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Old species kept</c:v>
                </c:pt>
              </c:strCache>
            </c:strRef>
          </c:tx>
          <c:spPr>
            <a:solidFill>
              <a:srgbClr val="1C7293"/>
            </a:solidFill>
            <a:effectLst/>
          </c:spPr>
          <c:invertIfNegative val="0"/>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Start fresh</c:v>
                  </c:pt>
                  <c:pt idx="1">
                    <c:v>Mix in old examples</c:v>
                  </c:pt>
                  <c:pt idx="2">
                    <c:v>Freeze most of it</c:v>
                  </c:pt>
                  <c:pt idx="3">
                    <c:v>New data only</c:v>
                  </c:pt>
                </c:lvl>
              </c:multiLvlStrCache>
            </c:multiLvlStrRef>
          </c:cat>
          <c:val>
            <c:numRef>
              <c:f>Sheet1!$B$2:$B$5</c:f>
              <c:numCache>
                <c:formatCode>General</c:formatCode>
                <c:ptCount val="4"/>
                <c:pt idx="0">
                  <c:v>86.3</c:v>
                </c:pt>
                <c:pt idx="1">
                  <c:v>85.9</c:v>
                </c:pt>
                <c:pt idx="2">
                  <c:v>85.7</c:v>
                </c:pt>
                <c:pt idx="3">
                  <c:v>79.2</c:v>
                </c:pt>
              </c:numCache>
            </c:numRef>
          </c:val>
        </c:ser>
        <c:ser>
          <c:idx val="1"/>
          <c:order val="1"/>
          <c:tx>
            <c:strRef>
              <c:f>Sheet1!$C$1</c:f>
              <c:strCache>
                <c:ptCount val="1"/>
                <c:pt idx="0">
                  <c:v>New species learned</c:v>
                </c:pt>
              </c:strCache>
            </c:strRef>
          </c:tx>
          <c:spPr>
            <a:solidFill>
              <a:srgbClr val="3F9E86"/>
            </a:solidFill>
            <a:effectLst/>
          </c:spPr>
          <c:invertIfNegative val="0"/>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Start fresh</c:v>
                  </c:pt>
                  <c:pt idx="1">
                    <c:v>Mix in old examples</c:v>
                  </c:pt>
                  <c:pt idx="2">
                    <c:v>Freeze most of it</c:v>
                  </c:pt>
                  <c:pt idx="3">
                    <c:v>New data only</c:v>
                  </c:pt>
                </c:lvl>
              </c:multiLvlStrCache>
            </c:multiLvlStrRef>
          </c:cat>
          <c:val>
            <c:numRef>
              <c:f>Sheet1!$C$2:$C$5</c:f>
              <c:numCache>
                <c:formatCode>General</c:formatCode>
                <c:ptCount val="4"/>
                <c:pt idx="0">
                  <c:v>72.4</c:v>
                </c:pt>
                <c:pt idx="1">
                  <c:v>23.2</c:v>
                </c:pt>
                <c:pt idx="2">
                  <c:v>0</c:v>
                </c:pt>
                <c:pt idx="3">
                  <c:v>5</c:v>
                </c:pt>
              </c:numCache>
            </c:numRef>
          </c:val>
        </c:ser>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0C2E4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Old species kept</c:v>
                </c:pt>
              </c:strCache>
            </c:strRef>
          </c:tx>
          <c:spPr>
            <a:solidFill>
              <a:srgbClr val="1C7293"/>
            </a:solidFill>
            <a:effectLst/>
          </c:spPr>
          <c:invertIfNegative val="0"/>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Start fresh</c:v>
                  </c:pt>
                  <c:pt idx="1">
                    <c:v>Mix in old examples</c:v>
                  </c:pt>
                  <c:pt idx="2">
                    <c:v>Freeze most of it</c:v>
                  </c:pt>
                  <c:pt idx="3">
                    <c:v>New data only</c:v>
                  </c:pt>
                </c:lvl>
              </c:multiLvlStrCache>
            </c:multiLvlStrRef>
          </c:cat>
          <c:val>
            <c:numRef>
              <c:f>Sheet1!$B$2:$B$5</c:f>
              <c:numCache>
                <c:formatCode>General</c:formatCode>
                <c:ptCount val="4"/>
                <c:pt idx="0">
                  <c:v>86.3</c:v>
                </c:pt>
                <c:pt idx="1">
                  <c:v>85.9</c:v>
                </c:pt>
                <c:pt idx="2">
                  <c:v>23.8</c:v>
                </c:pt>
                <c:pt idx="3">
                  <c:v>2.8</c:v>
                </c:pt>
              </c:numCache>
            </c:numRef>
          </c:val>
        </c:ser>
        <c:ser>
          <c:idx val="1"/>
          <c:order val="1"/>
          <c:tx>
            <c:strRef>
              <c:f>Sheet1!$C$1</c:f>
              <c:strCache>
                <c:ptCount val="1"/>
                <c:pt idx="0">
                  <c:v>New species learned</c:v>
                </c:pt>
              </c:strCache>
            </c:strRef>
          </c:tx>
          <c:spPr>
            <a:solidFill>
              <a:srgbClr val="3F9E86"/>
            </a:solidFill>
            <a:effectLst/>
          </c:spPr>
          <c:invertIfNegative val="0"/>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Start fresh</c:v>
                  </c:pt>
                  <c:pt idx="1">
                    <c:v>Mix in old examples</c:v>
                  </c:pt>
                  <c:pt idx="2">
                    <c:v>Freeze most of it</c:v>
                  </c:pt>
                  <c:pt idx="3">
                    <c:v>New data only</c:v>
                  </c:pt>
                </c:lvl>
              </c:multiLvlStrCache>
            </c:multiLvlStrRef>
          </c:cat>
          <c:val>
            <c:numRef>
              <c:f>Sheet1!$C$2:$C$5</c:f>
              <c:numCache>
                <c:formatCode>General</c:formatCode>
                <c:ptCount val="4"/>
                <c:pt idx="0">
                  <c:v>72.4</c:v>
                </c:pt>
                <c:pt idx="1">
                  <c:v>8.6</c:v>
                </c:pt>
                <c:pt idx="2">
                  <c:v>45.6</c:v>
                </c:pt>
                <c:pt idx="3">
                  <c:v>69.2</c:v>
                </c:pt>
              </c:numCache>
            </c:numRef>
          </c:val>
        </c:ser>
        <c:dLbls>
          <c:numFmt formatCode="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0C2E4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5A6B76"/>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B76"/>
              </a:solidFill>
              <a:effectLst/>
            </c:spPr>
          </c:dPt>
          <c:dPt>
            <c:idx val="1"/>
            <c:invertIfNegative val="0"/>
            <c:bubble3D val="0"/>
            <c:spPr>
              <a:solidFill>
                <a:srgbClr val="5A6B76"/>
              </a:solidFill>
              <a:effectLst/>
            </c:spPr>
          </c:dPt>
          <c:dPt>
            <c:idx val="2"/>
            <c:invertIfNegative val="0"/>
            <c:bubble3D val="0"/>
            <c:spPr>
              <a:solidFill>
                <a:srgbClr val="5A6B76"/>
              </a:solidFill>
              <a:effectLst/>
            </c:spPr>
          </c:dPt>
          <c:dPt>
            <c:idx val="3"/>
            <c:invertIfNegative val="0"/>
            <c:bubble3D val="0"/>
            <c:spPr>
              <a:solidFill>
                <a:srgbClr val="3F9E86"/>
              </a:solidFill>
              <a:effectLst/>
            </c:spPr>
          </c:dPt>
          <c:cat>
            <c:multiLvlStrRef>
              <c:f>Sheet1!$A$2:$A$5</c:f>
              <c:multiLvlStrCache>
                <c:ptCount val="4"/>
                <c:lvl>
                  <c:pt idx="0">
                    <c:v>Version 1</c:v>
                  </c:pt>
                  <c:pt idx="1">
                    <c:v>Version 2</c:v>
                  </c:pt>
                  <c:pt idx="2">
                    <c:v>Version 3</c:v>
                  </c:pt>
                  <c:pt idx="3">
                    <c:v>All three averaged</c:v>
                  </c:pt>
                </c:lvl>
              </c:multiLvlStrCache>
            </c:multiLvlStrRef>
          </c:cat>
          <c:val>
            <c:numRef>
              <c:f>Sheet1!$B$2:$B$5</c:f>
              <c:numCache>
                <c:formatCode>General</c:formatCode>
                <c:ptCount val="4"/>
                <c:pt idx="0">
                  <c:v>83.57</c:v>
                </c:pt>
                <c:pt idx="1">
                  <c:v>84.23</c:v>
                </c:pt>
                <c:pt idx="2">
                  <c:v>83.87</c:v>
                </c:pt>
                <c:pt idx="3">
                  <c:v>85.03</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8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C05A3C"/>
            </a:solidFill>
            <a:effectLst/>
          </c:spPr>
          <c:invertIfNegative val="0"/>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dPt>
            <c:idx val="0"/>
            <c:invertIfNegative val="0"/>
            <c:bubble3D val="0"/>
            <c:spPr>
              <a:solidFill>
                <a:srgbClr val="C05A3C"/>
              </a:solidFill>
              <a:effectLst/>
            </c:spPr>
          </c:dPt>
          <c:dPt>
            <c:idx val="1"/>
            <c:invertIfNegative val="0"/>
            <c:bubble3D val="0"/>
            <c:spPr>
              <a:solidFill>
                <a:srgbClr val="5A6B76"/>
              </a:solidFill>
              <a:effectLst/>
            </c:spPr>
          </c:dPt>
          <c:dPt>
            <c:idx val="2"/>
            <c:invertIfNegative val="0"/>
            <c:bubble3D val="0"/>
            <c:spPr>
              <a:solidFill>
                <a:srgbClr val="5A6B76"/>
              </a:solidFill>
              <a:effectLst/>
            </c:spPr>
          </c:dPt>
          <c:dPt>
            <c:idx val="3"/>
            <c:invertIfNegative val="0"/>
            <c:bubble3D val="0"/>
            <c:spPr>
              <a:solidFill>
                <a:srgbClr val="3F9E86"/>
              </a:solidFill>
              <a:effectLst/>
            </c:spPr>
          </c:dPt>
          <c:dPt>
            <c:idx val="4"/>
            <c:invertIfNegative val="0"/>
            <c:bubble3D val="0"/>
            <c:spPr>
              <a:solidFill>
                <a:srgbClr val="3F9E86"/>
              </a:solidFill>
              <a:effectLst/>
            </c:spPr>
          </c:dPt>
          <c:dPt>
            <c:idx val="5"/>
            <c:invertIfNegative val="0"/>
            <c:bubble3D val="0"/>
            <c:spPr>
              <a:solidFill>
                <a:srgbClr val="1C7293"/>
              </a:solidFill>
              <a:effectLst/>
            </c:spPr>
          </c:dPt>
          <c:cat>
            <c:multiLvlStrRef>
              <c:f>Sheet1!$A$2:$A$7</c:f>
              <c:multiLvlStrCache>
                <c:ptCount val="6"/>
                <c:lvl>
                  <c:pt idx="0">
                    <c:v>Measured start</c:v>
                  </c:pt>
                  <c:pt idx="1">
                    <c:v>Simple statistical method</c:v>
                  </c:pt>
                  <c:pt idx="2">
                    <c:v>Published larger model</c:v>
                  </c:pt>
                  <c:pt idx="3">
                    <c:v>After cleaning fix</c:v>
                  </c:pt>
                  <c:pt idx="4">
                    <c:v>Plus three combined</c:v>
                  </c:pt>
                  <c:pt idx="5">
                    <c:v>Best published result</c:v>
                  </c:pt>
                </c:lvl>
              </c:multiLvlStrCache>
            </c:multiLvlStrRef>
          </c:cat>
          <c:val>
            <c:numRef>
              <c:f>Sheet1!$B$2:$B$7</c:f>
              <c:numCache>
                <c:formatCode>General</c:formatCode>
                <c:ptCount val="6"/>
                <c:pt idx="0">
                  <c:v>74.78</c:v>
                </c:pt>
                <c:pt idx="1">
                  <c:v>79.63</c:v>
                </c:pt>
                <c:pt idx="2">
                  <c:v>82</c:v>
                </c:pt>
                <c:pt idx="3">
                  <c:v>83.89</c:v>
                </c:pt>
                <c:pt idx="4">
                  <c:v>85.03</c:v>
                </c:pt>
                <c:pt idx="5">
                  <c:v>86.3</c:v>
                </c:pt>
              </c:numCache>
            </c:numRef>
          </c:val>
        </c:ser>
        <c:dLbls>
          <c:numFmt formatCode="0.0&quot;%&quot;" sourceLinked="0"/>
          <c:txPr>
            <a:bodyPr/>
            <a:lstStyle/>
            <a:p>
              <a:pPr>
                <a:defRPr b="0" i="0" strike="noStrike" sz="1000" u="none">
                  <a:solidFill>
                    <a:srgbClr val="0C2E4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C2E45"/>
                </a:solidFill>
                <a:latin typeface="Calibri"/>
              </a:defRPr>
            </a:pPr>
            <a:endParaRPr lang="en-US"/>
          </a:p>
        </c:txPr>
        <c:crossAx val="2094734552"/>
        <c:crosses val="autoZero"/>
        <c:auto val="1"/>
        <c:lblAlgn val="ctr"/>
        <c:noMultiLvlLbl val="1"/>
      </c:catAx>
      <c:valAx>
        <c:axId val="2094734552"/>
        <c:scaling>
          <c:orientation val="minMax"/>
          <c:max val="100"/>
          <c:min val="70"/>
        </c:scaling>
        <c:delete val="1"/>
        <c:axPos val="b"/>
        <c:majorGridlines>
          <c:spPr>
            <a:ln w="12700" cap="flat">
              <a:solidFill>
                <a:srgbClr val="DCE4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6"/>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A complete, non-technical walkthrough of every experiment run on the RAMAN Effect classifier, in the order they happened. Each slide has full technical detail in these notes.
WHAT THE SYSTEM DOES
Raman spectroscopy shines a laser at a sample. Most light bounces back unchanged, but about one photon in a million comes back with slightly different energy because it interacted with a molecular vibration. Measuring those energy shifts gives a "fingerprint" curve that is characteristic of the molecules present. Different bacterial species have different molecular compositions, so they have different fingerprints.
THE DATA
Ho et al. (2019), published in Nature Communications, released the bacteria-ID dataset. Each spectrum is 1,000 numbers representing intensity at 1,000 different energy shifts, covering 381.98 to 1792.40 wavenumbers (cm-1), the "biological fingerprint region". 30 classes: 28 bacterial isolates plus 2 yeasts. Files: 60,000 reference spectra (2,000 per class, clean lab conditions), 3,000 fine-tune spectra (100 per class, different measurement conditions), 3,000 test spectra (100 per class, held out for scoring).
THE STARTING NUMBER
Project documentation claimed 76.50% accuracy. That figure came from a single run, logged by a previous contributor on a different machine, using a version of main.py that had since been rewritten. No random seed was set, no configuration was recorded, and the code that produced it no longer existed in the repository.
THE FINAL NUMBER
85.03%, from three combined models, each 40,446 parameters, measured on the same 3,000-sample held-out test set, with every setting recorded and the whole run reproducible bit-for-bit.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INHERITED
A Python repository with five model designs, 18 saved log files, and a documentation folder summarising results. Branch "hrishikesh", commit fb58ad3.
PROBLEM 1: THE CODE CHANGED UNDER THE RESULTS
main.py was last modified in commit f4e1e29. That commit introduced per-epoch validation, best-checkpoint saving, and early stopping. Before it, the code validated once at the very end and saved the final epoch's weights. 14 of the 18 logs, including the one reporting 76.50%, were produced by the OLD code. You can tell which version produced a log by counting "Validation set:" lines: one line means old code, one per epoch means new. So the headline number cannot be reproduced by running the current code with the same flags.
PROBLEM 2: NO CONFIGURATION CAPTURE
The scripts never wrote their arguments anywhere. Reconstructing what settings produced each log required inference: the training loop prints progress every 100 batches, so the second progress line shows 100 times the batch size. 6400 means batch size 64; 12800 means 128.
PROBLEM 3: NO SEEDING
Neural network training starts from random weights and shuffles data randomly. A "seed" is a number that fixes that randomness so the same run repeats exactly. Nowhere in the repository was torch.manual_seed, numpy.random.seed, or random.seed called for the model weights, the data augmentation, or the shuffling. Only the train/validation split was seeded, at 42.
PROBLEM 4: THE IMPOSSIBLE ERROR BAR
A cross-validation script reported 73.23% plus or minus 0.11%. Two defects caused this. First, it drew five independent random 90/10 splits rather than five disjoint partitions, so the "folds" overlapped arbitrarily and all shared one pre-trained starting model, which artificially compresses the spread. Second, the line best_weights = model.state_dict() stores live references to the model's tensors, not copies, so later epochs overwrote the "best" weights in place and the reload was a no-op. The number reported was the last epoch, not the best one.
ALSO CORRECTED
Documentation claimed the environment had CPU-only PyTorch. It actually had torch 2.11.0 with CUDA 12.8 and a working GPU. Documentation also gave the wavenumber axis as ascending; it is descending, from 1792.40 down to 381.98 in steps of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Each sample is a list of 1,000 intensity readings. Before it reaches the model, code converts it to a 1-channel, 1,000-long array, the same shape a short piece of audio would have.
THE MODEL
A one-dimensional convolutional neural network. It slides small pattern detectors along the 1,000-point curve, looking for peak shapes, then combines them into progressively more abstract features, then outputs 30 scores, one per species. The highest score wins. The winning design, "LegacyCNN", has 40,446 adjustable numbers inside it. For comparison, a smartphone photo has about 12 million pixels; this model is roughly 300 times smaller than one photo.
STAGE 1 IN DETAIL
60,000 reference spectra. If a validation split is requested (0.33 was standard), 40,200 are used for training and 19,800 for checking progress. Runs for up to 100 passes ("epochs") over the data. Uses the Adam optimiser at learning rate 0.001, a cosine-decaying learning rate schedule, and cross-entropy loss. If the validation score stops improving for 10 consecutive passes, training stops early and the best checkpoint is restored.
STAGE 2 IN DETAIL
3,000 spectra measured under different conditions. Runs 20 passes at one tenth the learning rate (0.0001), which nudges the model rather than retraining it. Originally there was no validation and no early stopping here; whatever the last pass produced was saved.
THE EXAM
3,000 held-out spectra, exactly 100 per class. Never used for training or for any decision. Accuracy is the percentage classified correctly. Because the classes are perfectly balanced, accuracy and "macro-recall" (the average per-class success rate) are mathematically identical here, which served as a useful self-check on the measurement code.
THE DOMAIN GAP
One run was done with stage 2 switched off entirely. Validation on lab data looked healthy at 76%, but the exam score collapsed to 33%. That is the clearest demonstration that lab data and real-world data differ substantially.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"SEED" IS
Training involves randomness in three places: the initial values of the model's 40,446 internal numbers are random; the order in which training examples are shown is shuffled; and the data augmentation applies random perturbations. A seed is a single number that fixes all of that randomness. Same seed, same sequence of random numbers, identical result. Different seed, a different but equally valid training run.
WHAT WAS BUILT FIRST
Four new code modules, none of which change what the model learns:
- repro.py: sets the seed for Python, NumPy, PyTorch and CUDA; disables cuDNN's autotuning, which otherwise picks different internal algorithms run-to-run; resolves which device to use and errors rather than silently falling back to CPU.
- runmeta.py: writes a manifest.json for every run containing all command-line arguments, the git commit, whether the working tree had uncommitted changes, the device name, and every library version. Also gives each run its own folder, fixing a bug where consecutive runs of different model designs overwrote each other's saved weights.
- cache.py: stores preprocessed data so the slow cleaning step runs once rather than at every script start.
- metrics.py: adds per-class accuracy, macro-F1 and the full 30x30 confusion matrix. Previously the code returned a single accuracy number and nothing else.
THE DETERMINISM CHECK
Before measuring the spread, two runs with the SAME seed were compared. They matched to full floating-point precision: validation loss 1.1417966807683309 on both. That proves the seeding is complete and no hidden randomness remains.
THE MEASUREMENT
Three runs, seeds 1, 2, 3. Command: python main.py --model-type legacy_cnn --epochs 100 --finetune-epochs 20 --val-split 0.33 --augment --seed N
Results: 74.67%, 73.80%, 75.87%. Mean 74.78%, standard deviation 1.04 points, spread 2.07 points.
WHAT THIS INVALIDATED
The documentation claimed data augmentation improved the small model from 75.10% to 76.50%, a gain of 1.40 points. That is inside the noise. It also claimed a cross-validation margin of plus or minus 0.11%, which is about ten times smaller than the real run-to-run variation.
WHAT SURVIVED
The claimed 6.6-point gap between the small and large model designs is three times the noise, so that one remained credible and was re-tested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QUESTION MATTERED
Having established that results wobble by 2 points, the next question was which of the two training stages introduces that wobble, because that determines what to fix.
HOW IT WAS MEASURED WITHOUT ANY NEW TRAINING
Every run saves two sets of model weights: one at the end of stage 1 ("reference.pth") and one at the end of stage 2 ("finetuned.pth"). A script loaded all six from the three runs and scored each on the same 3,000-sample exam. No retraining required; it took two minutes.
THE NUMBERS
After stage 1: 50.20%, 49.20%, 55.50%. Mean 51.63%, spread 6.30 points.
After stage 2: 74.67%, 73.80%, 75.87%. Mean 74.78%, spread 2.07 points.
Ratio of spreads: 0.33. Stage 2 reduces the variation by a factor of three.
THE PREDICTION THAT WAS WRONG
I had argued that stage 2 was "an unconstrained random walk" adding instability, on the grounds that it runs 20 unsupervised passes over only 100 samples per class and keeps whatever comes out last. The data says the opposite: stage 2 acts as a strong attractor, pulling three quite different models toward a common solution.
A USEFUL BY-PRODUCT
The fine-tuning gain is 24.5, 24.6 and 20.4 points across the three runs, averaging 23. Documentation had generalised from a single run with a different model design to claim it was worth 43 points. The real figure for this model is about half that, still by far the largest single effect in the pipeline.
A SECOND BY-PRODUCT: A NOISE FLOOR FOR "FORGETTING"
Two independently trained models differ on individual classes by up to 0.21 in recall purely from seed variation. That number became the reference point later, when measuring whether updating a model damages what it already knew.
WHY IT DID NOT CHANGE THE PLAN
Although stage 1 is the origin of the variation, the pass-through rate is only about one third: 6.3 points of stage-1 spread becomes 2.1 points of final spread. Halving the stage-1 spread would buy roughly 0.35 points of final stability. Low leverage, so it was not pursued.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FOUR CLEANING STEPS WERE
Before a spectrum reaches the model, src/dataset.py ran four operations from the ramanspy library, in this order:
1. Whitaker-Hayes despiking: detects and removes sharp single-point spikes caused by cosmic rays hitting the detector.
2. Savitzky-Golay smoothing, window 9, polynomial order 3: fits a small polynomial through each neighbourhood of 9 points to reduce random jitter.
3. ASPLS baseline correction: fits a slowly-varying curve under the whole spectrum and subtracts it, to remove the broad glow caused by sample fluorescence.
4. MinMax normalisation: rescales every spectrum so its lowest point is 0 and its highest is 1.
WHY STEP 3 WAS SUSPECTED
Measurement showed the distributed data files already lie between 0.0 and 1.0 before any processing. The people who published the dataset had already baseline-corrected and normalised it. ASPLS applied on top of that has no fluorescence glow left to find, so the smooth curve it fits ends up tracing the envelope of the real peaks, and subtracting it removes genuine band area. The analogy: wiping a window that is already clean, and taking off the paint underneath.
HOW THE EXPERIMENT WAS BUILT
The four steps were rewritten as a named list that both describes the pipeline and builds it, so the description cannot drift from the code. Six named variants were defined: full, no_despike, no_savgol, no_aspls, minmax_only, none. Each variant automatically gets its own cache entry, so arms cannot contaminate one another. Each arm was run with seeds 1, 2 and 3, the same three seeds in every arm.
HOW IT WAS TESTED
Two tests. First, a paired comparison: for each seed, the difference between arms, which cancels seed effects. Second, McNemar's test, which compares the two models' predictions sample by sample on the identical 3,000 exam questions and counts only the disagreements. That is far more sensitive than comparing two accuracy percentages, because the test-set sampling error cancels out entirely.
THE NUMBERS
Every arm containing ASPLS: 74.04%, 74.78%, 75.64%.
Every arm without it: 82.39%, 83.56%, 83.89%.
Paired difference for removing ASPLS: +7.61 points, 95% confidence interval +3.71 to +11.51. McNemar pooled over three seeds: 1,261 samples that only the ASPLS-free model got right, against 576 the other way. p = 2.5 x 10^-57.
Removing despiking and smoothing as well was worth a further 1.50 points, p = 7 x 10^-6.
A SECOND BENEFIT
Run-to-run variation fell from 1.04 to 0.33 standard deviation. ASPLS was injecting instability as well as error, which makes sense: a baseline fitted to noisy peak structure varies with whichever noise realisation it sees.
WHAT WAS KEPT AND WHY
MinMax rescaling was kept even though it makes no measurable difference on this dataset, because it is what makes the model insensitive to overall brightness. New data from a different instrument will not arrive pre-scaled, and the step costs nothing.
WHAT THIS INVALIDATED
Every accuracy figure in the project documentation, all 18 saved logs, and the documentation page explaining why each cleaning step was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DESIGNS
1. LegacyCNN, 40,446 settings. Six simple pattern-detecting layers, each followed by a shrinking step that halves the resolution. The sequence length collapses 1000 to 333 to 111 to 37 to 12 to 4 to 1. Ported from the original paper's published code.
2. Raman1DCNN, 262,510 settings. A residual network, the standard modern design, with shortcut connections that let information skip layers.
3. MultiscaleCNN, 193,358 settings. Runs four different detector sizes in parallel (widths 1, 3, 7 and 11) so it can see both narrow peaks and broad humps at once.
4. Transformer1D, 109,726 settings. Chops the spectrum into 10 chunks of 100 points and uses an attention mechanism, the same family of design used in large language models.
5. FusionNet, 75,694 settings. A small convolutional front end feeding an attention back end.
WHY THIS NEEDED RE-TESTING
The project's most interesting claim was that accuracy is inversely related to model size, which is unusual. But that comparison had been made with the faulty cleaning step switched on, from single runs. There was a plausible alternative explanation: if the cleaning was destroying the fine detail, the larger models would have nothing extra to learn from and would simply memorise noise. I argued for that explanation twice.
THE RE-TEST
All five designs, three seeds each, with minmax_only cleaning. 15 runs.
LegacyCNN 83.89 (sd 0.33), Raman1DCNN 79.56 (sd 1.78), MultiscaleCNN 74.60 (sd 0.89), Transformer1D 72.76 (sd 5.65), FusionNet 66.47 (sd 1.84).
THE VERDICT
The original finding holds and is now better supported than it ever was: 15 runs with corrected data instead of 5 single runs with faulty data. My alternative explanation was wrong.
WHAT DID CHANGE
Every design improved. The Transformer improved most, by about 18 points, consistent with the idea that a design without built-in assumptions about the shape of the data suffers most when the data is degraded. The ordering between the two middle designs also changed: MultiscaleCNN now clearly beats FusionNet.
THE STABILITY FINDING
Nobody had measured run-to-run variation per design before. LegacyCNN varies by 0.33 points, Transformer1D by 5.65. One Transformer seed landed at 66.23% while the other two were at 76.10% and 75.93%. Likely cause, not yet confirmed: its internal starting values use an unscaled random distribution that is too large for its size, so some starting points never recover.
WHY THE SMALL MODEL PROBABLY WINS
The task has 60,000 training examples but only 3,000 examples of the realistic conditions that matter at exam time. A model with more capacity has more room to over-fit the clean laboratory data in ways that do not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WRONG WITH STAGE 2
It ran 20 passes over 3,000 samples, saved whatever the last pass produced, and never checked whether pass 20 was better or worse than pass 8. It also silently discarded the weight-decay setting: the line creating the stage-2 optimiser omitted the weight_decay argument, so it defaulted to zero regardless of what the user asked for. And data augmentation was never applied in stage 2, only in stage 1, even when the user passed the augment flag.
THE THREE REMEDIES
1. Progress checking. Hold back 10% of the 3,000 stage-2 samples, stratified so every class contributes exactly 10. After each pass, score on those 300 and keep a deep copy of the weights from the best pass rather than the last one. The deep copy matters: PyTorch's state_dict returns live references, so a shallow save is silently overwritten by later passes. That exact bug existed elsewhere in the repository.
2. Random variations (data augmentation). Three perturbations applied fresh each time a sample is used: shift the whole spectrum sideways by up to 5 positions, which mimics instrument miscalibration; add small random noise at 1% of scale, which mimics detector noise; multiply the whole spectrum by a factor between 0.95 and 1.05, which mimics laser power drift.
3. Confidence penalty (weight decay 0.01). Discourages the model's internal numbers from growing large, which limits how confidently it can fit the training data.
THE DESIGN
Four arms, cumulative rather than independent: unchanged; plus checking; plus checking and variations; plus all three. Three seeds each, 12 runs. Cumulative was chosen deliberately over a full factorial, which would have needed 8 arms and 24 runs to resolve effects likely smaller than a point.
THE RESULTS
83.89, 83.91, 83.86, 84.04. Paired differences against the unchanged arm: +0.02, -0.03, +0.16.
A STATISTICAL SUBTLETY WORTH KNOWING
The confidence-penalty arm showed +0.16 with a confidence interval that excluded zero, which looks significant. But the sample-by-sample McNemar test on the same pair gave p = 0.47, which is nothing. The interval was narrow only because three numbers happened to land close together; with three data points a confidence interval estimates its own width from those same three numbers and is nearly uninformative. The sample-by-sample test is the one to trust. Treat the +0.16 as zero.
WHY PROGRESS CHECKING BOUGHT NOTHING
The best pass was reported as 17 or 20 out of 20 in every single run. When the best pass is the last pass, keeping the best is identical to keeping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CLUE THAT PROMPTED THIS
In experiment 5, the best pass was reported as 17 or 20 out of 20 in every run. The natural reading is that training was cut short: if the best result is always at the end, perhaps it had not finished improving. I estimated a 40% chance that longer training would help.
THE TEST
Same configuration, stage 2 extended from 20 passes to 60. Two arms, with and without progress checking, three seeds each, 6 runs.
THE RESULT
20 passes: 83.89%, standard deviation 0.33.
60 passes: 82.88%, standard deviation 1.14.
Paired: seed 1 lost 0.43, seed 2 lost 0.37, seed 3 lost 2.23. All three worse. McNemar pooled: 281 samples the shorter training got right that the longer one missed, against 190 the other way, p = 3.4 x 10^-5.
HOW THE CLUE WAS MISREAD
At 60 passes, the best pass was reported as 54, 56 and 57. The best pass tracks roughly 90% of whatever budget it is given, whether that budget is 20 or 60. That is not the signature of a model still improving; it is the signature of a validation set too small to distinguish late passes from one another. With only 300 held-out samples, the pass-to-pass differences are smaller than the measurement noise, so the "best" is effectively picked at random from the later passes.
THE INSTABILITY
Tripling the training time tripled the run-to-run variation. Seed 3 lost 2.23 points on its own while seeds 1 and 2 lost about 0.4 each, so the effect is not uniform degradation. Extended training on a small dataset occasionally sends a run badly off course.
A NOTE ON A CONFOUND
The learning-rate schedule is tied to the number of passes, so "60 passes" also means a gentler decay curve, not simply more steps of the same kind. If longer training had won, we would not have known which of the two caused it. Since it lost, the confound does not matter.
THE RUNNING TALLY AT THIS POINT
Five attempts to beat 83.89% had now failed: progress checking, stage-2 augmentation, weight decay, longer training, and longer training with checking. That is reasonable evidence the configuration sits at a genuine local optimum rather than simply never having been pushed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The deployed system knows 30 species. A lab isolates five more. What should you do? This is the question the project brief was actually about: accommodating new data.
HOW IT WAS SIMULATED
Five of the 30 classes were hidden from the start. A model was trained normally on the remaining 25, reaching 87.32% on those 25. Then the five hidden classes were introduced and four update strategies compared. Holding out classes rather than waiting for real new species means the answer is measurable today.
WHICH FIVE WERE HELD OUT
Labels 2, 10, 11, 21 and 26, chosen by a random draw with its own separate seed so the choice of classes varies independently of the training seed. This particular draw includes two of the hardest classes in the dataset, so the "new species learned" figures here are on the pessimistic side.
THE FOUR STRATEGIES
1. Start fresh: discard everything, train a brand new 30-class model on all available data. This is the mandatory baseline. Any clever method that cannot beat it is not worth having.
2. New data only: keep the existing model, widen its output from 25 slots to 30, and train it on the new species' data alone.
3. Mix in old examples (replay): same, but also mix in 20 saved examples of each old species so the model is reminded of them.
4. Freeze most of it: same widening, but lock every internal setting except the final naming layer, so only 3,870 of the 40,446 settings can change.
THE TECHNICAL PROBLEM OF WIDENING THE OUTPUT
The final layer produces one score per species and is sized at construction. Adding classes requires building a bigger layer and copying the existing rows across. Crucially, the new classes must be appended after the existing ones so that every old class keeps the same index; otherwise the copied rows would point at the wrong species. A utility was written that finds the last layer in any of the five designs and expands it correctly.
THE RESULTS
Start fresh: 83.97% overall, old species 86.3%, new species 72.4%, 3.4 minutes.
Mix in old examples: 74.60% overall, old 85.9%, new 23.2%, 1.0 minutes.
Freeze most of it: 71.40% overall, old 85.7%, new 0.0%, 0.5 minutes.
New data only: 66.87% overall, old 79.2%, new 5.0%, 0.8 minutes.
WHY THE SHORTCUTS FAIL
They all sit somewhere on a trade-off between protecting old knowledge and acquiring new knowledge, and none finds a good point on it. Starting fresh does not face the trade-off at all, because it learns everything simultaneously.
A PREDICTION THAT WAS WRONG
I predicted the naive approach would "forget catastrophically". In this first configuration it did not forget much; it simply failed to learn. 500 new samples at a low learning rate barely moved the weights at all. The next slide shows what happens with more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SECOND CONFIGURATION WAS RUN
In the first test, the new species had only 100 training examples each, matching the realistic "a small batch of new data arrives" scenario. Everything failed mildly. That left open whether the methods were bad or simply starved. So the test was repeated with 2,000 examples per new species.
THE RESULT: THE FAILURE MODE FLIPS
With plenty of new data, training on it alone now learns the new species well, 69.2%, but destroys the old ones: old-species accuracy falls from 87.3% to 2.8%. Twenty-five of the 25 old classes lost essentially all accuracy, several losing 100% of it. This is the textbook phenomenon known as catastrophic forgetting.
So the failure mode depends on how much new data arrives. Too little and nothing happens in either direction. Enough, and the new data overwrites the old knowledge. My diagnosis after the first test was therefore only half right, and I said so.
THE MECHANISTIC FINDING, WHICH IS THE MOST INTERESTING RESULT HERE
In the "freeze most of it" arm, every one of the 36,576 pattern-recognition settings was locked and could not change. Only the 3,870 settings in the final naming layer were trainable. Yet old-species accuracy still fell from 87.3% to 23.8%, and two classes fell to exactly zero.
That rules out the usual explanation. The model had not forgotten what those bacteria look like; its recognition machinery was bit-for-bit identical. What happened is that the five new species' scores grew large enough to outcompete the correct answer on inputs the model still recognises perfectly well.
This matters because it points at a much cheaper fix than the standard remedies: rather than protecting the internal representation, you would rebalance or recalibrate the final scoring layer. That has not been tested and is a clear direction for future work.
A PREDICTION THAT WAS WRONG
I expected that giving the replay method a larger buffer of old examples would improve it. It made new-species learning worse, from 23.2% down to 8.6%. More old data made the method more conservative, not more balanced. I had also described the larger buffer as "balanced" when the ratio of old to new data was still 1 to 4.
THE CONCLUSION ACROSS BOTH CONFIGURATIONS
Across three separate configurations, the best shortcut reached 74.60% and starting fresh reached 83.97%. A 9.4-point gap. The recommendation is to retrain from scratch, and it only surfaced because the plain baseline was treated as mandatory rather than optional. Without it, the replay method at 74.60% would have been written up as a working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Three trained models already existed from experiment 1, differing only in their random seed. Rather than picking one and discarding the others, ask all three and combine their answers. No new training required; the whole experiment takes two minutes.
THREE WAYS OF COMBINING
1. Average the raw scores each model produces for each species, then take the highest. Simple, but sensitive to one model producing systematically larger scores than the others.
2. Convert each model's scores to probabilities first, then average those. Insensitive to scale differences between models.
3. Majority vote on each model's top choice, with ties broken by average confidence.
Results: 84.93%, 85.03%, 84.80%. The probability averaging won, which is the opposite of the usual folklore and matches what a synthetic test predicted.
WHY IT WORKS, AND WHEN IT WOULD NOT
Averaging only helps if the members make different mistakes. Two diagnostic numbers were computed before looking at the result.
Pairwise disagreement: the three models give different answers on 11.4% of the exam questions. That is more independence than expected for models differing only in random seed.
Oracle accuracy: on 90.23% of questions at least one of the three is correct. That is the hard ceiling; no combination rule can exceed it. On 77% all three agree and are correct.
Had the oracle been barely above the best single model, the three would be making identical mistakes and no combination could have helped.
HOW TO REPORT IT HONESTLY
The comparison must be against the BEST single model, 84.23%, not the average of the three, 83.89%. If you were not ensembling you would ship one model and you would pick a good one. The gain is therefore +0.80 points, not +1.14.
The sample-by-sample test gives p = 0.059, just outside the conventional significance threshold. 86 questions the ensemble gets right that the best single model misses, against 62 the other way.
There is also a mild selection effect: three combination rules were tried and the best reported. The rules are highly correlated so the inflation is small, but the honest summary is "roughly +0.6 to +0.8 points, marginally significant".
COSTS
Three sets of weights to store and three models to run for every prediction. For a 40,446-parameter model that is negligible, but it should be stated rather than assumed. Retraining the ensemble when new data arrives takes about 10 minutes instead of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BENCHMARKS, ALL ON THE SAME DATASET AND THE SAME 3,000-SAMPLE EXAM
79.63%: logistic regression, a simple statistical method with no neural network at all, reported in the RamanSPy paper (Georgiev et al.). This is the floor any deep learning approach should clear. The project's original 76.50% did not clear it.
Above 82%: Ho et al. (2019), the team who published the dataset, using a 25-layer residual network.
86.30%: a later published U-Net variant, the best result reported on this dataset.
WHERE THE PROJECT NOW SITS
85.03% with three copies of a 40,446-parameter model. Ahead of the dataset authors' own deep network, ahead of the statistical baseline by more than five points, and 1.27 points short of the best published result.
WHERE THE GAIN CAME FROM
Of the 10.25-point improvement, 9.11 points came from one change: deleting the ASPLS baseline-correction step. A further 0.80 came from the ensemble. Everything else contributed nothing measurable.
THE SCORECARD ACROSS EIGHT EXPERIMENTS
Experiment 1: no gain. Built the measuring equipment.
Experiment 2: no gain. Located the source of variation.
Experiment 3: +9.11 points. The one that worked.
Experiment 4: no gain. Confirmed the existing design choice was correct.
Experiment 5: no gain. Three standard remedies, all null.
Experiment 6: -1.01 points. Longer training is worse.
Experiment 7: not an accuracy experiment. Produced an engineering recommendation and a mechanistic finding.
Experiment 8: +0.80 points. The last cheap win.
ONE SUCCESS IN EIGHT IS A NORMAL RATIO, AND THE NULLS HAVE VALUE
The project's own documentation listed several of the failed ideas as obvious untried wins. They are now tested and can be removed from the backlog rather than tempting the next person to spend a week on them.
WHAT NEEDS REGENERATING
Every accuracy figure in docs/, all 18 historical log files, the preprocessing rationale document, and the model comparison document. None of them were produced with correct data cleaning.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STILL OPEN
1. The mechanistic finding from experiment 7 suggests a cheap fix for adding new species: rebalancing the final scoring layer rather than protecting the internal representation. Untested.
2. The classes the system is worst at are consistent across every design and every seed. Class 11 sits at 24 to 43% accuracy, class 8 at 44 to 68%. Because the error is concentrated in a handful of classes rather than spread evenly, targeting those specifically could be worth a point.
3. The dataset supports a second task: predicting which antibiotic treatment is appropriate, in 8 groups rather than 30 species. Published results reach 97%. This project has never run it, and it is closer to the clinical goal than species identification.
4. There are 12,500 clinical spectra in the data folder that no script has ever touched, four times the size of the current exam set. Using them requires the treatment-group task first, because those files carry treatment labels rather than species labels. That distinction was itself a discovery: both label sets use small integers starting at zero, so loading one with the other's key produces a plausible-looking number that means nothing. A guard now prevents it.
5. The Transformer design's instability, 5.65 points between seeds, has a suspected cause that has not been confirmed.
CALIBRATION NOTE, WORTH SAYING OUT LOUD
My predictions during this work were wrong more often than right. I estimated the cleaning fix at 2 to 5 points; it was 7.6. I argued twice that the small-model finding was probably an artefact; it survived. I predicted catastrophic forgetting in the first new-species test; the problem was the opposite. I predicted a larger replay buffer would help; it halved performance on new species. I gave longer training a 40% chance of helping; it lost a point. Each time, running the experiment corrected the expectation. That is the argument for running experiments rather than reasoning about them, and it is the reason experiments 1 and 2 were worth the time they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E45"/>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6400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RAMAN Effect</a:t>
            </a:r>
            <a:endParaRPr lang="en-US" sz="4000" dirty="0"/>
          </a:p>
        </p:txBody>
      </p:sp>
      <p:sp>
        <p:nvSpPr>
          <p:cNvPr id="3" name="Text 1"/>
          <p:cNvSpPr txBox="1"/>
          <p:nvPr/>
        </p:nvSpPr>
        <p:spPr>
          <a:xfrm>
            <a:off x="731520" y="2011680"/>
            <a:ext cx="7680960" cy="365760"/>
          </a:xfrm>
          <a:prstGeom prst="rect">
            <a:avLst/>
          </a:prstGeom>
          <a:noFill/>
          <a:ln/>
        </p:spPr>
        <p:txBody>
          <a:bodyPr wrap="square" lIns="0" tIns="0" rIns="0" bIns="0" rtlCol="0" anchor="ctr"/>
          <a:lstStyle/>
          <a:p>
            <a:pPr indent="0" marL="0">
              <a:buNone/>
            </a:pPr>
            <a:r>
              <a:rPr lang="en-US" sz="1800" dirty="0">
                <a:solidFill>
                  <a:srgbClr val="9FC3D8"/>
                </a:solidFill>
                <a:latin typeface="Calibri" pitchFamily="34" charset="0"/>
                <a:ea typeface="Calibri" pitchFamily="34" charset="-122"/>
                <a:cs typeface="Calibri" pitchFamily="34" charset="-120"/>
              </a:rPr>
              <a:t>Identifying bacteria from laser fingerprints</a:t>
            </a:r>
            <a:endParaRPr lang="en-US" sz="1800" dirty="0"/>
          </a:p>
        </p:txBody>
      </p:sp>
      <p:sp>
        <p:nvSpPr>
          <p:cNvPr id="4" name="Shape 2"/>
          <p:cNvSpPr/>
          <p:nvPr/>
        </p:nvSpPr>
        <p:spPr>
          <a:xfrm>
            <a:off x="731520" y="2606040"/>
            <a:ext cx="1097280" cy="27432"/>
          </a:xfrm>
          <a:prstGeom prst="rect">
            <a:avLst/>
          </a:prstGeom>
          <a:solidFill>
            <a:srgbClr val="3F9E86"/>
          </a:solidFill>
          <a:ln/>
        </p:spPr>
      </p:sp>
      <p:sp>
        <p:nvSpPr>
          <p:cNvPr id="5" name="Text 3"/>
          <p:cNvSpPr txBox="1"/>
          <p:nvPr/>
        </p:nvSpPr>
        <p:spPr>
          <a:xfrm>
            <a:off x="731520" y="2834640"/>
            <a:ext cx="7680960" cy="320040"/>
          </a:xfrm>
          <a:prstGeom prst="rect">
            <a:avLst/>
          </a:prstGeom>
          <a:noFill/>
          <a:ln/>
        </p:spPr>
        <p:txBody>
          <a:bodyPr wrap="square" lIns="0" tIns="0" rIns="0" bIns="0" rtlCol="0" anchor="ctr"/>
          <a:lstStyle/>
          <a:p>
            <a:pPr indent="0" marL="0">
              <a:buNone/>
            </a:pPr>
            <a:r>
              <a:rPr lang="en-US" sz="1400" dirty="0">
                <a:solidFill>
                  <a:srgbClr val="CFE0EA"/>
                </a:solidFill>
                <a:latin typeface="Calibri" pitchFamily="34" charset="0"/>
                <a:ea typeface="Calibri" pitchFamily="34" charset="-122"/>
                <a:cs typeface="Calibri" pitchFamily="34" charset="-120"/>
              </a:rPr>
              <a:t>Eight experiments: what we changed, what it did, and what it did not</a:t>
            </a:r>
            <a:endParaRPr lang="en-US" sz="1400" dirty="0"/>
          </a:p>
        </p:txBody>
      </p:sp>
      <p:sp>
        <p:nvSpPr>
          <p:cNvPr id="6" name="Text 4"/>
          <p:cNvSpPr txBox="1"/>
          <p:nvPr/>
        </p:nvSpPr>
        <p:spPr>
          <a:xfrm>
            <a:off x="731520" y="3383280"/>
            <a:ext cx="2011680" cy="566928"/>
          </a:xfrm>
          <a:prstGeom prst="rect">
            <a:avLst/>
          </a:prstGeom>
          <a:noFill/>
          <a:ln/>
        </p:spPr>
        <p:txBody>
          <a:bodyPr wrap="square" lIns="0" tIns="0" rIns="0" bIns="0" rtlCol="0" anchor="ctr"/>
          <a:lstStyle/>
          <a:p>
            <a:pPr algn="l" indent="0" marL="0">
              <a:buNone/>
            </a:pPr>
            <a:r>
              <a:rPr lang="en-US" sz="4000" b="1" dirty="0">
                <a:solidFill>
                  <a:srgbClr val="E8A87C"/>
                </a:solidFill>
                <a:latin typeface="Cambria" pitchFamily="34" charset="0"/>
                <a:ea typeface="Cambria" pitchFamily="34" charset="-122"/>
                <a:cs typeface="Cambria" pitchFamily="34" charset="-120"/>
              </a:rPr>
              <a:t>74.8%</a:t>
            </a:r>
            <a:endParaRPr lang="en-US" sz="4000" dirty="0"/>
          </a:p>
        </p:txBody>
      </p:sp>
      <p:sp>
        <p:nvSpPr>
          <p:cNvPr id="7" name="Text 5"/>
          <p:cNvSpPr txBox="1"/>
          <p:nvPr/>
        </p:nvSpPr>
        <p:spPr>
          <a:xfrm>
            <a:off x="731520" y="3931920"/>
            <a:ext cx="2011680" cy="274320"/>
          </a:xfrm>
          <a:prstGeom prst="rect">
            <a:avLst/>
          </a:prstGeom>
          <a:noFill/>
          <a:ln/>
        </p:spPr>
        <p:txBody>
          <a:bodyPr wrap="square" lIns="0" tIns="0" rIns="0" bIns="0" rtlCol="0" anchor="ctr"/>
          <a:lstStyle/>
          <a:p>
            <a:pPr algn="l" indent="0" marL="0">
              <a:buNone/>
            </a:pPr>
            <a:r>
              <a:rPr lang="en-US" sz="1100" dirty="0">
                <a:solidFill>
                  <a:srgbClr val="5A6B76"/>
                </a:solidFill>
                <a:latin typeface="Calibri" pitchFamily="34" charset="0"/>
                <a:ea typeface="Calibri" pitchFamily="34" charset="-122"/>
                <a:cs typeface="Calibri" pitchFamily="34" charset="-120"/>
              </a:rPr>
              <a:t>measured starting point</a:t>
            </a:r>
            <a:endParaRPr lang="en-US" sz="1100" dirty="0"/>
          </a:p>
        </p:txBody>
      </p:sp>
      <p:sp>
        <p:nvSpPr>
          <p:cNvPr id="8" name="Text 6"/>
          <p:cNvSpPr txBox="1"/>
          <p:nvPr/>
        </p:nvSpPr>
        <p:spPr>
          <a:xfrm>
            <a:off x="3108960" y="3383280"/>
            <a:ext cx="2011680" cy="566928"/>
          </a:xfrm>
          <a:prstGeom prst="rect">
            <a:avLst/>
          </a:prstGeom>
          <a:noFill/>
          <a:ln/>
        </p:spPr>
        <p:txBody>
          <a:bodyPr wrap="square" lIns="0" tIns="0" rIns="0" bIns="0" rtlCol="0" anchor="ctr"/>
          <a:lstStyle/>
          <a:p>
            <a:pPr algn="l" indent="0" marL="0">
              <a:buNone/>
            </a:pPr>
            <a:r>
              <a:rPr lang="en-US" sz="4000" b="1" dirty="0">
                <a:solidFill>
                  <a:srgbClr val="3F9E86"/>
                </a:solidFill>
                <a:latin typeface="Cambria" pitchFamily="34" charset="0"/>
                <a:ea typeface="Cambria" pitchFamily="34" charset="-122"/>
                <a:cs typeface="Cambria" pitchFamily="34" charset="-120"/>
              </a:rPr>
              <a:t>85.0%</a:t>
            </a:r>
            <a:endParaRPr lang="en-US" sz="4000" dirty="0"/>
          </a:p>
        </p:txBody>
      </p:sp>
      <p:sp>
        <p:nvSpPr>
          <p:cNvPr id="9" name="Text 7"/>
          <p:cNvSpPr txBox="1"/>
          <p:nvPr/>
        </p:nvSpPr>
        <p:spPr>
          <a:xfrm>
            <a:off x="3108960" y="3931920"/>
            <a:ext cx="2011680" cy="274320"/>
          </a:xfrm>
          <a:prstGeom prst="rect">
            <a:avLst/>
          </a:prstGeom>
          <a:noFill/>
          <a:ln/>
        </p:spPr>
        <p:txBody>
          <a:bodyPr wrap="square" lIns="0" tIns="0" rIns="0" bIns="0" rtlCol="0" anchor="ctr"/>
          <a:lstStyle/>
          <a:p>
            <a:pPr algn="l" indent="0" marL="0">
              <a:buNone/>
            </a:pPr>
            <a:r>
              <a:rPr lang="en-US" sz="1100" dirty="0">
                <a:solidFill>
                  <a:srgbClr val="5A6B76"/>
                </a:solidFill>
                <a:latin typeface="Calibri" pitchFamily="34" charset="0"/>
                <a:ea typeface="Calibri" pitchFamily="34" charset="-122"/>
                <a:cs typeface="Calibri" pitchFamily="34" charset="-120"/>
              </a:rPr>
              <a:t>after eight experiments</a:t>
            </a:r>
            <a:endParaRPr lang="en-US" sz="1100" dirty="0"/>
          </a:p>
        </p:txBody>
      </p:sp>
      <p:sp>
        <p:nvSpPr>
          <p:cNvPr id="10" name="Text 8"/>
          <p:cNvSpPr txBox="1"/>
          <p:nvPr/>
        </p:nvSpPr>
        <p:spPr>
          <a:xfrm>
            <a:off x="5486400" y="3383280"/>
            <a:ext cx="2377440" cy="566928"/>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+10.3</a:t>
            </a:r>
            <a:endParaRPr lang="en-US" sz="4000" dirty="0"/>
          </a:p>
        </p:txBody>
      </p:sp>
      <p:sp>
        <p:nvSpPr>
          <p:cNvPr id="11" name="Text 9"/>
          <p:cNvSpPr txBox="1"/>
          <p:nvPr/>
        </p:nvSpPr>
        <p:spPr>
          <a:xfrm>
            <a:off x="5486400" y="3931920"/>
            <a:ext cx="2377440" cy="274320"/>
          </a:xfrm>
          <a:prstGeom prst="rect">
            <a:avLst/>
          </a:prstGeom>
          <a:noFill/>
          <a:ln/>
        </p:spPr>
        <p:txBody>
          <a:bodyPr wrap="square" lIns="0" tIns="0" rIns="0" bIns="0" rtlCol="0" anchor="ctr"/>
          <a:lstStyle/>
          <a:p>
            <a:pPr algn="l" indent="0" marL="0">
              <a:buNone/>
            </a:pPr>
            <a:r>
              <a:rPr lang="en-US" sz="1100" dirty="0">
                <a:solidFill>
                  <a:srgbClr val="5A6B76"/>
                </a:solidFill>
                <a:latin typeface="Calibri" pitchFamily="34" charset="0"/>
                <a:ea typeface="Calibri" pitchFamily="34" charset="-122"/>
                <a:cs typeface="Calibri" pitchFamily="34" charset="-120"/>
              </a:rPr>
              <a:t>points, mostly by deleting code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Where this started</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One number, and four reasons not to trust it</a:t>
            </a:r>
            <a:endParaRPr lang="en-US" sz="1250" dirty="0"/>
          </a:p>
        </p:txBody>
      </p:sp>
      <p:sp>
        <p:nvSpPr>
          <p:cNvPr id="6" name="Shape 4"/>
          <p:cNvSpPr/>
          <p:nvPr/>
        </p:nvSpPr>
        <p:spPr>
          <a:xfrm>
            <a:off x="457200" y="1234440"/>
            <a:ext cx="2743200" cy="1600200"/>
          </a:xfrm>
          <a:prstGeom prst="roundRect">
            <a:avLst>
              <a:gd name="adj" fmla="val 5714"/>
            </a:avLst>
          </a:prstGeom>
          <a:solidFill>
            <a:srgbClr val="0C2E45"/>
          </a:solidFill>
          <a:ln w="12700">
            <a:solidFill>
              <a:srgbClr val="0C2E45"/>
            </a:solidFill>
            <a:prstDash val="solid"/>
          </a:ln>
        </p:spPr>
      </p:sp>
      <p:sp>
        <p:nvSpPr>
          <p:cNvPr id="7" name="Text 5"/>
          <p:cNvSpPr txBox="1"/>
          <p:nvPr/>
        </p:nvSpPr>
        <p:spPr>
          <a:xfrm>
            <a:off x="457200" y="1417320"/>
            <a:ext cx="274320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76.50%</a:t>
            </a:r>
            <a:endParaRPr lang="en-US" sz="4000" dirty="0"/>
          </a:p>
        </p:txBody>
      </p:sp>
      <p:sp>
        <p:nvSpPr>
          <p:cNvPr id="8" name="Text 6"/>
          <p:cNvSpPr txBox="1"/>
          <p:nvPr/>
        </p:nvSpPr>
        <p:spPr>
          <a:xfrm>
            <a:off x="457200" y="2103120"/>
            <a:ext cx="2743200" cy="274320"/>
          </a:xfrm>
          <a:prstGeom prst="rect">
            <a:avLst/>
          </a:prstGeom>
          <a:noFill/>
          <a:ln/>
        </p:spPr>
        <p:txBody>
          <a:bodyPr wrap="square" lIns="0" tIns="0" rIns="0" bIns="0" rtlCol="0" anchor="ctr"/>
          <a:lstStyle/>
          <a:p>
            <a:pPr algn="ctr" indent="0" marL="0">
              <a:buNone/>
            </a:pPr>
            <a:r>
              <a:rPr lang="en-US" sz="1200" dirty="0">
                <a:solidFill>
                  <a:srgbClr val="9FC3D8"/>
                </a:solidFill>
                <a:latin typeface="Calibri" pitchFamily="34" charset="0"/>
                <a:ea typeface="Calibri" pitchFamily="34" charset="-122"/>
                <a:cs typeface="Calibri" pitchFamily="34" charset="-120"/>
              </a:rPr>
              <a:t>the recorded accuracy</a:t>
            </a:r>
            <a:endParaRPr lang="en-US" sz="1200" dirty="0"/>
          </a:p>
        </p:txBody>
      </p:sp>
      <p:sp>
        <p:nvSpPr>
          <p:cNvPr id="9" name="Text 7"/>
          <p:cNvSpPr txBox="1"/>
          <p:nvPr/>
        </p:nvSpPr>
        <p:spPr>
          <a:xfrm>
            <a:off x="457200" y="2377440"/>
            <a:ext cx="2743200" cy="274320"/>
          </a:xfrm>
          <a:prstGeom prst="rect">
            <a:avLst/>
          </a:prstGeom>
          <a:noFill/>
          <a:ln/>
        </p:spPr>
        <p:txBody>
          <a:bodyPr wrap="square" lIns="0" tIns="0" rIns="0" bIns="0" rtlCol="0" anchor="ctr"/>
          <a:lstStyle/>
          <a:p>
            <a:pPr algn="ctr" indent="0" marL="0">
              <a:buNone/>
            </a:pPr>
            <a:r>
              <a:rPr lang="en-US" sz="1200" dirty="0">
                <a:solidFill>
                  <a:srgbClr val="9FC3D8"/>
                </a:solidFill>
                <a:latin typeface="Calibri" pitchFamily="34" charset="0"/>
                <a:ea typeface="Calibri" pitchFamily="34" charset="-122"/>
                <a:cs typeface="Calibri" pitchFamily="34" charset="-120"/>
              </a:rPr>
              <a:t>from a single run</a:t>
            </a:r>
            <a:endParaRPr lang="en-US" sz="1200" dirty="0"/>
          </a:p>
        </p:txBody>
      </p:sp>
      <p:sp>
        <p:nvSpPr>
          <p:cNvPr id="10" name="Shape 8"/>
          <p:cNvSpPr/>
          <p:nvPr/>
        </p:nvSpPr>
        <p:spPr>
          <a:xfrm>
            <a:off x="3429000" y="1234440"/>
            <a:ext cx="5257800" cy="749808"/>
          </a:xfrm>
          <a:prstGeom prst="roundRect">
            <a:avLst>
              <a:gd name="adj" fmla="val 9756"/>
            </a:avLst>
          </a:prstGeom>
          <a:solidFill>
            <a:srgbClr val="EEF3F6"/>
          </a:solidFill>
          <a:ln w="12700">
            <a:solidFill>
              <a:srgbClr val="EEF3F6"/>
            </a:solidFill>
            <a:prstDash val="solid"/>
          </a:ln>
        </p:spPr>
      </p:sp>
      <p:sp>
        <p:nvSpPr>
          <p:cNvPr id="11" name="Text 9"/>
          <p:cNvSpPr txBox="1"/>
          <p:nvPr/>
        </p:nvSpPr>
        <p:spPr>
          <a:xfrm>
            <a:off x="3630168" y="1362456"/>
            <a:ext cx="4855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The code that produced it no longer existed</a:t>
            </a:r>
            <a:endParaRPr lang="en-US" sz="1200" dirty="0"/>
          </a:p>
        </p:txBody>
      </p:sp>
      <p:sp>
        <p:nvSpPr>
          <p:cNvPr id="12" name="Text 10"/>
          <p:cNvSpPr txBox="1"/>
          <p:nvPr/>
        </p:nvSpPr>
        <p:spPr>
          <a:xfrm>
            <a:off x="3630168" y="1636776"/>
            <a:ext cx="4855464" cy="201168"/>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It was rewritten after that run. Re-running today gives a different answer.</a:t>
            </a:r>
            <a:endParaRPr lang="en-US" sz="1150" dirty="0"/>
          </a:p>
        </p:txBody>
      </p:sp>
      <p:sp>
        <p:nvSpPr>
          <p:cNvPr id="13" name="Shape 11"/>
          <p:cNvSpPr/>
          <p:nvPr/>
        </p:nvSpPr>
        <p:spPr>
          <a:xfrm>
            <a:off x="3429000" y="2084832"/>
            <a:ext cx="5257800" cy="749808"/>
          </a:xfrm>
          <a:prstGeom prst="roundRect">
            <a:avLst>
              <a:gd name="adj" fmla="val 9756"/>
            </a:avLst>
          </a:prstGeom>
          <a:solidFill>
            <a:srgbClr val="EEF3F6"/>
          </a:solidFill>
          <a:ln w="12700">
            <a:solidFill>
              <a:srgbClr val="EEF3F6"/>
            </a:solidFill>
            <a:prstDash val="solid"/>
          </a:ln>
        </p:spPr>
      </p:sp>
      <p:sp>
        <p:nvSpPr>
          <p:cNvPr id="14" name="Text 12"/>
          <p:cNvSpPr txBox="1"/>
          <p:nvPr/>
        </p:nvSpPr>
        <p:spPr>
          <a:xfrm>
            <a:off x="3630168" y="2212848"/>
            <a:ext cx="4855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No settings were recorded</a:t>
            </a:r>
            <a:endParaRPr lang="en-US" sz="1200" dirty="0"/>
          </a:p>
        </p:txBody>
      </p:sp>
      <p:sp>
        <p:nvSpPr>
          <p:cNvPr id="15" name="Text 13"/>
          <p:cNvSpPr txBox="1"/>
          <p:nvPr/>
        </p:nvSpPr>
        <p:spPr>
          <a:xfrm>
            <a:off x="3630168" y="2487168"/>
            <a:ext cx="4855464" cy="201168"/>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Batch size had to be reconstructed by counting lines in an old log file.</a:t>
            </a:r>
            <a:endParaRPr lang="en-US" sz="1150" dirty="0"/>
          </a:p>
        </p:txBody>
      </p:sp>
      <p:sp>
        <p:nvSpPr>
          <p:cNvPr id="16" name="Shape 14"/>
          <p:cNvSpPr/>
          <p:nvPr/>
        </p:nvSpPr>
        <p:spPr>
          <a:xfrm>
            <a:off x="3429000" y="2935224"/>
            <a:ext cx="5257800" cy="749808"/>
          </a:xfrm>
          <a:prstGeom prst="roundRect">
            <a:avLst>
              <a:gd name="adj" fmla="val 9756"/>
            </a:avLst>
          </a:prstGeom>
          <a:solidFill>
            <a:srgbClr val="EEF3F6"/>
          </a:solidFill>
          <a:ln w="12700">
            <a:solidFill>
              <a:srgbClr val="EEF3F6"/>
            </a:solidFill>
            <a:prstDash val="solid"/>
          </a:ln>
        </p:spPr>
      </p:sp>
      <p:sp>
        <p:nvSpPr>
          <p:cNvPr id="17" name="Text 15"/>
          <p:cNvSpPr txBox="1"/>
          <p:nvPr/>
        </p:nvSpPr>
        <p:spPr>
          <a:xfrm>
            <a:off x="3630168" y="3063240"/>
            <a:ext cx="4855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Nothing was pinned down, so nothing repeats</a:t>
            </a:r>
            <a:endParaRPr lang="en-US" sz="1200" dirty="0"/>
          </a:p>
        </p:txBody>
      </p:sp>
      <p:sp>
        <p:nvSpPr>
          <p:cNvPr id="18" name="Text 16"/>
          <p:cNvSpPr txBox="1"/>
          <p:nvPr/>
        </p:nvSpPr>
        <p:spPr>
          <a:xfrm>
            <a:off x="3630168" y="3337560"/>
            <a:ext cx="4855464" cy="201168"/>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No random seed anywhere, so two runs of one command differed.</a:t>
            </a:r>
            <a:endParaRPr lang="en-US" sz="1150" dirty="0"/>
          </a:p>
        </p:txBody>
      </p:sp>
      <p:sp>
        <p:nvSpPr>
          <p:cNvPr id="19" name="Shape 17"/>
          <p:cNvSpPr/>
          <p:nvPr/>
        </p:nvSpPr>
        <p:spPr>
          <a:xfrm>
            <a:off x="3429000" y="3785616"/>
            <a:ext cx="5257800" cy="749808"/>
          </a:xfrm>
          <a:prstGeom prst="roundRect">
            <a:avLst>
              <a:gd name="adj" fmla="val 9756"/>
            </a:avLst>
          </a:prstGeom>
          <a:solidFill>
            <a:srgbClr val="EEF3F6"/>
          </a:solidFill>
          <a:ln w="12700">
            <a:solidFill>
              <a:srgbClr val="EEF3F6"/>
            </a:solidFill>
            <a:prstDash val="solid"/>
          </a:ln>
        </p:spPr>
      </p:sp>
      <p:sp>
        <p:nvSpPr>
          <p:cNvPr id="20" name="Text 18"/>
          <p:cNvSpPr txBox="1"/>
          <p:nvPr/>
        </p:nvSpPr>
        <p:spPr>
          <a:xfrm>
            <a:off x="3630168" y="3913632"/>
            <a:ext cx="4855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An error bar that was arithmetically impossible</a:t>
            </a:r>
            <a:endParaRPr lang="en-US" sz="1200" dirty="0"/>
          </a:p>
        </p:txBody>
      </p:sp>
      <p:sp>
        <p:nvSpPr>
          <p:cNvPr id="21" name="Text 19"/>
          <p:cNvSpPr txBox="1"/>
          <p:nvPr/>
        </p:nvSpPr>
        <p:spPr>
          <a:xfrm>
            <a:off x="3630168" y="4187952"/>
            <a:ext cx="4855464" cy="201168"/>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A reported margin of plus or minus 0.11% turned out to be ten times too small.</a:t>
            </a:r>
            <a:endParaRPr lang="en-US" sz="1150" dirty="0"/>
          </a:p>
        </p:txBody>
      </p:sp>
      <p:sp>
        <p:nvSpPr>
          <p:cNvPr id="22" name="Text 20"/>
          <p:cNvSpPr txBox="1"/>
          <p:nvPr/>
        </p:nvSpPr>
        <p:spPr>
          <a:xfrm>
            <a:off x="457200" y="3063240"/>
            <a:ext cx="2743200" cy="1463040"/>
          </a:xfrm>
          <a:prstGeom prst="rect">
            <a:avLst/>
          </a:prstGeom>
          <a:noFill/>
          <a:ln/>
        </p:spPr>
        <p:txBody>
          <a:bodyPr wrap="square" lIns="0" tIns="0" rIns="0" bIns="0" rtlCol="0" anchor="t"/>
          <a:lstStyle/>
          <a:p>
            <a:pPr indent="0" marL="0">
              <a:buNone/>
            </a:pPr>
            <a:r>
              <a:rPr lang="en-US" sz="1300" i="1" dirty="0">
                <a:solidFill>
                  <a:srgbClr val="0C2E45"/>
                </a:solidFill>
                <a:latin typeface="Calibri" pitchFamily="34" charset="0"/>
                <a:ea typeface="Calibri" pitchFamily="34" charset="-122"/>
                <a:cs typeface="Calibri" pitchFamily="34" charset="-120"/>
              </a:rPr>
              <a:t>First job: replace an anecdote with a measurement.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How the system works</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Two training stages, then a graded exam</a:t>
            </a:r>
            <a:endParaRPr lang="en-US" sz="1250" dirty="0"/>
          </a:p>
        </p:txBody>
      </p:sp>
      <p:sp>
        <p:nvSpPr>
          <p:cNvPr id="6" name="Shape 4"/>
          <p:cNvSpPr/>
          <p:nvPr/>
        </p:nvSpPr>
        <p:spPr>
          <a:xfrm>
            <a:off x="548640" y="1371600"/>
            <a:ext cx="2423160" cy="1417320"/>
          </a:xfrm>
          <a:prstGeom prst="roundRect">
            <a:avLst>
              <a:gd name="adj" fmla="val 6452"/>
            </a:avLst>
          </a:prstGeom>
          <a:solidFill>
            <a:srgbClr val="065A82"/>
          </a:solidFill>
          <a:ln w="12700">
            <a:solidFill>
              <a:srgbClr val="065A82"/>
            </a:solidFill>
            <a:prstDash val="solid"/>
          </a:ln>
        </p:spPr>
      </p:sp>
      <p:sp>
        <p:nvSpPr>
          <p:cNvPr id="7" name="Text 5"/>
          <p:cNvSpPr txBox="1"/>
          <p:nvPr/>
        </p:nvSpPr>
        <p:spPr>
          <a:xfrm>
            <a:off x="731520" y="1536192"/>
            <a:ext cx="205740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Stage 1</a:t>
            </a:r>
            <a:endParaRPr lang="en-US" sz="1700" dirty="0"/>
          </a:p>
        </p:txBody>
      </p:sp>
      <p:sp>
        <p:nvSpPr>
          <p:cNvPr id="8" name="Text 6"/>
          <p:cNvSpPr txBox="1"/>
          <p:nvPr/>
        </p:nvSpPr>
        <p:spPr>
          <a:xfrm>
            <a:off x="731520" y="1901952"/>
            <a:ext cx="2057400" cy="731520"/>
          </a:xfrm>
          <a:prstGeom prst="rect">
            <a:avLst/>
          </a:prstGeom>
          <a:noFill/>
          <a:ln/>
        </p:spPr>
        <p:txBody>
          <a:bodyPr wrap="square" lIns="0" tIns="0" rIns="0" bIns="0" rtlCol="0" anchor="t"/>
          <a:lstStyle/>
          <a:p>
            <a:pPr indent="0" marL="0">
              <a:buNone/>
            </a:pPr>
            <a:r>
              <a:rPr lang="en-US" sz="1200" dirty="0">
                <a:solidFill>
                  <a:srgbClr val="E8F2F7"/>
                </a:solidFill>
                <a:latin typeface="Calibri" pitchFamily="34" charset="0"/>
                <a:ea typeface="Calibri" pitchFamily="34" charset="-122"/>
                <a:cs typeface="Calibri" pitchFamily="34" charset="-120"/>
              </a:rPr>
              <a:t>Learn from 60,000 clean</a:t>
            </a:r>
            <a:endParaRPr lang="en-US" sz="1200" dirty="0"/>
          </a:p>
          <a:p>
            <a:pPr indent="0" marL="0">
              <a:buNone/>
            </a:pPr>
            <a:r>
              <a:rPr lang="en-US" sz="1200" dirty="0">
                <a:solidFill>
                  <a:srgbClr val="E8F2F7"/>
                </a:solidFill>
                <a:latin typeface="Calibri" pitchFamily="34" charset="0"/>
                <a:ea typeface="Calibri" pitchFamily="34" charset="-122"/>
                <a:cs typeface="Calibri" pitchFamily="34" charset="-120"/>
              </a:rPr>
              <a:t>laboratory samples</a:t>
            </a:r>
            <a:endParaRPr lang="en-US" sz="1200" dirty="0"/>
          </a:p>
        </p:txBody>
      </p:sp>
      <p:sp>
        <p:nvSpPr>
          <p:cNvPr id="9" name="Shape 7"/>
          <p:cNvSpPr/>
          <p:nvPr/>
        </p:nvSpPr>
        <p:spPr>
          <a:xfrm>
            <a:off x="3035808" y="1965960"/>
            <a:ext cx="237744" cy="201168"/>
          </a:xfrm>
          <a:prstGeom prst="rightArrow">
            <a:avLst/>
          </a:prstGeom>
          <a:solidFill>
            <a:srgbClr val="B7C7D1"/>
          </a:solidFill>
          <a:ln w="12700">
            <a:solidFill>
              <a:srgbClr val="B7C7D1"/>
            </a:solidFill>
            <a:prstDash val="solid"/>
          </a:ln>
        </p:spPr>
      </p:sp>
      <p:sp>
        <p:nvSpPr>
          <p:cNvPr id="10" name="Shape 8"/>
          <p:cNvSpPr/>
          <p:nvPr/>
        </p:nvSpPr>
        <p:spPr>
          <a:xfrm>
            <a:off x="3337560" y="1371600"/>
            <a:ext cx="2423160" cy="1417320"/>
          </a:xfrm>
          <a:prstGeom prst="roundRect">
            <a:avLst>
              <a:gd name="adj" fmla="val 6452"/>
            </a:avLst>
          </a:prstGeom>
          <a:solidFill>
            <a:srgbClr val="1C7293"/>
          </a:solidFill>
          <a:ln w="12700">
            <a:solidFill>
              <a:srgbClr val="1C7293"/>
            </a:solidFill>
            <a:prstDash val="solid"/>
          </a:ln>
        </p:spPr>
      </p:sp>
      <p:sp>
        <p:nvSpPr>
          <p:cNvPr id="11" name="Text 9"/>
          <p:cNvSpPr txBox="1"/>
          <p:nvPr/>
        </p:nvSpPr>
        <p:spPr>
          <a:xfrm>
            <a:off x="3520440" y="1536192"/>
            <a:ext cx="205740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Stage 2</a:t>
            </a:r>
            <a:endParaRPr lang="en-US" sz="1700" dirty="0"/>
          </a:p>
        </p:txBody>
      </p:sp>
      <p:sp>
        <p:nvSpPr>
          <p:cNvPr id="12" name="Text 10"/>
          <p:cNvSpPr txBox="1"/>
          <p:nvPr/>
        </p:nvSpPr>
        <p:spPr>
          <a:xfrm>
            <a:off x="3520440" y="1901952"/>
            <a:ext cx="2057400" cy="731520"/>
          </a:xfrm>
          <a:prstGeom prst="rect">
            <a:avLst/>
          </a:prstGeom>
          <a:noFill/>
          <a:ln/>
        </p:spPr>
        <p:txBody>
          <a:bodyPr wrap="square" lIns="0" tIns="0" rIns="0" bIns="0" rtlCol="0" anchor="t"/>
          <a:lstStyle/>
          <a:p>
            <a:pPr indent="0" marL="0">
              <a:buNone/>
            </a:pPr>
            <a:r>
              <a:rPr lang="en-US" sz="1200" dirty="0">
                <a:solidFill>
                  <a:srgbClr val="E8F2F7"/>
                </a:solidFill>
                <a:latin typeface="Calibri" pitchFamily="34" charset="0"/>
                <a:ea typeface="Calibri" pitchFamily="34" charset="-122"/>
                <a:cs typeface="Calibri" pitchFamily="34" charset="-120"/>
              </a:rPr>
              <a:t>Adjust using 3,000 messy</a:t>
            </a:r>
            <a:endParaRPr lang="en-US" sz="1200" dirty="0"/>
          </a:p>
          <a:p>
            <a:pPr indent="0" marL="0">
              <a:buNone/>
            </a:pPr>
            <a:r>
              <a:rPr lang="en-US" sz="1200" dirty="0">
                <a:solidFill>
                  <a:srgbClr val="E8F2F7"/>
                </a:solidFill>
                <a:latin typeface="Calibri" pitchFamily="34" charset="0"/>
                <a:ea typeface="Calibri" pitchFamily="34" charset="-122"/>
                <a:cs typeface="Calibri" pitchFamily="34" charset="-120"/>
              </a:rPr>
              <a:t>real-world samples</a:t>
            </a:r>
            <a:endParaRPr lang="en-US" sz="1200" dirty="0"/>
          </a:p>
        </p:txBody>
      </p:sp>
      <p:sp>
        <p:nvSpPr>
          <p:cNvPr id="13" name="Shape 11"/>
          <p:cNvSpPr/>
          <p:nvPr/>
        </p:nvSpPr>
        <p:spPr>
          <a:xfrm>
            <a:off x="5824728" y="1965960"/>
            <a:ext cx="237744" cy="201168"/>
          </a:xfrm>
          <a:prstGeom prst="rightArrow">
            <a:avLst/>
          </a:prstGeom>
          <a:solidFill>
            <a:srgbClr val="B7C7D1"/>
          </a:solidFill>
          <a:ln w="12700">
            <a:solidFill>
              <a:srgbClr val="B7C7D1"/>
            </a:solidFill>
            <a:prstDash val="solid"/>
          </a:ln>
        </p:spPr>
      </p:sp>
      <p:sp>
        <p:nvSpPr>
          <p:cNvPr id="14" name="Shape 12"/>
          <p:cNvSpPr/>
          <p:nvPr/>
        </p:nvSpPr>
        <p:spPr>
          <a:xfrm>
            <a:off x="6126480" y="1371600"/>
            <a:ext cx="2423160" cy="1417320"/>
          </a:xfrm>
          <a:prstGeom prst="roundRect">
            <a:avLst>
              <a:gd name="adj" fmla="val 6452"/>
            </a:avLst>
          </a:prstGeom>
          <a:solidFill>
            <a:srgbClr val="3F9E86"/>
          </a:solidFill>
          <a:ln w="12700">
            <a:solidFill>
              <a:srgbClr val="3F9E86"/>
            </a:solidFill>
            <a:prstDash val="solid"/>
          </a:ln>
        </p:spPr>
      </p:sp>
      <p:sp>
        <p:nvSpPr>
          <p:cNvPr id="15" name="Text 13"/>
          <p:cNvSpPr txBox="1"/>
          <p:nvPr/>
        </p:nvSpPr>
        <p:spPr>
          <a:xfrm>
            <a:off x="6309360" y="1536192"/>
            <a:ext cx="205740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Exam</a:t>
            </a:r>
            <a:endParaRPr lang="en-US" sz="1700" dirty="0"/>
          </a:p>
        </p:txBody>
      </p:sp>
      <p:sp>
        <p:nvSpPr>
          <p:cNvPr id="16" name="Text 14"/>
          <p:cNvSpPr txBox="1"/>
          <p:nvPr/>
        </p:nvSpPr>
        <p:spPr>
          <a:xfrm>
            <a:off x="6309360" y="1901952"/>
            <a:ext cx="2057400" cy="731520"/>
          </a:xfrm>
          <a:prstGeom prst="rect">
            <a:avLst/>
          </a:prstGeom>
          <a:noFill/>
          <a:ln/>
        </p:spPr>
        <p:txBody>
          <a:bodyPr wrap="square" lIns="0" tIns="0" rIns="0" bIns="0" rtlCol="0" anchor="t"/>
          <a:lstStyle/>
          <a:p>
            <a:pPr indent="0" marL="0">
              <a:buNone/>
            </a:pPr>
            <a:r>
              <a:rPr lang="en-US" sz="1200" dirty="0">
                <a:solidFill>
                  <a:srgbClr val="E8F2F7"/>
                </a:solidFill>
                <a:latin typeface="Calibri" pitchFamily="34" charset="0"/>
                <a:ea typeface="Calibri" pitchFamily="34" charset="-122"/>
                <a:cs typeface="Calibri" pitchFamily="34" charset="-120"/>
              </a:rPr>
              <a:t>Score on 3,000 samples</a:t>
            </a:r>
            <a:endParaRPr lang="en-US" sz="1200" dirty="0"/>
          </a:p>
          <a:p>
            <a:pPr indent="0" marL="0">
              <a:buNone/>
            </a:pPr>
            <a:r>
              <a:rPr lang="en-US" sz="1200" dirty="0">
                <a:solidFill>
                  <a:srgbClr val="E8F2F7"/>
                </a:solidFill>
                <a:latin typeface="Calibri" pitchFamily="34" charset="0"/>
                <a:ea typeface="Calibri" pitchFamily="34" charset="-122"/>
                <a:cs typeface="Calibri" pitchFamily="34" charset="-120"/>
              </a:rPr>
              <a:t>never seen before</a:t>
            </a:r>
            <a:endParaRPr lang="en-US" sz="1200" dirty="0"/>
          </a:p>
        </p:txBody>
      </p:sp>
      <p:sp>
        <p:nvSpPr>
          <p:cNvPr id="17" name="Shape 15"/>
          <p:cNvSpPr/>
          <p:nvPr/>
        </p:nvSpPr>
        <p:spPr>
          <a:xfrm>
            <a:off x="548640" y="3017520"/>
            <a:ext cx="3886200" cy="1554480"/>
          </a:xfrm>
          <a:prstGeom prst="roundRect">
            <a:avLst>
              <a:gd name="adj" fmla="val 4706"/>
            </a:avLst>
          </a:prstGeom>
          <a:solidFill>
            <a:srgbClr val="EEF3F6"/>
          </a:solidFill>
          <a:ln w="12700">
            <a:solidFill>
              <a:srgbClr val="EEF3F6"/>
            </a:solidFill>
            <a:prstDash val="solid"/>
          </a:ln>
        </p:spPr>
      </p:sp>
      <p:sp>
        <p:nvSpPr>
          <p:cNvPr id="18" name="Text 16"/>
          <p:cNvSpPr txBox="1"/>
          <p:nvPr/>
        </p:nvSpPr>
        <p:spPr>
          <a:xfrm>
            <a:off x="749808" y="3145536"/>
            <a:ext cx="34838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Why two stages?</a:t>
            </a:r>
            <a:endParaRPr lang="en-US" sz="1200" dirty="0"/>
          </a:p>
        </p:txBody>
      </p:sp>
      <p:sp>
        <p:nvSpPr>
          <p:cNvPr id="19" name="Text 17"/>
          <p:cNvSpPr txBox="1"/>
          <p:nvPr/>
        </p:nvSpPr>
        <p:spPr>
          <a:xfrm>
            <a:off x="749808" y="3419856"/>
            <a:ext cx="3483864" cy="10058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The clean laboratory samples and the real-world samples do not look the same, even for the same bacteria. Instruments drift, conditions vary. Stage 1 teaches the general shapes. Stage 2 adapts to the messier reality.</a:t>
            </a:r>
            <a:endParaRPr lang="en-US" sz="1150" dirty="0"/>
          </a:p>
        </p:txBody>
      </p:sp>
      <p:sp>
        <p:nvSpPr>
          <p:cNvPr id="20" name="Shape 18"/>
          <p:cNvSpPr/>
          <p:nvPr/>
        </p:nvSpPr>
        <p:spPr>
          <a:xfrm>
            <a:off x="4800600" y="3017520"/>
            <a:ext cx="3886200" cy="1554480"/>
          </a:xfrm>
          <a:prstGeom prst="roundRect">
            <a:avLst>
              <a:gd name="adj" fmla="val 4706"/>
            </a:avLst>
          </a:prstGeom>
          <a:solidFill>
            <a:srgbClr val="EEF3F6"/>
          </a:solidFill>
          <a:ln w="12700">
            <a:solidFill>
              <a:srgbClr val="EEF3F6"/>
            </a:solidFill>
            <a:prstDash val="solid"/>
          </a:ln>
        </p:spPr>
      </p:sp>
      <p:sp>
        <p:nvSpPr>
          <p:cNvPr id="21" name="Text 19"/>
          <p:cNvSpPr txBox="1"/>
          <p:nvPr/>
        </p:nvSpPr>
        <p:spPr>
          <a:xfrm>
            <a:off x="5001768" y="3145536"/>
            <a:ext cx="34838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Why it matters so much</a:t>
            </a:r>
            <a:endParaRPr lang="en-US" sz="1200" dirty="0"/>
          </a:p>
        </p:txBody>
      </p:sp>
      <p:sp>
        <p:nvSpPr>
          <p:cNvPr id="22" name="Text 20"/>
          <p:cNvSpPr txBox="1"/>
          <p:nvPr/>
        </p:nvSpPr>
        <p:spPr>
          <a:xfrm>
            <a:off x="5001768" y="3419856"/>
            <a:ext cx="3483864" cy="10058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Stage 1 alone scores about 50%. After stage 2 the same model scores about 75%. Those 25 points are the single largest effect in the whole system, and nothing in the original project had measured 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Can we measure anything?</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Run the identical setup three times and see how much the answer moves</a:t>
            </a:r>
            <a:endParaRPr lang="en-US" sz="1250" dirty="0"/>
          </a:p>
        </p:txBody>
      </p:sp>
      <p:graphicFrame>
        <p:nvGraphicFramePr>
          <p:cNvPr id="6" name="Chart 0" descr=""/>
          <p:cNvGraphicFramePr/>
          <p:nvPr/>
        </p:nvGraphicFramePr>
        <p:xfrm>
          <a:off x="457200" y="1234440"/>
          <a:ext cx="4846320" cy="2377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0" y="1234440"/>
            <a:ext cx="3200400" cy="1417320"/>
          </a:xfrm>
          <a:prstGeom prst="roundRect">
            <a:avLst>
              <a:gd name="adj" fmla="val 5161"/>
            </a:avLst>
          </a:prstGeom>
          <a:solidFill>
            <a:srgbClr val="EEF3F6"/>
          </a:solidFill>
          <a:ln w="12700">
            <a:solidFill>
              <a:srgbClr val="EEF3F6"/>
            </a:solidFill>
            <a:prstDash val="solid"/>
          </a:ln>
        </p:spPr>
      </p:sp>
      <p:sp>
        <p:nvSpPr>
          <p:cNvPr id="8" name="Text 5"/>
          <p:cNvSpPr txBox="1"/>
          <p:nvPr/>
        </p:nvSpPr>
        <p:spPr>
          <a:xfrm>
            <a:off x="5687568" y="1362456"/>
            <a:ext cx="27980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What changed</a:t>
            </a:r>
            <a:endParaRPr lang="en-US" sz="1200" dirty="0"/>
          </a:p>
        </p:txBody>
      </p:sp>
      <p:sp>
        <p:nvSpPr>
          <p:cNvPr id="9" name="Text 6"/>
          <p:cNvSpPr txBox="1"/>
          <p:nvPr/>
        </p:nvSpPr>
        <p:spPr>
          <a:xfrm>
            <a:off x="5687568" y="1636776"/>
            <a:ext cx="2798064" cy="8686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Nothing. Same data, same settings, same computer. Only the internal random shuffle differed.</a:t>
            </a:r>
            <a:endParaRPr lang="en-US" sz="1150" dirty="0"/>
          </a:p>
        </p:txBody>
      </p:sp>
      <p:sp>
        <p:nvSpPr>
          <p:cNvPr id="10" name="Shape 7"/>
          <p:cNvSpPr/>
          <p:nvPr/>
        </p:nvSpPr>
        <p:spPr>
          <a:xfrm>
            <a:off x="5486400" y="2788920"/>
            <a:ext cx="3200400" cy="1737360"/>
          </a:xfrm>
          <a:prstGeom prst="roundRect">
            <a:avLst>
              <a:gd name="adj" fmla="val 4211"/>
            </a:avLst>
          </a:prstGeom>
          <a:solidFill>
            <a:srgbClr val="FBEDE6"/>
          </a:solidFill>
          <a:ln w="12700">
            <a:solidFill>
              <a:srgbClr val="FBEDE6"/>
            </a:solidFill>
            <a:prstDash val="solid"/>
          </a:ln>
        </p:spPr>
      </p:sp>
      <p:sp>
        <p:nvSpPr>
          <p:cNvPr id="11" name="Text 8"/>
          <p:cNvSpPr txBox="1"/>
          <p:nvPr/>
        </p:nvSpPr>
        <p:spPr>
          <a:xfrm>
            <a:off x="5687568" y="2916936"/>
            <a:ext cx="27980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What we found</a:t>
            </a:r>
            <a:endParaRPr lang="en-US" sz="1200" dirty="0"/>
          </a:p>
        </p:txBody>
      </p:sp>
      <p:sp>
        <p:nvSpPr>
          <p:cNvPr id="12" name="Text 9"/>
          <p:cNvSpPr txBox="1"/>
          <p:nvPr/>
        </p:nvSpPr>
        <p:spPr>
          <a:xfrm>
            <a:off x="5687568" y="3191256"/>
            <a:ext cx="2798064" cy="118872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The answer moves by about 2 points on its own. So any claimed improvement smaller than 2 points is indistinguishable from luck.</a:t>
            </a:r>
            <a:endParaRPr lang="en-US" sz="1150" dirty="0"/>
          </a:p>
        </p:txBody>
      </p:sp>
      <p:sp>
        <p:nvSpPr>
          <p:cNvPr id="13" name="Text 10"/>
          <p:cNvSpPr txBox="1"/>
          <p:nvPr/>
        </p:nvSpPr>
        <p:spPr>
          <a:xfrm>
            <a:off x="457200" y="3749040"/>
            <a:ext cx="4846320" cy="822960"/>
          </a:xfrm>
          <a:prstGeom prst="rect">
            <a:avLst/>
          </a:prstGeom>
          <a:noFill/>
          <a:ln/>
        </p:spPr>
        <p:txBody>
          <a:bodyPr wrap="square" lIns="0" tIns="0" rIns="0" bIns="0" rtlCol="0" anchor="t"/>
          <a:lstStyle/>
          <a:p>
            <a:pPr indent="0" marL="0">
              <a:lnSpc>
                <a:spcPct val="120000"/>
              </a:lnSpc>
              <a:buNone/>
            </a:pPr>
            <a:r>
              <a:rPr lang="en-US" sz="1300" dirty="0">
                <a:solidFill>
                  <a:srgbClr val="0C2E45"/>
                </a:solidFill>
                <a:latin typeface="Calibri" pitchFamily="34" charset="0"/>
                <a:ea typeface="Calibri" pitchFamily="34" charset="-122"/>
                <a:cs typeface="Calibri" pitchFamily="34" charset="-120"/>
              </a:rPr>
              <a:t>Consequence: a 1.4-point improvement recorded in the project's own documentation was never real evidence.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Which stage causes the wobble?</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Score the same three runs twice: after stage 1, then after stage 2</a:t>
            </a:r>
            <a:endParaRPr lang="en-US" sz="1250" dirty="0"/>
          </a:p>
        </p:txBody>
      </p:sp>
      <p:graphicFrame>
        <p:nvGraphicFramePr>
          <p:cNvPr id="6" name="Chart 0" descr=""/>
          <p:cNvGraphicFramePr/>
          <p:nvPr/>
        </p:nvGraphicFramePr>
        <p:xfrm>
          <a:off x="457200" y="1234440"/>
          <a:ext cx="4846320" cy="2834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0" y="1234440"/>
            <a:ext cx="3200400" cy="1325880"/>
          </a:xfrm>
          <a:prstGeom prst="roundRect">
            <a:avLst>
              <a:gd name="adj" fmla="val 5517"/>
            </a:avLst>
          </a:prstGeom>
          <a:solidFill>
            <a:srgbClr val="FBEDE6"/>
          </a:solidFill>
          <a:ln w="12700">
            <a:solidFill>
              <a:srgbClr val="FBEDE6"/>
            </a:solidFill>
            <a:prstDash val="solid"/>
          </a:ln>
        </p:spPr>
      </p:sp>
      <p:sp>
        <p:nvSpPr>
          <p:cNvPr id="8" name="Text 5"/>
          <p:cNvSpPr txBox="1"/>
          <p:nvPr/>
        </p:nvSpPr>
        <p:spPr>
          <a:xfrm>
            <a:off x="5687568" y="1362456"/>
            <a:ext cx="27980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Spread after stage 1</a:t>
            </a:r>
            <a:endParaRPr lang="en-US" sz="1200" dirty="0"/>
          </a:p>
        </p:txBody>
      </p:sp>
      <p:sp>
        <p:nvSpPr>
          <p:cNvPr id="9" name="Text 6"/>
          <p:cNvSpPr txBox="1"/>
          <p:nvPr/>
        </p:nvSpPr>
        <p:spPr>
          <a:xfrm>
            <a:off x="5687568" y="1636776"/>
            <a:ext cx="2798064" cy="7772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6.3 points apart. The three runs end up quite different.</a:t>
            </a:r>
            <a:endParaRPr lang="en-US" sz="1150" dirty="0"/>
          </a:p>
        </p:txBody>
      </p:sp>
      <p:sp>
        <p:nvSpPr>
          <p:cNvPr id="10" name="Shape 7"/>
          <p:cNvSpPr/>
          <p:nvPr/>
        </p:nvSpPr>
        <p:spPr>
          <a:xfrm>
            <a:off x="5486400" y="2697480"/>
            <a:ext cx="3200400" cy="1325880"/>
          </a:xfrm>
          <a:prstGeom prst="roundRect">
            <a:avLst>
              <a:gd name="adj" fmla="val 5517"/>
            </a:avLst>
          </a:prstGeom>
          <a:solidFill>
            <a:srgbClr val="E7F3EF"/>
          </a:solidFill>
          <a:ln w="12700">
            <a:solidFill>
              <a:srgbClr val="E7F3EF"/>
            </a:solidFill>
            <a:prstDash val="solid"/>
          </a:ln>
        </p:spPr>
      </p:sp>
      <p:sp>
        <p:nvSpPr>
          <p:cNvPr id="11" name="Text 8"/>
          <p:cNvSpPr txBox="1"/>
          <p:nvPr/>
        </p:nvSpPr>
        <p:spPr>
          <a:xfrm>
            <a:off x="5687568" y="2825496"/>
            <a:ext cx="27980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Spread after stage 2</a:t>
            </a:r>
            <a:endParaRPr lang="en-US" sz="1200" dirty="0"/>
          </a:p>
        </p:txBody>
      </p:sp>
      <p:sp>
        <p:nvSpPr>
          <p:cNvPr id="12" name="Text 9"/>
          <p:cNvSpPr txBox="1"/>
          <p:nvPr/>
        </p:nvSpPr>
        <p:spPr>
          <a:xfrm>
            <a:off x="5687568" y="3099816"/>
            <a:ext cx="2798064" cy="7772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2.1 points apart. Stage 2 pulls them back together.</a:t>
            </a:r>
            <a:endParaRPr lang="en-US" sz="1150" dirty="0"/>
          </a:p>
        </p:txBody>
      </p:sp>
      <p:sp>
        <p:nvSpPr>
          <p:cNvPr id="13" name="Text 10"/>
          <p:cNvSpPr txBox="1"/>
          <p:nvPr/>
        </p:nvSpPr>
        <p:spPr>
          <a:xfrm>
            <a:off x="5486400" y="4160520"/>
            <a:ext cx="3200400" cy="457200"/>
          </a:xfrm>
          <a:prstGeom prst="rect">
            <a:avLst/>
          </a:prstGeom>
          <a:noFill/>
          <a:ln/>
        </p:spPr>
        <p:txBody>
          <a:bodyPr wrap="square" lIns="0" tIns="0" rIns="0" bIns="0" rtlCol="0" anchor="ctr"/>
          <a:lstStyle/>
          <a:p>
            <a:pPr indent="0" marL="0">
              <a:buNone/>
            </a:pPr>
            <a:r>
              <a:rPr lang="en-US" sz="1150" i="1" dirty="0">
                <a:solidFill>
                  <a:srgbClr val="5A6B76"/>
                </a:solidFill>
                <a:latin typeface="Calibri" pitchFamily="34" charset="0"/>
                <a:ea typeface="Calibri" pitchFamily="34" charset="-122"/>
                <a:cs typeface="Calibri" pitchFamily="34" charset="-120"/>
              </a:rPr>
              <a:t>Prediction was wrong: stage 2 steadies the system rather than destabilising it.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The one that worked</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Turn each data-cleaning step off in turn and see what happens</a:t>
            </a:r>
            <a:endParaRPr lang="en-US" sz="1250" dirty="0"/>
          </a:p>
        </p:txBody>
      </p:sp>
      <p:graphicFrame>
        <p:nvGraphicFramePr>
          <p:cNvPr id="6" name="Chart 0" descr=""/>
          <p:cNvGraphicFramePr/>
          <p:nvPr/>
        </p:nvGraphicFramePr>
        <p:xfrm>
          <a:off x="384048" y="1188720"/>
          <a:ext cx="52578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188720"/>
            <a:ext cx="2971800" cy="1371600"/>
          </a:xfrm>
          <a:prstGeom prst="roundRect">
            <a:avLst>
              <a:gd name="adj" fmla="val 5333"/>
            </a:avLst>
          </a:prstGeom>
          <a:solidFill>
            <a:srgbClr val="FBEDE6"/>
          </a:solidFill>
          <a:ln w="12700">
            <a:solidFill>
              <a:srgbClr val="FBEDE6"/>
            </a:solidFill>
            <a:prstDash val="solid"/>
          </a:ln>
        </p:spPr>
      </p:sp>
      <p:sp>
        <p:nvSpPr>
          <p:cNvPr id="8" name="Text 5"/>
          <p:cNvSpPr txBox="1"/>
          <p:nvPr/>
        </p:nvSpPr>
        <p:spPr>
          <a:xfrm>
            <a:off x="5961888" y="131673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What was removed</a:t>
            </a:r>
            <a:endParaRPr lang="en-US" sz="1200" dirty="0"/>
          </a:p>
        </p:txBody>
      </p:sp>
      <p:sp>
        <p:nvSpPr>
          <p:cNvPr id="9" name="Text 6"/>
          <p:cNvSpPr txBox="1"/>
          <p:nvPr/>
        </p:nvSpPr>
        <p:spPr>
          <a:xfrm>
            <a:off x="5961888" y="1591056"/>
            <a:ext cx="2569464" cy="82296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A background-subtraction step. The data arrives already background-corrected, so this step was subtracting real signal.</a:t>
            </a:r>
            <a:endParaRPr lang="en-US" sz="1150" dirty="0"/>
          </a:p>
        </p:txBody>
      </p:sp>
      <p:sp>
        <p:nvSpPr>
          <p:cNvPr id="10" name="Shape 7"/>
          <p:cNvSpPr/>
          <p:nvPr/>
        </p:nvSpPr>
        <p:spPr>
          <a:xfrm>
            <a:off x="5760720" y="2697480"/>
            <a:ext cx="2971800" cy="960120"/>
          </a:xfrm>
          <a:prstGeom prst="roundRect">
            <a:avLst>
              <a:gd name="adj" fmla="val 7619"/>
            </a:avLst>
          </a:prstGeom>
          <a:solidFill>
            <a:srgbClr val="E7F3EF"/>
          </a:solidFill>
          <a:ln w="12700">
            <a:solidFill>
              <a:srgbClr val="E7F3EF"/>
            </a:solidFill>
            <a:prstDash val="solid"/>
          </a:ln>
        </p:spPr>
      </p:sp>
      <p:sp>
        <p:nvSpPr>
          <p:cNvPr id="11" name="Text 8"/>
          <p:cNvSpPr txBox="1"/>
          <p:nvPr/>
        </p:nvSpPr>
        <p:spPr>
          <a:xfrm>
            <a:off x="5961888" y="282549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The gain</a:t>
            </a:r>
            <a:endParaRPr lang="en-US" sz="1200" dirty="0"/>
          </a:p>
        </p:txBody>
      </p:sp>
      <p:sp>
        <p:nvSpPr>
          <p:cNvPr id="12" name="Text 9"/>
          <p:cNvSpPr txBox="1"/>
          <p:nvPr/>
        </p:nvSpPr>
        <p:spPr>
          <a:xfrm>
            <a:off x="5961888" y="3099816"/>
            <a:ext cx="2569464" cy="4114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74.8% to 83.9%. Nine points, by deleting code.</a:t>
            </a:r>
            <a:endParaRPr lang="en-US" sz="1150" dirty="0"/>
          </a:p>
        </p:txBody>
      </p:sp>
      <p:sp>
        <p:nvSpPr>
          <p:cNvPr id="13" name="Shape 10"/>
          <p:cNvSpPr/>
          <p:nvPr/>
        </p:nvSpPr>
        <p:spPr>
          <a:xfrm>
            <a:off x="5760720" y="3794760"/>
            <a:ext cx="2971800" cy="777240"/>
          </a:xfrm>
          <a:prstGeom prst="roundRect">
            <a:avLst>
              <a:gd name="adj" fmla="val 9412"/>
            </a:avLst>
          </a:prstGeom>
          <a:solidFill>
            <a:srgbClr val="EEF3F6"/>
          </a:solidFill>
          <a:ln w="12700">
            <a:solidFill>
              <a:srgbClr val="EEF3F6"/>
            </a:solidFill>
            <a:prstDash val="solid"/>
          </a:ln>
        </p:spPr>
      </p:sp>
      <p:sp>
        <p:nvSpPr>
          <p:cNvPr id="14" name="Text 11"/>
          <p:cNvSpPr txBox="1"/>
          <p:nvPr/>
        </p:nvSpPr>
        <p:spPr>
          <a:xfrm>
            <a:off x="5961888" y="392277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Chance it is luck</a:t>
            </a:r>
            <a:endParaRPr lang="en-US" sz="1200" dirty="0"/>
          </a:p>
        </p:txBody>
      </p:sp>
      <p:sp>
        <p:nvSpPr>
          <p:cNvPr id="15" name="Text 12"/>
          <p:cNvSpPr txBox="1"/>
          <p:nvPr/>
        </p:nvSpPr>
        <p:spPr>
          <a:xfrm>
            <a:off x="5961888" y="4197096"/>
            <a:ext cx="2569464" cy="22860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Roughly 1 in 10 with 56 zeros after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Was the right design chosen?</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Re-test all five model designs now that the data cleaning is fixed</a:t>
            </a:r>
            <a:endParaRPr lang="en-US" sz="1250" dirty="0"/>
          </a:p>
        </p:txBody>
      </p:sp>
      <p:graphicFrame>
        <p:nvGraphicFramePr>
          <p:cNvPr id="6" name="Chart 0" descr=""/>
          <p:cNvGraphicFramePr/>
          <p:nvPr/>
        </p:nvGraphicFramePr>
        <p:xfrm>
          <a:off x="384048" y="1188720"/>
          <a:ext cx="5257800" cy="2743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188720"/>
            <a:ext cx="2971800" cy="1554480"/>
          </a:xfrm>
          <a:prstGeom prst="roundRect">
            <a:avLst>
              <a:gd name="adj" fmla="val 4706"/>
            </a:avLst>
          </a:prstGeom>
          <a:solidFill>
            <a:srgbClr val="E7F3EF"/>
          </a:solidFill>
          <a:ln w="12700">
            <a:solidFill>
              <a:srgbClr val="E7F3EF"/>
            </a:solidFill>
            <a:prstDash val="solid"/>
          </a:ln>
        </p:spPr>
      </p:sp>
      <p:sp>
        <p:nvSpPr>
          <p:cNvPr id="8" name="Text 5"/>
          <p:cNvSpPr txBox="1"/>
          <p:nvPr/>
        </p:nvSpPr>
        <p:spPr>
          <a:xfrm>
            <a:off x="5961888" y="131673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The smallest design wins</a:t>
            </a:r>
            <a:endParaRPr lang="en-US" sz="1200" dirty="0"/>
          </a:p>
        </p:txBody>
      </p:sp>
      <p:sp>
        <p:nvSpPr>
          <p:cNvPr id="9" name="Text 6"/>
          <p:cNvSpPr txBox="1"/>
          <p:nvPr/>
        </p:nvSpPr>
        <p:spPr>
          <a:xfrm>
            <a:off x="5961888" y="1591056"/>
            <a:ext cx="2569464" cy="10058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It has 6.5 times fewer internal settings than the deep one, and beats it by 4.3 points.</a:t>
            </a:r>
            <a:endParaRPr lang="en-US" sz="1150" dirty="0"/>
          </a:p>
        </p:txBody>
      </p:sp>
      <p:sp>
        <p:nvSpPr>
          <p:cNvPr id="10" name="Shape 7"/>
          <p:cNvSpPr/>
          <p:nvPr/>
        </p:nvSpPr>
        <p:spPr>
          <a:xfrm>
            <a:off x="5760720" y="2880360"/>
            <a:ext cx="2971800" cy="1645920"/>
          </a:xfrm>
          <a:prstGeom prst="roundRect">
            <a:avLst>
              <a:gd name="adj" fmla="val 4444"/>
            </a:avLst>
          </a:prstGeom>
          <a:solidFill>
            <a:srgbClr val="EEF3F6"/>
          </a:solidFill>
          <a:ln w="12700">
            <a:solidFill>
              <a:srgbClr val="EEF3F6"/>
            </a:solidFill>
            <a:prstDash val="solid"/>
          </a:ln>
        </p:spPr>
      </p:sp>
      <p:sp>
        <p:nvSpPr>
          <p:cNvPr id="11" name="Text 8"/>
          <p:cNvSpPr txBox="1"/>
          <p:nvPr/>
        </p:nvSpPr>
        <p:spPr>
          <a:xfrm>
            <a:off x="5961888" y="300837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It is also the steadiest</a:t>
            </a:r>
            <a:endParaRPr lang="en-US" sz="1200" dirty="0"/>
          </a:p>
        </p:txBody>
      </p:sp>
      <p:sp>
        <p:nvSpPr>
          <p:cNvPr id="12" name="Text 9"/>
          <p:cNvSpPr txBox="1"/>
          <p:nvPr/>
        </p:nvSpPr>
        <p:spPr>
          <a:xfrm>
            <a:off x="5961888" y="3282696"/>
            <a:ext cx="2569464" cy="10972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It varies by 0.3 points between runs. The attention design varies by 5.7, which rules it out for anything retrained regularly.</a:t>
            </a:r>
            <a:endParaRPr lang="en-US" sz="1150" dirty="0"/>
          </a:p>
        </p:txBody>
      </p:sp>
      <p:sp>
        <p:nvSpPr>
          <p:cNvPr id="13" name="Text 10"/>
          <p:cNvSpPr txBox="1"/>
          <p:nvPr/>
        </p:nvSpPr>
        <p:spPr>
          <a:xfrm>
            <a:off x="384048" y="4023360"/>
            <a:ext cx="5257800" cy="548640"/>
          </a:xfrm>
          <a:prstGeom prst="rect">
            <a:avLst/>
          </a:prstGeom>
          <a:noFill/>
          <a:ln/>
        </p:spPr>
        <p:txBody>
          <a:bodyPr wrap="square" lIns="0" tIns="0" rIns="0" bIns="0" rtlCol="0" anchor="t"/>
          <a:lstStyle/>
          <a:p>
            <a:pPr indent="0" marL="0">
              <a:buNone/>
            </a:pPr>
            <a:r>
              <a:rPr lang="en-US" sz="1150" i="1" dirty="0">
                <a:solidFill>
                  <a:srgbClr val="5A6B76"/>
                </a:solidFill>
                <a:latin typeface="Calibri" pitchFamily="34" charset="0"/>
                <a:ea typeface="Calibri" pitchFamily="34" charset="-122"/>
                <a:cs typeface="Calibri" pitchFamily="34" charset="-120"/>
              </a:rPr>
              <a:t>My prediction was that the small model only won because of the faulty cleaning. It did not. The original choice was right.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Tuning the second stage</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Three standard remedies applied to the least supervised part of the system</a:t>
            </a:r>
            <a:endParaRPr lang="en-US" sz="1250" dirty="0"/>
          </a:p>
        </p:txBody>
      </p:sp>
      <p:graphicFrame>
        <p:nvGraphicFramePr>
          <p:cNvPr id="6" name="Chart 0" descr=""/>
          <p:cNvGraphicFramePr/>
          <p:nvPr/>
        </p:nvGraphicFramePr>
        <p:xfrm>
          <a:off x="384048" y="1188720"/>
          <a:ext cx="5257800" cy="2468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188720"/>
            <a:ext cx="2971800" cy="1554480"/>
          </a:xfrm>
          <a:prstGeom prst="roundRect">
            <a:avLst>
              <a:gd name="adj" fmla="val 4706"/>
            </a:avLst>
          </a:prstGeom>
          <a:solidFill>
            <a:srgbClr val="EEF3F6"/>
          </a:solidFill>
          <a:ln w="12700">
            <a:solidFill>
              <a:srgbClr val="EEF3F6"/>
            </a:solidFill>
            <a:prstDash val="solid"/>
          </a:ln>
        </p:spPr>
      </p:sp>
      <p:sp>
        <p:nvSpPr>
          <p:cNvPr id="8" name="Text 5"/>
          <p:cNvSpPr txBox="1"/>
          <p:nvPr/>
        </p:nvSpPr>
        <p:spPr>
          <a:xfrm>
            <a:off x="5961888" y="131673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All four are the same</a:t>
            </a:r>
            <a:endParaRPr lang="en-US" sz="1200" dirty="0"/>
          </a:p>
        </p:txBody>
      </p:sp>
      <p:sp>
        <p:nvSpPr>
          <p:cNvPr id="9" name="Text 6"/>
          <p:cNvSpPr txBox="1"/>
          <p:nvPr/>
        </p:nvSpPr>
        <p:spPr>
          <a:xfrm>
            <a:off x="5961888" y="1591056"/>
            <a:ext cx="2569464" cy="10058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Largest difference between any two: 0.18 points. That is 5 exam questions out of 3,000.</a:t>
            </a:r>
            <a:endParaRPr lang="en-US" sz="1150" dirty="0"/>
          </a:p>
        </p:txBody>
      </p:sp>
      <p:sp>
        <p:nvSpPr>
          <p:cNvPr id="10" name="Shape 7"/>
          <p:cNvSpPr/>
          <p:nvPr/>
        </p:nvSpPr>
        <p:spPr>
          <a:xfrm>
            <a:off x="5760720" y="2880360"/>
            <a:ext cx="2971800" cy="1645920"/>
          </a:xfrm>
          <a:prstGeom prst="roundRect">
            <a:avLst>
              <a:gd name="adj" fmla="val 4444"/>
            </a:avLst>
          </a:prstGeom>
          <a:solidFill>
            <a:srgbClr val="E7F3EF"/>
          </a:solidFill>
          <a:ln w="12700">
            <a:solidFill>
              <a:srgbClr val="E7F3EF"/>
            </a:solidFill>
            <a:prstDash val="solid"/>
          </a:ln>
        </p:spPr>
      </p:sp>
      <p:sp>
        <p:nvSpPr>
          <p:cNvPr id="11" name="Text 8"/>
          <p:cNvSpPr txBox="1"/>
          <p:nvPr/>
        </p:nvSpPr>
        <p:spPr>
          <a:xfrm>
            <a:off x="5961888" y="300837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Why it is still useful</a:t>
            </a:r>
            <a:endParaRPr lang="en-US" sz="1200" dirty="0"/>
          </a:p>
        </p:txBody>
      </p:sp>
      <p:sp>
        <p:nvSpPr>
          <p:cNvPr id="12" name="Text 9"/>
          <p:cNvSpPr txBox="1"/>
          <p:nvPr/>
        </p:nvSpPr>
        <p:spPr>
          <a:xfrm>
            <a:off x="5961888" y="3282696"/>
            <a:ext cx="2569464" cy="10972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The project's documentation listed 'add random variations in stage 2' as an obvious untried win. It has now been tried. It does nothing.</a:t>
            </a:r>
            <a:endParaRPr lang="en-US" sz="1150" dirty="0"/>
          </a:p>
        </p:txBody>
      </p:sp>
      <p:sp>
        <p:nvSpPr>
          <p:cNvPr id="13" name="Text 10"/>
          <p:cNvSpPr txBox="1"/>
          <p:nvPr/>
        </p:nvSpPr>
        <p:spPr>
          <a:xfrm>
            <a:off x="384048" y="3794760"/>
            <a:ext cx="5257800" cy="457200"/>
          </a:xfrm>
          <a:prstGeom prst="rect">
            <a:avLst/>
          </a:prstGeom>
          <a:noFill/>
          <a:ln/>
        </p:spPr>
        <p:txBody>
          <a:bodyPr wrap="square" lIns="0" tIns="0" rIns="0" bIns="0" rtlCol="0" anchor="ctr"/>
          <a:lstStyle/>
          <a:p>
            <a:pPr indent="0" marL="0">
              <a:buNone/>
            </a:pPr>
            <a:r>
              <a:rPr lang="en-US" sz="1200" i="1" dirty="0">
                <a:solidFill>
                  <a:srgbClr val="5A6B76"/>
                </a:solidFill>
                <a:latin typeface="Calibri" pitchFamily="34" charset="0"/>
                <a:ea typeface="Calibri" pitchFamily="34" charset="-122"/>
                <a:cs typeface="Calibri" pitchFamily="34" charset="-120"/>
              </a:rPr>
              <a:t>A null result. Reported as one, rather than quietly dropped.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Does more training help?</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Triple the length of stage 2, from 20 passes to 60</a:t>
            </a:r>
            <a:endParaRPr lang="en-US" sz="1250" dirty="0"/>
          </a:p>
        </p:txBody>
      </p:sp>
      <p:sp>
        <p:nvSpPr>
          <p:cNvPr id="6" name="Text 4"/>
          <p:cNvSpPr txBox="1"/>
          <p:nvPr/>
        </p:nvSpPr>
        <p:spPr>
          <a:xfrm>
            <a:off x="384048" y="1143000"/>
            <a:ext cx="2743200" cy="228600"/>
          </a:xfrm>
          <a:prstGeom prst="rect">
            <a:avLst/>
          </a:prstGeom>
          <a:noFill/>
          <a:ln/>
        </p:spPr>
        <p:txBody>
          <a:bodyPr wrap="square" lIns="0" tIns="0" rIns="0" bIns="0" rtlCol="0" anchor="ctr"/>
          <a:lstStyle/>
          <a:p>
            <a:pPr indent="0" marL="0">
              <a:buNone/>
            </a:pPr>
            <a:r>
              <a:rPr lang="en-US" sz="1100" b="1" dirty="0">
                <a:solidFill>
                  <a:srgbClr val="0C2E45"/>
                </a:solidFill>
                <a:latin typeface="Calibri" pitchFamily="34" charset="0"/>
                <a:ea typeface="Calibri" pitchFamily="34" charset="-122"/>
                <a:cs typeface="Calibri" pitchFamily="34" charset="-120"/>
              </a:rPr>
              <a:t>Accuracy</a:t>
            </a:r>
            <a:endParaRPr lang="en-US" sz="1100" dirty="0"/>
          </a:p>
        </p:txBody>
      </p:sp>
      <p:graphicFrame>
        <p:nvGraphicFramePr>
          <p:cNvPr id="7" name="Chart 0" descr=""/>
          <p:cNvGraphicFramePr/>
          <p:nvPr/>
        </p:nvGraphicFramePr>
        <p:xfrm>
          <a:off x="384048" y="1371600"/>
          <a:ext cx="5257800" cy="1554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84048" y="2971800"/>
            <a:ext cx="2743200" cy="228600"/>
          </a:xfrm>
          <a:prstGeom prst="rect">
            <a:avLst/>
          </a:prstGeom>
          <a:noFill/>
          <a:ln/>
        </p:spPr>
        <p:txBody>
          <a:bodyPr wrap="square" lIns="0" tIns="0" rIns="0" bIns="0" rtlCol="0" anchor="ctr"/>
          <a:lstStyle/>
          <a:p>
            <a:pPr indent="0" marL="0">
              <a:buNone/>
            </a:pPr>
            <a:r>
              <a:rPr lang="en-US" sz="1100" b="1" dirty="0">
                <a:solidFill>
                  <a:srgbClr val="0C2E45"/>
                </a:solidFill>
                <a:latin typeface="Calibri" pitchFamily="34" charset="0"/>
                <a:ea typeface="Calibri" pitchFamily="34" charset="-122"/>
                <a:cs typeface="Calibri" pitchFamily="34" charset="-120"/>
              </a:rPr>
              <a:t>Run-to-run wobble</a:t>
            </a:r>
            <a:endParaRPr lang="en-US" sz="1100" dirty="0"/>
          </a:p>
        </p:txBody>
      </p:sp>
      <p:graphicFrame>
        <p:nvGraphicFramePr>
          <p:cNvPr id="9" name="Chart 1" descr=""/>
          <p:cNvGraphicFramePr/>
          <p:nvPr/>
        </p:nvGraphicFramePr>
        <p:xfrm>
          <a:off x="384048" y="3200400"/>
          <a:ext cx="5257800" cy="13258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760720" y="1234440"/>
            <a:ext cx="2971800" cy="1463040"/>
          </a:xfrm>
          <a:prstGeom prst="roundRect">
            <a:avLst>
              <a:gd name="adj" fmla="val 5000"/>
            </a:avLst>
          </a:prstGeom>
          <a:solidFill>
            <a:srgbClr val="FBEDE6"/>
          </a:solidFill>
          <a:ln w="12700">
            <a:solidFill>
              <a:srgbClr val="FBEDE6"/>
            </a:solidFill>
            <a:prstDash val="solid"/>
          </a:ln>
        </p:spPr>
      </p:sp>
      <p:sp>
        <p:nvSpPr>
          <p:cNvPr id="11" name="Text 7"/>
          <p:cNvSpPr txBox="1"/>
          <p:nvPr/>
        </p:nvSpPr>
        <p:spPr>
          <a:xfrm>
            <a:off x="5961888" y="136245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Worse, not better</a:t>
            </a:r>
            <a:endParaRPr lang="en-US" sz="1200" dirty="0"/>
          </a:p>
        </p:txBody>
      </p:sp>
      <p:sp>
        <p:nvSpPr>
          <p:cNvPr id="12" name="Text 8"/>
          <p:cNvSpPr txBox="1"/>
          <p:nvPr/>
        </p:nvSpPr>
        <p:spPr>
          <a:xfrm>
            <a:off x="5961888" y="1636776"/>
            <a:ext cx="2569464" cy="91440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A point lower on average, and all three runs got worse. Not luck.</a:t>
            </a:r>
            <a:endParaRPr lang="en-US" sz="1150" dirty="0"/>
          </a:p>
        </p:txBody>
      </p:sp>
      <p:sp>
        <p:nvSpPr>
          <p:cNvPr id="13" name="Shape 9"/>
          <p:cNvSpPr/>
          <p:nvPr/>
        </p:nvSpPr>
        <p:spPr>
          <a:xfrm>
            <a:off x="5760720" y="2834640"/>
            <a:ext cx="2971800" cy="1645920"/>
          </a:xfrm>
          <a:prstGeom prst="roundRect">
            <a:avLst>
              <a:gd name="adj" fmla="val 4444"/>
            </a:avLst>
          </a:prstGeom>
          <a:solidFill>
            <a:srgbClr val="EEF3F6"/>
          </a:solidFill>
          <a:ln w="12700">
            <a:solidFill>
              <a:srgbClr val="EEF3F6"/>
            </a:solidFill>
            <a:prstDash val="solid"/>
          </a:ln>
        </p:spPr>
      </p:sp>
      <p:sp>
        <p:nvSpPr>
          <p:cNvPr id="14" name="Text 10"/>
          <p:cNvSpPr txBox="1"/>
          <p:nvPr/>
        </p:nvSpPr>
        <p:spPr>
          <a:xfrm>
            <a:off x="5961888" y="296265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Why the clue misled us</a:t>
            </a:r>
            <a:endParaRPr lang="en-US" sz="1200" dirty="0"/>
          </a:p>
        </p:txBody>
      </p:sp>
      <p:sp>
        <p:nvSpPr>
          <p:cNvPr id="15" name="Text 11"/>
          <p:cNvSpPr txBox="1"/>
          <p:nvPr/>
        </p:nvSpPr>
        <p:spPr>
          <a:xfrm>
            <a:off x="5961888" y="3236976"/>
            <a:ext cx="2569464" cy="10972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The self-check used only 300 samples, too few to tell late passes apart. It was picking a late pass essentially at random.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When new bacteria arrive</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Four ways to add five new species to a system that knows 30</a:t>
            </a:r>
            <a:endParaRPr lang="en-US" sz="1250" dirty="0"/>
          </a:p>
        </p:txBody>
      </p:sp>
      <p:graphicFrame>
        <p:nvGraphicFramePr>
          <p:cNvPr id="6" name="Chart 0" descr=""/>
          <p:cNvGraphicFramePr/>
          <p:nvPr/>
        </p:nvGraphicFramePr>
        <p:xfrm>
          <a:off x="384048" y="1188720"/>
          <a:ext cx="539496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97880" y="1188720"/>
            <a:ext cx="2834640" cy="1554480"/>
          </a:xfrm>
          <a:prstGeom prst="roundRect">
            <a:avLst>
              <a:gd name="adj" fmla="val 4706"/>
            </a:avLst>
          </a:prstGeom>
          <a:solidFill>
            <a:srgbClr val="E7F3EF"/>
          </a:solidFill>
          <a:ln w="12700">
            <a:solidFill>
              <a:srgbClr val="E7F3EF"/>
            </a:solidFill>
            <a:prstDash val="solid"/>
          </a:ln>
        </p:spPr>
      </p:sp>
      <p:sp>
        <p:nvSpPr>
          <p:cNvPr id="8" name="Text 5"/>
          <p:cNvSpPr txBox="1"/>
          <p:nvPr/>
        </p:nvSpPr>
        <p:spPr>
          <a:xfrm>
            <a:off x="6099048" y="131673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Only one does both jobs</a:t>
            </a:r>
            <a:endParaRPr lang="en-US" sz="1200" dirty="0"/>
          </a:p>
        </p:txBody>
      </p:sp>
      <p:sp>
        <p:nvSpPr>
          <p:cNvPr id="9" name="Text 6"/>
          <p:cNvSpPr txBox="1"/>
          <p:nvPr/>
        </p:nvSpPr>
        <p:spPr>
          <a:xfrm>
            <a:off x="6099048" y="1591056"/>
            <a:ext cx="2432304" cy="100584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Throwing the old model away and training a new one from scratch. It takes 3.4 minutes.</a:t>
            </a:r>
            <a:endParaRPr lang="en-US" sz="1150" dirty="0"/>
          </a:p>
        </p:txBody>
      </p:sp>
      <p:sp>
        <p:nvSpPr>
          <p:cNvPr id="10" name="Shape 7"/>
          <p:cNvSpPr/>
          <p:nvPr/>
        </p:nvSpPr>
        <p:spPr>
          <a:xfrm>
            <a:off x="5897880" y="2880360"/>
            <a:ext cx="2834640" cy="1645920"/>
          </a:xfrm>
          <a:prstGeom prst="roundRect">
            <a:avLst>
              <a:gd name="adj" fmla="val 4444"/>
            </a:avLst>
          </a:prstGeom>
          <a:solidFill>
            <a:srgbClr val="EEF3F6"/>
          </a:solidFill>
          <a:ln w="12700">
            <a:solidFill>
              <a:srgbClr val="EEF3F6"/>
            </a:solidFill>
            <a:prstDash val="solid"/>
          </a:ln>
        </p:spPr>
      </p:sp>
      <p:sp>
        <p:nvSpPr>
          <p:cNvPr id="11" name="Text 8"/>
          <p:cNvSpPr txBox="1"/>
          <p:nvPr/>
        </p:nvSpPr>
        <p:spPr>
          <a:xfrm>
            <a:off x="6099048" y="300837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The shortcuts save 2 minutes</a:t>
            </a:r>
            <a:endParaRPr lang="en-US" sz="1200" dirty="0"/>
          </a:p>
        </p:txBody>
      </p:sp>
      <p:sp>
        <p:nvSpPr>
          <p:cNvPr id="12" name="Text 9"/>
          <p:cNvSpPr txBox="1"/>
          <p:nvPr/>
        </p:nvSpPr>
        <p:spPr>
          <a:xfrm>
            <a:off x="6099048" y="3282696"/>
            <a:ext cx="2432304" cy="109728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And each fails at half the job. They exist to avoid a cost that does not exist at this size.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The same test with more new data</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Give the new species 2,000 examples each instead of 100</a:t>
            </a:r>
            <a:endParaRPr lang="en-US" sz="1250" dirty="0"/>
          </a:p>
        </p:txBody>
      </p:sp>
      <p:graphicFrame>
        <p:nvGraphicFramePr>
          <p:cNvPr id="6" name="Chart 0" descr=""/>
          <p:cNvGraphicFramePr/>
          <p:nvPr/>
        </p:nvGraphicFramePr>
        <p:xfrm>
          <a:off x="384048" y="1188720"/>
          <a:ext cx="539496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97880" y="1188720"/>
            <a:ext cx="2834640" cy="1691640"/>
          </a:xfrm>
          <a:prstGeom prst="roundRect">
            <a:avLst>
              <a:gd name="adj" fmla="val 4324"/>
            </a:avLst>
          </a:prstGeom>
          <a:solidFill>
            <a:srgbClr val="FBEDE6"/>
          </a:solidFill>
          <a:ln w="12700">
            <a:solidFill>
              <a:srgbClr val="FBEDE6"/>
            </a:solidFill>
            <a:prstDash val="solid"/>
          </a:ln>
        </p:spPr>
      </p:sp>
      <p:sp>
        <p:nvSpPr>
          <p:cNvPr id="8" name="Text 5"/>
          <p:cNvSpPr txBox="1"/>
          <p:nvPr/>
        </p:nvSpPr>
        <p:spPr>
          <a:xfrm>
            <a:off x="6099048" y="131673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Now it forgets</a:t>
            </a:r>
            <a:endParaRPr lang="en-US" sz="1200" dirty="0"/>
          </a:p>
        </p:txBody>
      </p:sp>
      <p:sp>
        <p:nvSpPr>
          <p:cNvPr id="9" name="Text 6"/>
          <p:cNvSpPr txBox="1"/>
          <p:nvPr/>
        </p:nvSpPr>
        <p:spPr>
          <a:xfrm>
            <a:off x="6099048" y="1591056"/>
            <a:ext cx="2432304" cy="114300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Training on new data alone drops old-species accuracy from 87% to 3%. It replaces rather than adds.</a:t>
            </a:r>
            <a:endParaRPr lang="en-US" sz="1150" dirty="0"/>
          </a:p>
        </p:txBody>
      </p:sp>
      <p:sp>
        <p:nvSpPr>
          <p:cNvPr id="10" name="Shape 7"/>
          <p:cNvSpPr/>
          <p:nvPr/>
        </p:nvSpPr>
        <p:spPr>
          <a:xfrm>
            <a:off x="5897880" y="3017520"/>
            <a:ext cx="2834640" cy="1508760"/>
          </a:xfrm>
          <a:prstGeom prst="roundRect">
            <a:avLst>
              <a:gd name="adj" fmla="val 4848"/>
            </a:avLst>
          </a:prstGeom>
          <a:solidFill>
            <a:srgbClr val="EEF3F6"/>
          </a:solidFill>
          <a:ln w="12700">
            <a:solidFill>
              <a:srgbClr val="EEF3F6"/>
            </a:solidFill>
            <a:prstDash val="solid"/>
          </a:ln>
        </p:spPr>
      </p:sp>
      <p:sp>
        <p:nvSpPr>
          <p:cNvPr id="11" name="Text 8"/>
          <p:cNvSpPr txBox="1"/>
          <p:nvPr/>
        </p:nvSpPr>
        <p:spPr>
          <a:xfrm>
            <a:off x="6099048" y="314553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The surprising part</a:t>
            </a:r>
            <a:endParaRPr lang="en-US" sz="1200" dirty="0"/>
          </a:p>
        </p:txBody>
      </p:sp>
      <p:sp>
        <p:nvSpPr>
          <p:cNvPr id="12" name="Text 9"/>
          <p:cNvSpPr txBox="1"/>
          <p:nvPr/>
        </p:nvSpPr>
        <p:spPr>
          <a:xfrm>
            <a:off x="6099048" y="3419856"/>
            <a:ext cx="2432304" cy="96012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'Freeze most of it' also forgets, even though its recognition ability could not change at all.</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Asking three copies and averaging</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No new training: combine the three models we already had</a:t>
            </a:r>
            <a:endParaRPr lang="en-US" sz="1250" dirty="0"/>
          </a:p>
        </p:txBody>
      </p:sp>
      <p:graphicFrame>
        <p:nvGraphicFramePr>
          <p:cNvPr id="6" name="Chart 0" descr=""/>
          <p:cNvGraphicFramePr/>
          <p:nvPr/>
        </p:nvGraphicFramePr>
        <p:xfrm>
          <a:off x="384048" y="1188720"/>
          <a:ext cx="5257800" cy="2560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188720"/>
            <a:ext cx="2971800" cy="1600200"/>
          </a:xfrm>
          <a:prstGeom prst="roundRect">
            <a:avLst>
              <a:gd name="adj" fmla="val 4571"/>
            </a:avLst>
          </a:prstGeom>
          <a:solidFill>
            <a:srgbClr val="E7F3EF"/>
          </a:solidFill>
          <a:ln w="12700">
            <a:solidFill>
              <a:srgbClr val="E7F3EF"/>
            </a:solidFill>
            <a:prstDash val="solid"/>
          </a:ln>
        </p:spPr>
      </p:sp>
      <p:sp>
        <p:nvSpPr>
          <p:cNvPr id="8" name="Text 5"/>
          <p:cNvSpPr txBox="1"/>
          <p:nvPr/>
        </p:nvSpPr>
        <p:spPr>
          <a:xfrm>
            <a:off x="5961888" y="131673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Why it works</a:t>
            </a:r>
            <a:endParaRPr lang="en-US" sz="1200" dirty="0"/>
          </a:p>
        </p:txBody>
      </p:sp>
      <p:sp>
        <p:nvSpPr>
          <p:cNvPr id="9" name="Text 6"/>
          <p:cNvSpPr txBox="1"/>
          <p:nvPr/>
        </p:nvSpPr>
        <p:spPr>
          <a:xfrm>
            <a:off x="5961888" y="1591056"/>
            <a:ext cx="2569464" cy="105156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The three disagree on 11% of samples, so their mistakes are partly independent and averaging cancels some out.</a:t>
            </a:r>
            <a:endParaRPr lang="en-US" sz="1150" dirty="0"/>
          </a:p>
        </p:txBody>
      </p:sp>
      <p:sp>
        <p:nvSpPr>
          <p:cNvPr id="10" name="Shape 7"/>
          <p:cNvSpPr/>
          <p:nvPr/>
        </p:nvSpPr>
        <p:spPr>
          <a:xfrm>
            <a:off x="5760720" y="2926080"/>
            <a:ext cx="2971800" cy="1600200"/>
          </a:xfrm>
          <a:prstGeom prst="roundRect">
            <a:avLst>
              <a:gd name="adj" fmla="val 4571"/>
            </a:avLst>
          </a:prstGeom>
          <a:solidFill>
            <a:srgbClr val="EEF3F6"/>
          </a:solidFill>
          <a:ln w="12700">
            <a:solidFill>
              <a:srgbClr val="EEF3F6"/>
            </a:solidFill>
            <a:prstDash val="solid"/>
          </a:ln>
        </p:spPr>
      </p:sp>
      <p:sp>
        <p:nvSpPr>
          <p:cNvPr id="11" name="Text 8"/>
          <p:cNvSpPr txBox="1"/>
          <p:nvPr/>
        </p:nvSpPr>
        <p:spPr>
          <a:xfrm>
            <a:off x="5961888" y="3054096"/>
            <a:ext cx="256946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Be honest about it</a:t>
            </a:r>
            <a:endParaRPr lang="en-US" sz="1200" dirty="0"/>
          </a:p>
        </p:txBody>
      </p:sp>
      <p:sp>
        <p:nvSpPr>
          <p:cNvPr id="12" name="Text 9"/>
          <p:cNvSpPr txBox="1"/>
          <p:nvPr/>
        </p:nvSpPr>
        <p:spPr>
          <a:xfrm>
            <a:off x="5961888" y="3328416"/>
            <a:ext cx="2569464" cy="105156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+0.8 points, about a 6% chance of being coincidence. Costs three times the storage and computation.</a:t>
            </a:r>
            <a:endParaRPr lang="en-US" sz="1150" dirty="0"/>
          </a:p>
        </p:txBody>
      </p:sp>
      <p:sp>
        <p:nvSpPr>
          <p:cNvPr id="13" name="Text 10"/>
          <p:cNvSpPr txBox="1"/>
          <p:nvPr/>
        </p:nvSpPr>
        <p:spPr>
          <a:xfrm>
            <a:off x="384048" y="3886200"/>
            <a:ext cx="5257800" cy="548640"/>
          </a:xfrm>
          <a:prstGeom prst="rect">
            <a:avLst/>
          </a:prstGeom>
          <a:noFill/>
          <a:ln/>
        </p:spPr>
        <p:txBody>
          <a:bodyPr wrap="square" lIns="0" tIns="0" rIns="0" bIns="0" rtlCol="0" anchor="t"/>
          <a:lstStyle/>
          <a:p>
            <a:pPr indent="0" marL="0">
              <a:buNone/>
            </a:pPr>
            <a:r>
              <a:rPr lang="en-US" sz="1150" i="1" dirty="0">
                <a:solidFill>
                  <a:srgbClr val="5A6B76"/>
                </a:solidFill>
                <a:latin typeface="Calibri" pitchFamily="34" charset="0"/>
                <a:ea typeface="Calibri" pitchFamily="34" charset="-122"/>
                <a:cs typeface="Calibri" pitchFamily="34" charset="-120"/>
              </a:rPr>
              <a:t>At least one of the three is right on 90% of samples. That is the ceiling any combination could reach.</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ellipse">
            <a:avLst/>
          </a:prstGeom>
          <a:solidFill>
            <a:srgbClr val="065A82"/>
          </a:solidFill>
          <a:ln/>
        </p:spPr>
      </p:sp>
      <p:sp>
        <p:nvSpPr>
          <p:cNvPr id="3" name="Text 1"/>
          <p:cNvSpPr txBox="1"/>
          <p:nvPr/>
        </p:nvSpPr>
        <p:spPr>
          <a:xfrm>
            <a:off x="457200" y="2926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4" name="Text 2"/>
          <p:cNvSpPr txBox="1"/>
          <p:nvPr/>
        </p:nvSpPr>
        <p:spPr>
          <a:xfrm>
            <a:off x="1051560" y="256032"/>
            <a:ext cx="7635240" cy="411480"/>
          </a:xfrm>
          <a:prstGeom prst="rect">
            <a:avLst/>
          </a:prstGeom>
          <a:noFill/>
          <a:ln/>
        </p:spPr>
        <p:txBody>
          <a:bodyPr wrap="square" lIns="0" tIns="0" rIns="0" bIns="0" rtlCol="0" anchor="ctr"/>
          <a:lstStyle/>
          <a:p>
            <a:pPr indent="0" marL="0">
              <a:buNone/>
            </a:pPr>
            <a:r>
              <a:rPr lang="en-US" sz="2600" b="1" dirty="0">
                <a:solidFill>
                  <a:srgbClr val="0C2E45"/>
                </a:solidFill>
                <a:latin typeface="Cambria" pitchFamily="34" charset="0"/>
                <a:ea typeface="Cambria" pitchFamily="34" charset="-122"/>
                <a:cs typeface="Cambria" pitchFamily="34" charset="-120"/>
              </a:rPr>
              <a:t>Where we ended up</a:t>
            </a:r>
            <a:endParaRPr lang="en-US" sz="2600" dirty="0"/>
          </a:p>
        </p:txBody>
      </p:sp>
      <p:sp>
        <p:nvSpPr>
          <p:cNvPr id="5" name="Text 3"/>
          <p:cNvSpPr txBox="1"/>
          <p:nvPr/>
        </p:nvSpPr>
        <p:spPr>
          <a:xfrm>
            <a:off x="1051560" y="694944"/>
            <a:ext cx="7635240" cy="292608"/>
          </a:xfrm>
          <a:prstGeom prst="rect">
            <a:avLst/>
          </a:prstGeom>
          <a:noFill/>
          <a:ln/>
        </p:spPr>
        <p:txBody>
          <a:bodyPr wrap="square" lIns="0" tIns="0" rIns="0" bIns="0" rtlCol="0" anchor="ctr"/>
          <a:lstStyle/>
          <a:p>
            <a:pPr indent="0" marL="0">
              <a:buNone/>
            </a:pPr>
            <a:r>
              <a:rPr lang="en-US" sz="1250" i="1" dirty="0">
                <a:solidFill>
                  <a:srgbClr val="5A6B76"/>
                </a:solidFill>
                <a:latin typeface="Calibri" pitchFamily="34" charset="0"/>
                <a:ea typeface="Calibri" pitchFamily="34" charset="-122"/>
                <a:cs typeface="Calibri" pitchFamily="34" charset="-120"/>
              </a:rPr>
              <a:t>Against the published results on exactly the same data</a:t>
            </a:r>
            <a:endParaRPr lang="en-US" sz="1250" dirty="0"/>
          </a:p>
        </p:txBody>
      </p:sp>
      <p:graphicFrame>
        <p:nvGraphicFramePr>
          <p:cNvPr id="6" name="Chart 0" descr=""/>
          <p:cNvGraphicFramePr/>
          <p:nvPr/>
        </p:nvGraphicFramePr>
        <p:xfrm>
          <a:off x="384048" y="1188720"/>
          <a:ext cx="539496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97880" y="1188720"/>
            <a:ext cx="2834640" cy="1371600"/>
          </a:xfrm>
          <a:prstGeom prst="roundRect">
            <a:avLst>
              <a:gd name="adj" fmla="val 5333"/>
            </a:avLst>
          </a:prstGeom>
          <a:solidFill>
            <a:srgbClr val="E7F3EF"/>
          </a:solidFill>
          <a:ln w="12700">
            <a:solidFill>
              <a:srgbClr val="E7F3EF"/>
            </a:solidFill>
            <a:prstDash val="solid"/>
          </a:ln>
        </p:spPr>
      </p:sp>
      <p:sp>
        <p:nvSpPr>
          <p:cNvPr id="8" name="Text 5"/>
          <p:cNvSpPr txBox="1"/>
          <p:nvPr/>
        </p:nvSpPr>
        <p:spPr>
          <a:xfrm>
            <a:off x="6099048" y="131673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Gain</a:t>
            </a:r>
            <a:endParaRPr lang="en-US" sz="1200" dirty="0"/>
          </a:p>
        </p:txBody>
      </p:sp>
      <p:sp>
        <p:nvSpPr>
          <p:cNvPr id="9" name="Text 6"/>
          <p:cNvSpPr txBox="1"/>
          <p:nvPr/>
        </p:nvSpPr>
        <p:spPr>
          <a:xfrm>
            <a:off x="6099048" y="1591056"/>
            <a:ext cx="2432304" cy="82296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+10.3 points, achieved mainly by removing code rather than adding it.</a:t>
            </a:r>
            <a:endParaRPr lang="en-US" sz="1150" dirty="0"/>
          </a:p>
        </p:txBody>
      </p:sp>
      <p:sp>
        <p:nvSpPr>
          <p:cNvPr id="10" name="Shape 7"/>
          <p:cNvSpPr/>
          <p:nvPr/>
        </p:nvSpPr>
        <p:spPr>
          <a:xfrm>
            <a:off x="5897880" y="2697480"/>
            <a:ext cx="2834640" cy="914400"/>
          </a:xfrm>
          <a:prstGeom prst="roundRect">
            <a:avLst>
              <a:gd name="adj" fmla="val 8000"/>
            </a:avLst>
          </a:prstGeom>
          <a:solidFill>
            <a:srgbClr val="EEF3F6"/>
          </a:solidFill>
          <a:ln w="12700">
            <a:solidFill>
              <a:srgbClr val="EEF3F6"/>
            </a:solidFill>
            <a:prstDash val="solid"/>
          </a:ln>
        </p:spPr>
      </p:sp>
      <p:sp>
        <p:nvSpPr>
          <p:cNvPr id="11" name="Text 8"/>
          <p:cNvSpPr txBox="1"/>
          <p:nvPr/>
        </p:nvSpPr>
        <p:spPr>
          <a:xfrm>
            <a:off x="6099048" y="282549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Model size</a:t>
            </a:r>
            <a:endParaRPr lang="en-US" sz="1200" dirty="0"/>
          </a:p>
        </p:txBody>
      </p:sp>
      <p:sp>
        <p:nvSpPr>
          <p:cNvPr id="12" name="Text 9"/>
          <p:cNvSpPr txBox="1"/>
          <p:nvPr/>
        </p:nvSpPr>
        <p:spPr>
          <a:xfrm>
            <a:off x="6099048" y="3099816"/>
            <a:ext cx="2432304" cy="36576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40,446 settings. The published larger model uses 25 layers.</a:t>
            </a:r>
            <a:endParaRPr lang="en-US" sz="1150" dirty="0"/>
          </a:p>
        </p:txBody>
      </p:sp>
      <p:sp>
        <p:nvSpPr>
          <p:cNvPr id="13" name="Shape 10"/>
          <p:cNvSpPr/>
          <p:nvPr/>
        </p:nvSpPr>
        <p:spPr>
          <a:xfrm>
            <a:off x="5897880" y="3749040"/>
            <a:ext cx="2834640" cy="777240"/>
          </a:xfrm>
          <a:prstGeom prst="roundRect">
            <a:avLst>
              <a:gd name="adj" fmla="val 9412"/>
            </a:avLst>
          </a:prstGeom>
          <a:solidFill>
            <a:srgbClr val="EEF3F6"/>
          </a:solidFill>
          <a:ln w="12700">
            <a:solidFill>
              <a:srgbClr val="EEF3F6"/>
            </a:solidFill>
            <a:prstDash val="solid"/>
          </a:ln>
        </p:spPr>
      </p:sp>
      <p:sp>
        <p:nvSpPr>
          <p:cNvPr id="14" name="Text 11"/>
          <p:cNvSpPr txBox="1"/>
          <p:nvPr/>
        </p:nvSpPr>
        <p:spPr>
          <a:xfrm>
            <a:off x="6099048" y="3877056"/>
            <a:ext cx="2432304" cy="256032"/>
          </a:xfrm>
          <a:prstGeom prst="rect">
            <a:avLst/>
          </a:prstGeom>
          <a:noFill/>
          <a:ln/>
        </p:spPr>
        <p:txBody>
          <a:bodyPr wrap="square" lIns="0" tIns="0" rIns="0" bIns="0" rtlCol="0" anchor="ctr"/>
          <a:lstStyle/>
          <a:p>
            <a:pPr indent="0" marL="0">
              <a:buNone/>
            </a:pPr>
            <a:r>
              <a:rPr lang="en-US" sz="1200" b="1" dirty="0">
                <a:solidFill>
                  <a:srgbClr val="0C2E45"/>
                </a:solidFill>
                <a:latin typeface="Calibri" pitchFamily="34" charset="0"/>
                <a:ea typeface="Calibri" pitchFamily="34" charset="-122"/>
                <a:cs typeface="Calibri" pitchFamily="34" charset="-120"/>
              </a:rPr>
              <a:t>Remaining gap</a:t>
            </a:r>
            <a:endParaRPr lang="en-US" sz="1200" dirty="0"/>
          </a:p>
        </p:txBody>
      </p:sp>
      <p:sp>
        <p:nvSpPr>
          <p:cNvPr id="15" name="Text 12"/>
          <p:cNvSpPr txBox="1"/>
          <p:nvPr/>
        </p:nvSpPr>
        <p:spPr>
          <a:xfrm>
            <a:off x="6099048" y="4151376"/>
            <a:ext cx="2432304" cy="228600"/>
          </a:xfrm>
          <a:prstGeom prst="rect">
            <a:avLst/>
          </a:prstGeom>
          <a:noFill/>
          <a:ln/>
        </p:spPr>
        <p:txBody>
          <a:bodyPr wrap="square" lIns="0" tIns="0" rIns="0" bIns="0" rtlCol="0" anchor="t"/>
          <a:lstStyle/>
          <a:p>
            <a:pPr indent="0" marL="0">
              <a:lnSpc>
                <a:spcPct val="115000"/>
              </a:lnSpc>
              <a:buNone/>
            </a:pPr>
            <a:r>
              <a:rPr lang="en-US" sz="1150" dirty="0">
                <a:solidFill>
                  <a:srgbClr val="22333F"/>
                </a:solidFill>
                <a:latin typeface="Calibri" pitchFamily="34" charset="0"/>
                <a:ea typeface="Calibri" pitchFamily="34" charset="-122"/>
                <a:cs typeface="Calibri" pitchFamily="34" charset="-120"/>
              </a:rPr>
              <a:t>1.3 points to the best published result.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E45"/>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things to take away</a:t>
            </a:r>
            <a:endParaRPr lang="en-US" sz="3000" dirty="0"/>
          </a:p>
        </p:txBody>
      </p:sp>
      <p:sp>
        <p:nvSpPr>
          <p:cNvPr id="3" name="Shape 1"/>
          <p:cNvSpPr/>
          <p:nvPr/>
        </p:nvSpPr>
        <p:spPr>
          <a:xfrm>
            <a:off x="640080" y="1289304"/>
            <a:ext cx="310896" cy="310896"/>
          </a:xfrm>
          <a:prstGeom prst="ellipse">
            <a:avLst/>
          </a:prstGeom>
          <a:solidFill>
            <a:srgbClr val="3F9E86"/>
          </a:solidFill>
          <a:ln/>
        </p:spPr>
      </p:sp>
      <p:sp>
        <p:nvSpPr>
          <p:cNvPr id="4" name="Text 2"/>
          <p:cNvSpPr txBox="1"/>
          <p:nvPr/>
        </p:nvSpPr>
        <p:spPr>
          <a:xfrm>
            <a:off x="640080" y="1289304"/>
            <a:ext cx="310896" cy="310896"/>
          </a:xfrm>
          <a:prstGeom prst="rect">
            <a:avLst/>
          </a:prstGeom>
          <a:noFill/>
          <a:ln/>
        </p:spPr>
        <p:txBody>
          <a:bodyPr wrap="square" lIns="0" tIns="0" rIns="0" bIns="0" rtlCol="0" anchor="ctr"/>
          <a:lstStyle/>
          <a:p>
            <a:pPr algn="ctr" indent="0" marL="0">
              <a:buNone/>
            </a:pPr>
            <a:r>
              <a:rPr lang="en-US" sz="1400" b="1" dirty="0">
                <a:solidFill>
                  <a:srgbClr val="0C2E45"/>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097280" y="1234440"/>
            <a:ext cx="74066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fix was deletion, not addition</a:t>
            </a:r>
            <a:endParaRPr lang="en-US" sz="1600" dirty="0"/>
          </a:p>
        </p:txBody>
      </p:sp>
      <p:sp>
        <p:nvSpPr>
          <p:cNvPr id="6" name="Text 4"/>
          <p:cNvSpPr txBox="1"/>
          <p:nvPr/>
        </p:nvSpPr>
        <p:spPr>
          <a:xfrm>
            <a:off x="1097280" y="1563624"/>
            <a:ext cx="7406640" cy="777240"/>
          </a:xfrm>
          <a:prstGeom prst="rect">
            <a:avLst/>
          </a:prstGeom>
          <a:noFill/>
          <a:ln/>
        </p:spPr>
        <p:txBody>
          <a:bodyPr wrap="square" lIns="0" tIns="0" rIns="0" bIns="0" rtlCol="0" anchor="t"/>
          <a:lstStyle/>
          <a:p>
            <a:pPr indent="0" marL="0">
              <a:lnSpc>
                <a:spcPct val="115000"/>
              </a:lnSpc>
              <a:buNone/>
            </a:pPr>
            <a:r>
              <a:rPr lang="en-US" sz="1150" dirty="0">
                <a:solidFill>
                  <a:srgbClr val="C3D8E4"/>
                </a:solidFill>
                <a:latin typeface="Calibri" pitchFamily="34" charset="0"/>
                <a:ea typeface="Calibri" pitchFamily="34" charset="-122"/>
                <a:cs typeface="Calibri" pitchFamily="34" charset="-120"/>
              </a:rPr>
              <a:t>Nine of the ten points came from removing a data-cleaning step that the documentation carefully justified. The justification was sound in general and wrong for this dataset, because the data had already been cleaned before it arrived. Nobody had checked that assumption.</a:t>
            </a:r>
            <a:endParaRPr lang="en-US" sz="1150" dirty="0"/>
          </a:p>
        </p:txBody>
      </p:sp>
      <p:sp>
        <p:nvSpPr>
          <p:cNvPr id="7" name="Shape 5"/>
          <p:cNvSpPr/>
          <p:nvPr/>
        </p:nvSpPr>
        <p:spPr>
          <a:xfrm>
            <a:off x="640080" y="2478024"/>
            <a:ext cx="310896" cy="310896"/>
          </a:xfrm>
          <a:prstGeom prst="ellipse">
            <a:avLst/>
          </a:prstGeom>
          <a:solidFill>
            <a:srgbClr val="3F9E86"/>
          </a:solidFill>
          <a:ln/>
        </p:spPr>
      </p:sp>
      <p:sp>
        <p:nvSpPr>
          <p:cNvPr id="8" name="Text 6"/>
          <p:cNvSpPr txBox="1"/>
          <p:nvPr/>
        </p:nvSpPr>
        <p:spPr>
          <a:xfrm>
            <a:off x="640080" y="2478024"/>
            <a:ext cx="310896" cy="310896"/>
          </a:xfrm>
          <a:prstGeom prst="rect">
            <a:avLst/>
          </a:prstGeom>
          <a:noFill/>
          <a:ln/>
        </p:spPr>
        <p:txBody>
          <a:bodyPr wrap="square" lIns="0" tIns="0" rIns="0" bIns="0" rtlCol="0" anchor="ctr"/>
          <a:lstStyle/>
          <a:p>
            <a:pPr algn="ctr" indent="0" marL="0">
              <a:buNone/>
            </a:pPr>
            <a:r>
              <a:rPr lang="en-US" sz="1400" b="1" dirty="0">
                <a:solidFill>
                  <a:srgbClr val="0C2E45"/>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097280" y="2423160"/>
            <a:ext cx="74066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One idea in eight worked</a:t>
            </a:r>
            <a:endParaRPr lang="en-US" sz="1600" dirty="0"/>
          </a:p>
        </p:txBody>
      </p:sp>
      <p:sp>
        <p:nvSpPr>
          <p:cNvPr id="10" name="Text 8"/>
          <p:cNvSpPr txBox="1"/>
          <p:nvPr/>
        </p:nvSpPr>
        <p:spPr>
          <a:xfrm>
            <a:off x="1097280" y="2752344"/>
            <a:ext cx="7406640" cy="777240"/>
          </a:xfrm>
          <a:prstGeom prst="rect">
            <a:avLst/>
          </a:prstGeom>
          <a:noFill/>
          <a:ln/>
        </p:spPr>
        <p:txBody>
          <a:bodyPr wrap="square" lIns="0" tIns="0" rIns="0" bIns="0" rtlCol="0" anchor="t"/>
          <a:lstStyle/>
          <a:p>
            <a:pPr indent="0" marL="0">
              <a:lnSpc>
                <a:spcPct val="115000"/>
              </a:lnSpc>
              <a:buNone/>
            </a:pPr>
            <a:r>
              <a:rPr lang="en-US" sz="1150" dirty="0">
                <a:solidFill>
                  <a:srgbClr val="C3D8E4"/>
                </a:solidFill>
                <a:latin typeface="Calibri" pitchFamily="34" charset="0"/>
                <a:ea typeface="Calibri" pitchFamily="34" charset="-122"/>
                <a:cs typeface="Calibri" pitchFamily="34" charset="-120"/>
              </a:rPr>
              <a:t>Two experiments built the measuring equipment, one found the problem, four found nothing, one found a small win. That ratio is normal. The failures are part of the result: several were listed in the project's documentation as obvious wins waiting to be collected.</a:t>
            </a:r>
            <a:endParaRPr lang="en-US" sz="1150" dirty="0"/>
          </a:p>
        </p:txBody>
      </p:sp>
      <p:sp>
        <p:nvSpPr>
          <p:cNvPr id="11" name="Shape 9"/>
          <p:cNvSpPr/>
          <p:nvPr/>
        </p:nvSpPr>
        <p:spPr>
          <a:xfrm>
            <a:off x="640080" y="3666744"/>
            <a:ext cx="310896" cy="310896"/>
          </a:xfrm>
          <a:prstGeom prst="ellipse">
            <a:avLst/>
          </a:prstGeom>
          <a:solidFill>
            <a:srgbClr val="3F9E86"/>
          </a:solidFill>
          <a:ln/>
        </p:spPr>
      </p:sp>
      <p:sp>
        <p:nvSpPr>
          <p:cNvPr id="12" name="Text 10"/>
          <p:cNvSpPr txBox="1"/>
          <p:nvPr/>
        </p:nvSpPr>
        <p:spPr>
          <a:xfrm>
            <a:off x="640080" y="3666744"/>
            <a:ext cx="310896" cy="310896"/>
          </a:xfrm>
          <a:prstGeom prst="rect">
            <a:avLst/>
          </a:prstGeom>
          <a:noFill/>
          <a:ln/>
        </p:spPr>
        <p:txBody>
          <a:bodyPr wrap="square" lIns="0" tIns="0" rIns="0" bIns="0" rtlCol="0" anchor="ctr"/>
          <a:lstStyle/>
          <a:p>
            <a:pPr algn="ctr" indent="0" marL="0">
              <a:buNone/>
            </a:pPr>
            <a:r>
              <a:rPr lang="en-US" sz="1400" b="1" dirty="0">
                <a:solidFill>
                  <a:srgbClr val="0C2E45"/>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1097280" y="3611880"/>
            <a:ext cx="74066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Measure before you improve</a:t>
            </a:r>
            <a:endParaRPr lang="en-US" sz="1600" dirty="0"/>
          </a:p>
        </p:txBody>
      </p:sp>
      <p:sp>
        <p:nvSpPr>
          <p:cNvPr id="14" name="Text 12"/>
          <p:cNvSpPr txBox="1"/>
          <p:nvPr/>
        </p:nvSpPr>
        <p:spPr>
          <a:xfrm>
            <a:off x="1097280" y="3941064"/>
            <a:ext cx="7406640" cy="777240"/>
          </a:xfrm>
          <a:prstGeom prst="rect">
            <a:avLst/>
          </a:prstGeom>
          <a:noFill/>
          <a:ln/>
        </p:spPr>
        <p:txBody>
          <a:bodyPr wrap="square" lIns="0" tIns="0" rIns="0" bIns="0" rtlCol="0" anchor="t"/>
          <a:lstStyle/>
          <a:p>
            <a:pPr indent="0" marL="0">
              <a:lnSpc>
                <a:spcPct val="115000"/>
              </a:lnSpc>
              <a:buNone/>
            </a:pPr>
            <a:r>
              <a:rPr lang="en-US" sz="1150" dirty="0">
                <a:solidFill>
                  <a:srgbClr val="C3D8E4"/>
                </a:solidFill>
                <a:latin typeface="Calibri" pitchFamily="34" charset="0"/>
                <a:ea typeface="Calibri" pitchFamily="34" charset="-122"/>
                <a:cs typeface="Calibri" pitchFamily="34" charset="-120"/>
              </a:rPr>
              <a:t>The first two experiments produced no accuracy at all. They produced a ruler. Without it, the nine-point gain could not have been distinguished from luck, and four of the failed ideas would have looked like small successes.</a:t>
            </a:r>
            <a:endParaRPr lang="en-US" sz="1150" dirty="0"/>
          </a:p>
        </p:txBody>
      </p:sp>
      <p:sp>
        <p:nvSpPr>
          <p:cNvPr id="15" name="Text 13"/>
          <p:cNvSpPr txBox="1"/>
          <p:nvPr/>
        </p:nvSpPr>
        <p:spPr>
          <a:xfrm>
            <a:off x="640080" y="4572000"/>
            <a:ext cx="7863840" cy="365760"/>
          </a:xfrm>
          <a:prstGeom prst="rect">
            <a:avLst/>
          </a:prstGeom>
          <a:noFill/>
          <a:ln/>
        </p:spPr>
        <p:txBody>
          <a:bodyPr wrap="square" lIns="0" tIns="0" rIns="0" bIns="0" rtlCol="0" anchor="ctr"/>
          <a:lstStyle/>
          <a:p>
            <a:pPr indent="0" marL="0">
              <a:buNone/>
            </a:pPr>
            <a:r>
              <a:rPr lang="en-US" sz="1100" i="1" dirty="0">
                <a:solidFill>
                  <a:srgbClr val="8FB2C6"/>
                </a:solidFill>
                <a:latin typeface="Calibri" pitchFamily="34" charset="0"/>
                <a:ea typeface="Calibri" pitchFamily="34" charset="-122"/>
                <a:cs typeface="Calibri" pitchFamily="34" charset="-120"/>
              </a:rPr>
              <a:t>Every number in this deck comes from three independent runs on a 3,000-sample held-out test set, with the full configuration recorded.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RAMAN Effect: what we changed and what it did</dc:title>
  <dc:subject>PptxGenJS Presentation</dc:subject>
  <dc:creator>RAMAN Effect project</dc:creator>
  <cp:lastModifiedBy>RAMAN Effect project</cp:lastModifiedBy>
  <cp:revision>1</cp:revision>
  <dcterms:created xsi:type="dcterms:W3CDTF">2026-09-23T17:45:49Z</dcterms:created>
  <dcterms:modified xsi:type="dcterms:W3CDTF">2026-09-23T17:45:49Z</dcterms:modified>
</cp:coreProperties>
</file>