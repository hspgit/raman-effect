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Every change made to the RAMAN-Effect repository, why it was made, what it cost, and what it returned. Baseline commit fb58ad3 on branch hrishikesh.
HEADLINE
74.78% (3 seeds, measured baseline on current code) to 85.03% (3-model probability ensemble). 9.11 of those points came from a single deletion in src/dataset.py; 0.80 from ensembling; everything else contributed nothing measurable.
DECK STRUCTURE
Slides 2-3: inventory and the measurement problem.
Slides 4-8: the infrastructure changes, each with the code and the reason.
Slide 9: the ASPLS finding, which is the only change that moved accuracy.
Slides 10-12: correctness fixes and the incremental-learning module.
Slides 13-15: impact summary, what I got wrong, and what is still open.
A NOTE ON WHAT IS NOT HERE
No changes were made to src/model.py or legacy_baseline/model.py. Not one architecture was modified. The accuracy gain came entirely from the data path and from how results were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SPLIT BETWEEN "NEW" AND "REPLACED"
The five new modules add capability without touching existing behaviour, so they could be dropped in and tested independently. The four replaced files needed edits threaded through existing control flow, so they were rewritten wholesale against the originals rather than patched blindly. Backups were taken first.
BACKWARD COMPATIBILITY WAS DELIBERATE
Every new flag defaults to the previous behaviour:
--device auto reproduces the original cuda -&gt; mps -&gt; cpu order.
--pipeline defaults to the current best but legacy_full is retained so old results can be reproduced.
--finetune-val-split defaults to 0.0, which is the old no-validation behaviour.
--finetune-weight-decay defaults to 0.0, matching the old silent omission.
The only intentional behaviour break is on_unseen="error" in RamanDataset, discussed later.
CHECKPOINT PATHS CHANGED
Previously every run wrote models/raman_reference_model.pth, so consecutive runs of different architectures overwrote each other. Now each run writes to runs/&lt;id&gt;/reference.pth and mirrors to models/&lt;model_type&gt;_reference.pth. Nothing in the repository read the old shared path, so nothing broke.
ONE UNAVOIDABLE BREAK
Passing an explicit torch.Generator to random_split means it no longer consumes the global RNG in the same order, so the train/val split differs from before even at seed 42. Acceptable, because the pre-existing numbers were not reproducible under the current code anyway (see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DIAGNOSTIC FOR LOG PROVENANCE
Old code validated once after all epochs; new code validates per epoch. So counting "Validation set:" lines in a log identifies which binary produced it. The old logs also print "Reference model saved to models/..." (the val_loader is None branch in current code) while simultaneously printing "Split reference data: 40200 train / 19800 val". Only the old code could emit both.
CONSEQUENCE: 76.50% IS NOT REPRODUCIBLE
Current code early-stops and reloads best-val weights. Re-running the champion config today gives 74.78% +/- 1.04 across three seeds. 76.50% sits about +1.7 sd above that mean, entirely consistent with a lucky single draw.
WHAT THE 2.07-POINT SPREAD INVALIDATED
- "Augmentation improves LegacyCNN by 1.40 points" (75.10 -&gt; 76.50): inside noise.
- "73.23% +/- 0.11%": impossible; also a last-epoch number due to the state_dict bug.
- Adjacent-pair orderings among the four losing architectures: not resolvable.
Survived: the 6.6-point LegacyCNN-over-ResNet gap, roughly 3 sd.
THE STATE_DICT BUG IN DETAIL
torch's Module.state_dict() returns an OrderedDict of references to the live parameter tensors, not clones. Assigning it to a variable and continuing to train mutates the saved "best" in place. copy.deepcopy is required. The same pattern was deliberately used correctly in every new code path.
WHY THIS BLOCK OF WORK RETURNED ZERO ACCURACY
It was a prerequisite, not an improvement. Without a known noise floor, the +9.11-point ASPLS result could not have been distinguished from luck, and the four subsequent null results would have looked like small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runmeta.py WRITES
Per run: runs/&lt;timestamp&gt;_&lt;model&gt;_&lt;tag&gt;_&lt;hash&gt;/ containing manifest.json (all argparse values, git SHA, git dirty flag, device name, torch/numpy/ramanspy/sklearn/scipy versions, cudnn flags) and metrics.json (per-epoch history plus final test stats, flushed on every write so a crashed run still leaves usable history).
WHY FLUSH ON EVERY LOG CALL
A 100-epoch run that dies at epoch 60 previously left nothing. Now it leaves 59 epochs of validation curve. The cost is 100 small file writes per run, which is nothing next to the training.
THE CUBLAS SUBTLETY
strict mode sets CUBLAS_WORKSPACE_CONFIG=:4096:8, which only takes effect before CUDA initialises. That is why set_seed must be the first statement after parse_args, before any dataset, model or tensor is created. warn_only=True is used on use_deterministic_algorithms so one non-deterministic op does not kill the run; the warning names which op broke the guarantee.
WHY pick_device ERRORS INSTEAD OF FALLING BACK
The original code silently fell back to CPU. The project documentation claimed the environment was CPU-only torch; it was actually torch 2.11.0+cu128 with a working GPU. A silent fallback is how that kind of error survives for weeks. --device cuda now raises with the installed torch version in the message.
HONEST LIMIT
Determinism is per-backend. A CUDA run and an MPS run will differ regardless of seed. All 18 historical logs were produced on Apple MPS, so none of the new numbers are comparable to them, which is why everything was re-baselined.
COST
Roughly 200 lines. No measurable runtime cost except cudnn.benchmark = False. Returns zero accuracy and makes every subsequent claim falsifiable.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DECLARATIVE SPEC MATTERS MORE THAN THE CACHE
The original pipeline was four hardcoded constructor calls inside RamanDataset.__init__. Any ablation required editing source, which means the experiment is not reproducible from a command line and the cache has no way to know the code changed. Making the spec a data structure that build_pipeline consumes means the description and the executed code cannot diverge, and the cache key can include the description.
Bumping CACHE_FORMAT is the manual escape hatch for changes the spec does not capture (dtype, ordering, container class).
IMPLEMENTATION DETAILS
file_fingerprint defaults to size + mtime_ns, which is instant. full_hash=True reads the file with blake2b in 4 MB chunks, about a second for the 480 MB reference array, and is the right choice if files might be replaced in place with same-size content or if caches move between machines.
load_or_compute writes to a .tmp file then os.replace, so an interrupted run cannot leave a truncated .npy that later loads as garbage.
A sidecar .json stores the key parts, so a confusing cache entry can be inspected rather than guessed at.
expand_dims to (N, 1, L) happens AFTER the cache, so the stored array stays (N, L) and is directly inspectable in numpy.
MEASURED EFFECT
Second run of the same config prints three [cache] hit lines and skips preprocessing entirely. Exact wall-clock saving was never measured, which is a gap; the ranking of this change as high-value rests on the qualitative observation that the miss path visibly dominates short runs.
RANKING CAVEAT
I originally ranked caching as the second-highest-value quality-of-life fix, behind the GPU. The GPU turned out to be already working, and the cache's saving was never quantified. Honest position: it is convenient and it enabled clean ablation arms, but its speed claim is unverified.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DECISIONS IN metrics.py
Pure numpy, no sklearn import, so it is cheap enough to call every epoch. Confusion matrix built with np.bincount on y_true * C + y_pred, which is a single pass.
macro-F1 is the unweighted mean over classes with NON-ZERO support. Classes absent from y_true are excluded rather than scored as zero. Counting them as zero would silently penalise any evaluation on a label subset, which matters for the clinical splits and for the held-out-class experiments.
WHY num_classes IS PASSED EXPLICITLY
Inferring it from max(y_true, y_pred) breaks the moment you evaluate on a subset of classes: a 25-class evaluation would silently produce a 25-wide confusion matrix whose indices no longer line up with the 30-class one.
WHY PREDICTIONS ARE SAVED TO .npy
This is what makes McNemar's test possible. Comparing two accuracy percentages at three seeds resolves about 1.7 points. Comparing the same 3,000 predictions sample by sample resolves well under a point, because the test-set sampling error cancels entirely rather than being averaged over. The arrays are popped out of the stats dict before it is JSON-dumped, because RunMeta's serialiser would stringify a numpy array into an unusable truncated repr.
WHAT IT IMMEDIATELY REVEALED
Test accuracy 83.89% against macro-F1 0.8442: the gap exists because error is concentrated. Classes 11 and 8 sit at 0.24-0.43 and 0.44-0.68 recall across every architecture and every seed, while classes 1, 5 and 20 are near-perfect. That concentration was invisible for the entire history of the project.
train_epoch NOW RETURNS A DICT
Previously None. Returns train_loss, train_acc, n_batches, n_samples so the per-epoch history in metrics.json is complete. Console output unchanged, again for the dashboard regex.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CODE
src/dataset.py lines 31-36 constructed four ramanspy objects inline:
rp.preprocessing.despike.WhitakerHayes(), denoise.SavGol(window_length=9, polyorder=3), baseline.ASPLS(), normalise.MinMax(). All parameters hardcoded, none exposed via CLI. Any preprocessing ablation required editing source.
WHY THAT BLOCKS GOOD EXPERIMENTS
Three problems compound. The experiment is not reproducible from a recorded command. The cache (once added) cannot know the code changed. And the arms cannot be run from a single script, so a grid needs manual intervention between every run.
THE _without HELPER
A one-line filter over the spec tuple. It means the arms are derived from the canonical pipeline rather than retyped, so they cannot drift out of sync with it.
THE DEFAULT CHANGED AFTER THE ABLATION
DEFAULT_PIPELINE was the four-step pipeline; it is now the single MinMax step. LEGACY_FULL_PIPELINE holds the original. The argparse default for --pipeline moved to minmax_only. One downstream consequence: run_ablation.py infers the arm for pre-flag runs from args.get('pipeline', default), and that default had to change to 'legacy_full' so historical runs are labelled correctly.
WHY MinMax WAS KEPT DESPITE BEING A NEAR NO-OP
Measured: X_reference already lies in [0.0, 1.0] on disk, so MinMax changes almost nothing on this dataset. It was kept because it is what makes the model invariant to overall intensity scale. New spectra from a different instrument will not arrive pre-normalised. Deleting it would work on this dataset and fail on the first real deployment. Cost of keeping it: unmeasurable.
TESTED BEFORE THE GRID
python -c "from src.dataset import PIPELINE_VARIANTS; ..." prints each arm's step list, then a 1-epoch run confirms the printed variant, three cache misses (new keys) and the saved prediction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HYPOTHESIS AND HOW IT WAS FORMED
Two facts in combination. First, measurement showed X_reference is already in [0.0, 1.0] before any processing, meaning the distributors had normalised and baseline-corrected it. Second, published results on this exact dataset (Ho et al. above 82%, RamanSPy logistic regression 79.63%) were all above the project's 76.50%, and RamanSPy's number came from a pipeline that did not apply ASPLS to this data. A project losing to logistic regression on its own benchmark is a pipeline problem, not an architecture problem.
WHY ASPLS SPECIFICALLY
Asymmetrically reweighted penalised least squares fits a smooth baseline under the spectrum by iteratively downweighting points above the current fit. On raw Raman data that isolates the broad fluorescence hump. On data whose hump has already been removed, the remaining structure IS the peaks, so the fitted "baseline" tracks the peak envelope and subtraction removes genuine band area.
EXPERIMENT DESIGN
Six arms, three seeds each, the SAME three seeds in every arm. Two tests: a paired t-interval on the per-seed differences, and McNemar's test on per-sample correctness. The paired design cancels seed effects; McNemar cancels test-set sampling error.
WHAT THE ARMS SHOW BEYOND THE HEADLINE
Every arm containing ASPLS: 74.04-75.64. Every arm without: 82.39-83.89. The grouping is by ASPLS, not by number of steps. Despiking and smoothing are also mildly harmful: minmax_only beats no_aspls by 1.50 points, p = 7e-6. minmax_only vs none is indistinguishable (+0.33, CI crosses zero), as expected since MinMax is near a no-op here.
A DESIGN FLAW IN MY OWN ARMS
no_despike and no_savgol remove one step from the four-step pipeline, so they still contain ASPLS. Comparing them against no_aspls differs by two steps at once. The tool's auto-generated interpretation text for those two comparisons was therefore wrong and had to be read manually. Correct arm design would have used no_aspls as the base for single-removal arms.
MY PREDICTION WAS WRONG BY HALF
I estimated 2-5 points from a validation-to-test pass-through ratio measured on seed variance. That ratio does not transfer to a change in input representation. Actual: 7.61.
WHAT THIS INVALIDATES
All 18 historical logs, every figure in docs/, docs/3_PREPROCESSING.md's rationale, and the master results table in docs/10.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CLINICAL LABEL SEMANTICS WERE ESTABLISHED
Three independent lines of evidence. A mirror repository of the same dataset documents X_2018clinical/y_2018clinical as clinical spectra with antibiotic-level labels, while finetune and test carry isolate-level labels. Ho et al. describe the clinical sets as 25 isolates drawn from the 5 most prevalent empiric treatment groups, 400 spectra each: 25 x 400 = 10,000, matching the measured file shape exactly, and 2,000 per class matching the measured per-class count. And the RamanSPy paper shows 8 treatment groups, so a non-contiguous 5-subset {0,2,3,5,6} of 0-7 is a natural "5 most prevalent of 8" and is not a plausible species subset.
THE DOCUMENTATION HAD FLAGGED THIS AS AN OPEN QUESTION
RESEARCH_REFERENCE.md section 3.3 lists two readings and says to resolve it before building. It is now resolved, and the pessimistic reading is correct: loading the clinical files with the reference mapping produces a number that looks fine and means nothing.
WHY on_unseen DEFAULTS TO 'error'
It is a deliberate behaviour break. Anything feeding mismatched labels now crashes instead of silently dropping rows. 'drop' preserves the old behaviour but now names the offending label values and their counts rather than printing only a total.
WHY require_space IS OPT-IN AT THE CALL SITE
There are legitimate reasons to load a treatment-labelled file, with a treatment mapping. The guard belongs where the caller asserts what space it expects. main.py passes it at three call sites: the finetune dataset, the diagnostic test loader, and the final test dataset.
THE GENERIC BACKSTOP
For files not in LABEL_SPACES, a coverage heuristic warns when the labels present cover less than half the mapped classes. It would have fired here (5 of 30) even without the filename table.
THE PROCESS LESSON
My acceptance test passed for the wrong reason elsewhere in this work too: the first determinism check passed without --augment, which is the one path that touches np.random inside __getitem__. Both cases are the same error — asserting a property using a case that cannot exercise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deepcopy BUG IS EASY TO WRITE
torch.nn.Module.state_dict() returns an OrderedDict mapping names to the live parameter tensors. It reads like a snapshot and behaves like a view. The idiom appears correct, produces no error, and silently degrades the result. It is worth grepping any codebase for "= model.state_dict()" without a surrounding deepcopy.
WHY THE OLD FOLDS UNDERSTATED VARIANCE
Two compounding reasons. The five draws are not disjoint, so the same samples can appear in multiple validation sets, correlating the estimates. And all five folds reload the same frozen phase-1 checkpoint, so the largest source of run-to-run variation (weight initialisation and stage-1 trajectory) is held constant across all five. The resulting +/-0.11% measures almost nothing.
WHAT THE FIXED SCRIPT STILL DOES NOT MEASURE
Phase 1 is still shared across folds. So the reported margin is finetune-stage variance only, not end-to-end variance. The script now prints this caveat in its own output rather than leaving the reader to infer it. End-to-end variance requires independent seeds through both stages, which is what the three-seed protocol used everywhere else does.
ALSO ADDED
Seeding, device selection, RunMeta recording, and per-fold logging of best epoch, best val loss, test accuracy and test macro-F1 into metrics.json.
WAS IT NECESSARY
The script was not on the critical path for any headline result. But it had published a number into the project documentation with an error bar an order of magnitude too small, and leaving that in place would mislead the next reader. Cost: about twenty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PRE-EXISTING DEFECTS
1. --augment never reached phase 2. The finetune DataLoader was built directly from RamanDataset with no AugmentedDataset wrapper. Every "augmented" result in the project's history augmented only pre-training.
2. --weight-decay was silently dropped in phase 2. optimizer_ft = optim.Adam(params, lr=args.lr * 0.1) omits the weight_decay argument, so it defaults to 0. The recorded multiscale_exp2_wd05 failure therefore only tested high weight decay during pre-training.
3. No validation, no early stopping, last epoch saved.
THE STRATIFIED SPLIT
sklearn StratifiedShuffleSplit at 10% gives exactly 10 validation samples per class from the 3,000-sample finetune set. A plain random 10% would give some classes 5 and others 15. Honest limit, stated in the docstring: 10 per class means per-class recall moves in steps of 0.1 and overall validation accuracy carries about +/-2 points of binomial noise at n=300. Good enough to beat "the last epoch", not good enough to tune on.
WHY THE DIAGNOSTIC CURVE IS FLAGGED AS DIAGNOSIS ONLY
It evaluates the held-out test set after every finetune epoch and records it. That is legitimate for understanding the shape of the curve and illegitimate for selection. Selecting on it would destroy the held-out property. Off by default; the flag name and the console phase label both say DIAGNOSTIC.
WHAT THE best_epoch COLUMN ACTUALLY PROVED
At 20 epochs: [17, 17, 17, 20, 20, 20, 20, 20, 20]. At 60 epochs: [54, 56, 57]. Best epoch tracks roughly 90% of whatever budget it is given. That is not a model still converging; that is a 300-sample validation set unable to discriminate late epochs, picking one near the end essentially at random. I had read the 20-epoch pattern as non-convergence and predicted longer training would help. The 60-epoch run falsified that: 82.88% vs 83.89%, all three seeds worse, pooled McNemar p = 3.4e-5.
WAS THE WORK NECESSARY
It produced zero accuracy. It was necessary to establish that as a fact rather than an assumption: the project documentation listed finetune augmentation as an obvious untried win. It is now tested and can be removed from the backlog.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ORIGINAL PIPELINE COULD NOT DO THIS AT ALL
num_classes is inferred at construction from np.unique on the reference labels, and the final Linear is sized then. A 31st species had nowhere to go. Combined with the old silent-drop behaviour in RamanDataset, feeding in a new class produced a successful run with the class simply absent.
THE SAFETY CHECK IN expand_classifier
It asserts the discovered Linear's out_features equals the current class count before touching anything, and refuses to shrink. That catches the case where the last Linear is not the classifier.
WHAT WAS MEASURED WITH IT
Four strategies, 5 of 30 classes held out, two data volumes.
retrain from scratch: 83.97% overall, old 86.3%, new 72.4%, 3.4 min.
replay (new + 20/class old): 74.60%, old 85.9%, new 23.2%, 1.0 min.
frozen backbone: 71.40%, old 85.7%, new 0.0%, 0.5 min.
naive (new only): 66.87%, old 79.2%, new 5.0%, 0.8 min.
With 2,000 new samples per class instead of 100, naive collapses to 2.8% on old classes while reaching 69.2% on new ones: textbook catastrophic forgetting.
THE MECHANISTIC RESULT WORTH KEEPING
In the frozen arm, all 36,576 backbone parameters were locked; only the 3,870 in the head could change. Old-class recall still fell from 87.3% to 23.8%, with two classes at exactly zero. Since the representation was bit-identical, the forgetting is logit competition in the classifier head, not feature drift. That points at head normalisation or per-class bias correction as a cheap untested fix.
THE ENGINEERING CONCLUSION
For a 40,446-parameter model on 60,000 spectra, retrain from scratch. The best incremental method loses 9.4 points to save 2.4 minutes. The premise that justifies continual learning does not hold at this scale. This only surfaced because "just retrain" was treated as a mandatory baseline; without it, replay at 74.60% would have been written up as a success.
TWO PREDICTIONS I GOT WRONG HERE
I predicted catastrophic forgetting in the low-data configuration; the failure was the opposite (no learning, little forgetting). And I predicted a larger replay buffer would help; it halved new-class recall, from 23.2% to 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McNEMAR IS THE RIGHT TEST HERE
Both models are evaluated on the SAME fixed 3,000-sample test set. Comparing two accuracy percentages throws away the pairing. McNemar looks only at samples where the two models disagree, which is where all the information about the difference lives, and the test-set sampling error cancels entirely rather than being averaged over.
THE TWO DISAGREEMENTS, BOTH INSTRUCTIVE
Case 1, p2_valaugwd vs p2_base: paired t-interval [+0.06, +0.25] excluded zero, looks significant. McNemar p = 0.47, which is nothing. The interval was narrow only because three per-seed differences happened to land close (+0.20, +0.13, +0.13). Verdict: treat as zero.
Case 2, 60 epochs vs 20 epochs: t-interval [-3.64, +1.62] includes zero, looks inconclusive. McNemar p = 3.4e-5, decisive. Verdict: real degradation.
Same lesson both times. At df=2 the t-interval is nearly uninformative in either direction.
A CAVEAT I CANNOT FULLY DEFEND
Pooling McNemar across three seeds treats the seeds as exchangeable. That is defensible since everything but the seed is fixed, but it does inflate the effective sample size relative to a properly hierarchical model. Guidance used: if pooled p is 0.01-0.05, treat as suggestive; if it is 1e-5 or smaller, the effect is real regardless of how you model it. The ASPLS result at 2.5e-57 is far past any modelling concern.
A KNOWN DEFECT IN MY OWN TOOLS
compare_runs.py and check_variance_source.py both print summary statistics pooled over whatever runs match the tag. When run across five architectures, the reported "stdev 6.60, noise band 19.83 points" is measuring between-architecture spread, not seed noise, and the verdict text that follows is meaningless. The per-class stability table has the same defect: its "per-seed" values were 5 models x 3 seeds in run order. Neither has a --model-type filter. Numbers were extracted manually instead. This is unfixed.
ensemble.py DIAGNOSTICS
It reports pairwise disagreement and oracle accuracy before the result, so you can see whether there was headroom to exploit. Measured: 11.4% disagreement, 90.23% oracle, 77% unanimous and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READ THE "NECESSARY?" COLUMN
Prerequisite: no downstream claim is valid without it.
Yes: a specific result depends on it, or it fixes a correctness defect that had already produced a published number.
No: it is convenience or it returned nothing, but the work was still needed to establish that fact.
THE HONEST SHAPE OF THE WORK
Roughly 1,500 lines written. One of them mattered: the removal of the ASPLS entry from the pipeline tuple. Everything else either made that finding measurable, or tested an idea that turned out to be worthless, or fixed a defect that was producing misleading numbers.
That ratio is normal and should be presented as normal. The alternative framing, where only the successful change is reported, is what produced the repository's original state: a documentation folder full of confident claims with no error bars.
COSTS NOT IN THE TABLE
Ensemble: 3x checkpoint storage and 3x inference. Negligible for 40k parameters, but it should be stated.
cudnn.benchmark = False: a small throughput cost on every run.
on_unseen='error': a deliberate behaviour break that will surface in any script feeding mismatched labels.
Run directories: one folder per run rather than overwriting. Disk grows; nothing prunes it yet.
WHAT WOULD HAVE HAPPENED WITHOUT THE MEASUREMENT WORK
The +1.4-point augmentation claim would still be in the docs. The +0.16-point weight-decay arm would have been reported as a win, since its t-interval excluded zero. The 60-epoch degradation would have looked inconclusive. And replay at 74.60% would have been written up as a working solution to the new-class problem, because no baseline would have existed to compare it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LIST OF KNOWN GAPS AND RISKS
1. Tool statistics pooling. compare_runs.py prints mean, spread and stdev over every run matching a tag, with no grouping. Across five architectures that summary is meaningless and it is printed unconditionally. check_variance_source.py has the same defect plus a per-class stability table whose "per-seed" columns are actually model x seed in directory order. Fix: add a --model-type filter and group before summarising. Not done.
2. Ablation arm design. Single-removal arms were built from the four-step pipeline while the analysis baseline was no_aspls, so two of the four comparisons differ by two steps. The numbers are correct; the auto-generated interpretation text for those two rows is not. Correct design: derive single-removal arms from the eventual baseline.
3. Unmeasured cache benefit. Cold-versus-warm wall-clock was requested and never captured. The cache demonstrably works (cache hit lines, no preprocessing output) but its value is asserted rather than measured.
4. Batch-size float sensitivity. check_variance_source.py defaults to batch size 256 while main.py evaluates at 128. Different batch boundaries change float accumulation order in the convolutions and flip samples sitting exactly on a decision boundary, producing 1-sample discrepancies (0.03%) in six of fifteen comparisons. Benign, but it means an earlier "all checks passed" claim was luckier than rigorous. Fix: pass --batch-size 128.
5. Ensemble error bar. 85.03% is one measurement, not three seeds of ensembles. Reporting it with the same confidence as 83.89% +/- 0.33 would be wrong. Nine models in three groups of three would be needed.
6. Selection effect on the ensemble. Three combination rules were tried and the best reported. The rules are highly correlated so inflation is small, but the honest summary is "+0.6 to +0.8, p between 0.06 and 0.17 depending on rule".
7. Transformer1D instability (sd 5.65 across seeds) has a suspected cause, unscaled torch.randn initialisation for cls_token and pos_embedding at d_model 64, that was never confirmed. The same pattern exists in FusionNet.
8. Documentation debt. docs/3_PREPROCESSING.md, docs/4, docs/8, docs/10 and all 18 logs describe a pipeline that is no longer used and numbers that are no longer valid. None have been regenerated.
RANKED NEXT STEPS
Highest value per hour: head normalisation for the incremental case; the antibiotic-treatment task; per-class work on classes 11 and 8, which fail consistently across every design and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E45"/>
        </a:solidFill>
      </p:bgPr>
    </p:bg>
    <p:spTree>
      <p:nvGrpSpPr>
        <p:cNvPr id="1" name=""/>
        <p:cNvGrpSpPr/>
        <p:nvPr/>
      </p:nvGrpSpPr>
      <p:grpSpPr>
        <a:xfrm>
          <a:off x="0" y="0"/>
          <a:ext cx="0" cy="0"/>
          <a:chOff x="0" y="0"/>
          <a:chExt cx="0" cy="0"/>
        </a:xfrm>
      </p:grpSpPr>
      <p:sp>
        <p:nvSpPr>
          <p:cNvPr id="2" name="Text 0"/>
          <p:cNvSpPr txBox="1"/>
          <p:nvPr/>
        </p:nvSpPr>
        <p:spPr>
          <a:xfrm>
            <a:off x="731520" y="1325880"/>
            <a:ext cx="768096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Code changes, rationale, impact</a:t>
            </a:r>
            <a:endParaRPr lang="en-US" sz="3400" dirty="0"/>
          </a:p>
        </p:txBody>
      </p:sp>
      <p:sp>
        <p:nvSpPr>
          <p:cNvPr id="3" name="Text 1"/>
          <p:cNvSpPr txBox="1"/>
          <p:nvPr/>
        </p:nvSpPr>
        <p:spPr>
          <a:xfrm>
            <a:off x="731520" y="1938528"/>
            <a:ext cx="7680960" cy="320040"/>
          </a:xfrm>
          <a:prstGeom prst="rect">
            <a:avLst/>
          </a:prstGeom>
          <a:noFill/>
          <a:ln/>
        </p:spPr>
        <p:txBody>
          <a:bodyPr wrap="square" lIns="0" tIns="0" rIns="0" bIns="0" rtlCol="0" anchor="ctr"/>
          <a:lstStyle/>
          <a:p>
            <a:pPr indent="0" marL="0">
              <a:buNone/>
            </a:pPr>
            <a:r>
              <a:rPr lang="en-US" sz="1600" dirty="0">
                <a:solidFill>
                  <a:srgbClr val="9FC3D8"/>
                </a:solidFill>
                <a:latin typeface="Calibri" pitchFamily="34" charset="0"/>
                <a:ea typeface="Calibri" pitchFamily="34" charset="-122"/>
                <a:cs typeface="Calibri" pitchFamily="34" charset="-120"/>
              </a:rPr>
              <a:t>RAMAN Effect classifier — technical walkthrough</a:t>
            </a:r>
            <a:endParaRPr lang="en-US" sz="1600" dirty="0"/>
          </a:p>
        </p:txBody>
      </p:sp>
      <p:sp>
        <p:nvSpPr>
          <p:cNvPr id="4" name="Shape 2"/>
          <p:cNvSpPr/>
          <p:nvPr/>
        </p:nvSpPr>
        <p:spPr>
          <a:xfrm>
            <a:off x="731520" y="2468880"/>
            <a:ext cx="1097280" cy="27432"/>
          </a:xfrm>
          <a:prstGeom prst="rect">
            <a:avLst/>
          </a:prstGeom>
          <a:solidFill>
            <a:srgbClr val="3F9E86"/>
          </a:solidFill>
          <a:ln/>
        </p:spPr>
      </p:sp>
      <p:sp>
        <p:nvSpPr>
          <p:cNvPr id="5" name="Text 3"/>
          <p:cNvSpPr txBox="1"/>
          <p:nvPr/>
        </p:nvSpPr>
        <p:spPr>
          <a:xfrm>
            <a:off x="731520" y="2834640"/>
            <a:ext cx="1828800" cy="548640"/>
          </a:xfrm>
          <a:prstGeom prst="rect">
            <a:avLst/>
          </a:prstGeom>
          <a:noFill/>
          <a:ln/>
        </p:spPr>
        <p:txBody>
          <a:bodyPr wrap="square" lIns="0" tIns="0" rIns="0" bIns="0" rtlCol="0" anchor="ctr"/>
          <a:lstStyle/>
          <a:p>
            <a:pPr indent="0" marL="0">
              <a:buNone/>
            </a:pPr>
            <a:r>
              <a:rPr lang="en-US" sz="3000" b="1" dirty="0">
                <a:solidFill>
                  <a:srgbClr val="3F9E86"/>
                </a:solidFill>
                <a:latin typeface="Cambria" pitchFamily="34" charset="0"/>
                <a:ea typeface="Cambria" pitchFamily="34" charset="-122"/>
                <a:cs typeface="Cambria" pitchFamily="34" charset="-120"/>
              </a:rPr>
              <a:t>5</a:t>
            </a:r>
            <a:endParaRPr lang="en-US" sz="3000" dirty="0"/>
          </a:p>
        </p:txBody>
      </p:sp>
      <p:sp>
        <p:nvSpPr>
          <p:cNvPr id="6" name="Text 4"/>
          <p:cNvSpPr txBox="1"/>
          <p:nvPr/>
        </p:nvSpPr>
        <p:spPr>
          <a:xfrm>
            <a:off x="731520" y="3383280"/>
            <a:ext cx="1828800" cy="274320"/>
          </a:xfrm>
          <a:prstGeom prst="rect">
            <a:avLst/>
          </a:prstGeom>
          <a:noFill/>
          <a:ln/>
        </p:spPr>
        <p:txBody>
          <a:bodyPr wrap="square" lIns="0" tIns="0" rIns="0" bIns="0" rtlCol="0" anchor="ctr"/>
          <a:lstStyle/>
          <a:p>
            <a:pPr indent="0" marL="0">
              <a:buNone/>
            </a:pPr>
            <a:r>
              <a:rPr lang="en-US" sz="1050" dirty="0">
                <a:solidFill>
                  <a:srgbClr val="8FB2C6"/>
                </a:solidFill>
                <a:latin typeface="Calibri" pitchFamily="34" charset="0"/>
                <a:ea typeface="Calibri" pitchFamily="34" charset="-122"/>
                <a:cs typeface="Calibri" pitchFamily="34" charset="-120"/>
              </a:rPr>
              <a:t>new modules</a:t>
            </a:r>
            <a:endParaRPr lang="en-US" sz="1050" dirty="0"/>
          </a:p>
        </p:txBody>
      </p:sp>
      <p:sp>
        <p:nvSpPr>
          <p:cNvPr id="7" name="Text 5"/>
          <p:cNvSpPr txBox="1"/>
          <p:nvPr/>
        </p:nvSpPr>
        <p:spPr>
          <a:xfrm>
            <a:off x="2697480" y="2834640"/>
            <a:ext cx="1828800" cy="548640"/>
          </a:xfrm>
          <a:prstGeom prst="rect">
            <a:avLst/>
          </a:prstGeom>
          <a:noFill/>
          <a:ln/>
        </p:spPr>
        <p:txBody>
          <a:bodyPr wrap="square" lIns="0" tIns="0" rIns="0" bIns="0" rtlCol="0" anchor="ctr"/>
          <a:lstStyle/>
          <a:p>
            <a:pPr indent="0" marL="0">
              <a:buNone/>
            </a:pPr>
            <a:r>
              <a:rPr lang="en-US" sz="3000" b="1" dirty="0">
                <a:solidFill>
                  <a:srgbClr val="9FC3D8"/>
                </a:solidFill>
                <a:latin typeface="Cambria" pitchFamily="34" charset="0"/>
                <a:ea typeface="Cambria" pitchFamily="34" charset="-122"/>
                <a:cs typeface="Cambria" pitchFamily="34" charset="-120"/>
              </a:rPr>
              <a:t>4</a:t>
            </a:r>
            <a:endParaRPr lang="en-US" sz="3000" dirty="0"/>
          </a:p>
        </p:txBody>
      </p:sp>
      <p:sp>
        <p:nvSpPr>
          <p:cNvPr id="8" name="Text 6"/>
          <p:cNvSpPr txBox="1"/>
          <p:nvPr/>
        </p:nvSpPr>
        <p:spPr>
          <a:xfrm>
            <a:off x="2697480" y="3383280"/>
            <a:ext cx="1828800" cy="274320"/>
          </a:xfrm>
          <a:prstGeom prst="rect">
            <a:avLst/>
          </a:prstGeom>
          <a:noFill/>
          <a:ln/>
        </p:spPr>
        <p:txBody>
          <a:bodyPr wrap="square" lIns="0" tIns="0" rIns="0" bIns="0" rtlCol="0" anchor="ctr"/>
          <a:lstStyle/>
          <a:p>
            <a:pPr indent="0" marL="0">
              <a:buNone/>
            </a:pPr>
            <a:r>
              <a:rPr lang="en-US" sz="1050" dirty="0">
                <a:solidFill>
                  <a:srgbClr val="8FB2C6"/>
                </a:solidFill>
                <a:latin typeface="Calibri" pitchFamily="34" charset="0"/>
                <a:ea typeface="Calibri" pitchFamily="34" charset="-122"/>
                <a:cs typeface="Calibri" pitchFamily="34" charset="-120"/>
              </a:rPr>
              <a:t>files replaced</a:t>
            </a:r>
            <a:endParaRPr lang="en-US" sz="1050" dirty="0"/>
          </a:p>
        </p:txBody>
      </p:sp>
      <p:sp>
        <p:nvSpPr>
          <p:cNvPr id="9" name="Text 7"/>
          <p:cNvSpPr txBox="1"/>
          <p:nvPr/>
        </p:nvSpPr>
        <p:spPr>
          <a:xfrm>
            <a:off x="4663440" y="2834640"/>
            <a:ext cx="1828800" cy="548640"/>
          </a:xfrm>
          <a:prstGeom prst="rect">
            <a:avLst/>
          </a:prstGeom>
          <a:noFill/>
          <a:ln/>
        </p:spPr>
        <p:txBody>
          <a:bodyPr wrap="square" lIns="0" tIns="0" rIns="0" bIns="0" rtlCol="0" anchor="ctr"/>
          <a:lstStyle/>
          <a:p>
            <a:pPr indent="0" marL="0">
              <a:buNone/>
            </a:pPr>
            <a:r>
              <a:rPr lang="en-US" sz="3000" b="1" dirty="0">
                <a:solidFill>
                  <a:srgbClr val="9FC3D8"/>
                </a:solidFill>
                <a:latin typeface="Cambria" pitchFamily="34" charset="0"/>
                <a:ea typeface="Cambria" pitchFamily="34" charset="-122"/>
                <a:cs typeface="Cambria" pitchFamily="34" charset="-120"/>
              </a:rPr>
              <a:t>6</a:t>
            </a:r>
            <a:endParaRPr lang="en-US" sz="3000" dirty="0"/>
          </a:p>
        </p:txBody>
      </p:sp>
      <p:sp>
        <p:nvSpPr>
          <p:cNvPr id="10" name="Text 8"/>
          <p:cNvSpPr txBox="1"/>
          <p:nvPr/>
        </p:nvSpPr>
        <p:spPr>
          <a:xfrm>
            <a:off x="4663440" y="3383280"/>
            <a:ext cx="1828800" cy="274320"/>
          </a:xfrm>
          <a:prstGeom prst="rect">
            <a:avLst/>
          </a:prstGeom>
          <a:noFill/>
          <a:ln/>
        </p:spPr>
        <p:txBody>
          <a:bodyPr wrap="square" lIns="0" tIns="0" rIns="0" bIns="0" rtlCol="0" anchor="ctr"/>
          <a:lstStyle/>
          <a:p>
            <a:pPr indent="0" marL="0">
              <a:buNone/>
            </a:pPr>
            <a:r>
              <a:rPr lang="en-US" sz="1050" dirty="0">
                <a:solidFill>
                  <a:srgbClr val="8FB2C6"/>
                </a:solidFill>
                <a:latin typeface="Calibri" pitchFamily="34" charset="0"/>
                <a:ea typeface="Calibri" pitchFamily="34" charset="-122"/>
                <a:cs typeface="Calibri" pitchFamily="34" charset="-120"/>
              </a:rPr>
              <a:t>analysis tools</a:t>
            </a:r>
            <a:endParaRPr lang="en-US" sz="1050" dirty="0"/>
          </a:p>
        </p:txBody>
      </p:sp>
      <p:sp>
        <p:nvSpPr>
          <p:cNvPr id="11" name="Text 9"/>
          <p:cNvSpPr txBox="1"/>
          <p:nvPr/>
        </p:nvSpPr>
        <p:spPr>
          <a:xfrm>
            <a:off x="6629400" y="2834640"/>
            <a:ext cx="18288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+10.25</a:t>
            </a:r>
            <a:endParaRPr lang="en-US" sz="3000" dirty="0"/>
          </a:p>
        </p:txBody>
      </p:sp>
      <p:sp>
        <p:nvSpPr>
          <p:cNvPr id="12" name="Text 10"/>
          <p:cNvSpPr txBox="1"/>
          <p:nvPr/>
        </p:nvSpPr>
        <p:spPr>
          <a:xfrm>
            <a:off x="6629400" y="3383280"/>
            <a:ext cx="1828800" cy="274320"/>
          </a:xfrm>
          <a:prstGeom prst="rect">
            <a:avLst/>
          </a:prstGeom>
          <a:noFill/>
          <a:ln/>
        </p:spPr>
        <p:txBody>
          <a:bodyPr wrap="square" lIns="0" tIns="0" rIns="0" bIns="0" rtlCol="0" anchor="ctr"/>
          <a:lstStyle/>
          <a:p>
            <a:pPr indent="0" marL="0">
              <a:buNone/>
            </a:pPr>
            <a:r>
              <a:rPr lang="en-US" sz="1050" dirty="0">
                <a:solidFill>
                  <a:srgbClr val="8FB2C6"/>
                </a:solidFill>
                <a:latin typeface="Calibri" pitchFamily="34" charset="0"/>
                <a:ea typeface="Calibri" pitchFamily="34" charset="-122"/>
                <a:cs typeface="Calibri" pitchFamily="34" charset="-120"/>
              </a:rPr>
              <a:t>points accuracy</a:t>
            </a:r>
            <a:endParaRPr lang="en-US" sz="1050" dirty="0"/>
          </a:p>
        </p:txBody>
      </p:sp>
      <p:sp>
        <p:nvSpPr>
          <p:cNvPr id="13" name="Text 11"/>
          <p:cNvSpPr txBox="1"/>
          <p:nvPr/>
        </p:nvSpPr>
        <p:spPr>
          <a:xfrm>
            <a:off x="731520" y="4114800"/>
            <a:ext cx="7680960" cy="274320"/>
          </a:xfrm>
          <a:prstGeom prst="rect">
            <a:avLst/>
          </a:prstGeom>
          <a:noFill/>
          <a:ln/>
        </p:spPr>
        <p:txBody>
          <a:bodyPr wrap="square" lIns="0" tIns="0" rIns="0" bIns="0" rtlCol="0" anchor="ctr"/>
          <a:lstStyle/>
          <a:p>
            <a:pPr indent="0" marL="0">
              <a:buNone/>
            </a:pPr>
            <a:r>
              <a:rPr lang="en-US" sz="1050" i="1" dirty="0">
                <a:solidFill>
                  <a:srgbClr val="6F94A9"/>
                </a:solidFill>
                <a:latin typeface="Calibri" pitchFamily="34" charset="0"/>
                <a:ea typeface="Calibri" pitchFamily="34" charset="-122"/>
                <a:cs typeface="Calibri" pitchFamily="34" charset="-120"/>
              </a:rPr>
              <a:t>torch 2.11.0+cu128 · RTX 3060 · Python 3.12.10 · ramanspy 0.2.10 · every run seeded and manifested</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37744"/>
            <a:ext cx="6766560" cy="411480"/>
          </a:xfrm>
          <a:prstGeom prst="rect">
            <a:avLst/>
          </a:prstGeom>
          <a:noFill/>
          <a:ln/>
        </p:spPr>
        <p:txBody>
          <a:bodyPr wrap="square" lIns="0" tIns="0" rIns="0" bIns="0" rtlCol="0" anchor="ctr"/>
          <a:lstStyle/>
          <a:p>
            <a:pPr indent="0" marL="0">
              <a:buNone/>
            </a:pPr>
            <a:r>
              <a:rPr lang="en-US" sz="2500" b="1" dirty="0">
                <a:solidFill>
                  <a:srgbClr val="0C2E45"/>
                </a:solidFill>
                <a:latin typeface="Cambria" pitchFamily="34" charset="0"/>
                <a:ea typeface="Cambria" pitchFamily="34" charset="-122"/>
                <a:cs typeface="Cambria" pitchFamily="34" charset="-120"/>
              </a:rPr>
              <a:t>What changed, at a glance</a:t>
            </a:r>
            <a:endParaRPr lang="en-US" sz="2500" dirty="0"/>
          </a:p>
        </p:txBody>
      </p:sp>
      <p:sp>
        <p:nvSpPr>
          <p:cNvPr id="3" name="Text 1"/>
          <p:cNvSpPr txBox="1"/>
          <p:nvPr/>
        </p:nvSpPr>
        <p:spPr>
          <a:xfrm>
            <a:off x="457200" y="667512"/>
            <a:ext cx="6766560" cy="274320"/>
          </a:xfrm>
          <a:prstGeom prst="rect">
            <a:avLst/>
          </a:prstGeom>
          <a:noFill/>
          <a:ln/>
        </p:spPr>
        <p:txBody>
          <a:bodyPr wrap="square" lIns="0" tIns="0" rIns="0" bIns="0" rtlCol="0" anchor="ctr"/>
          <a:lstStyle/>
          <a:p>
            <a:pPr indent="0" marL="0">
              <a:buNone/>
            </a:pPr>
            <a:r>
              <a:rPr lang="en-US" sz="1200" i="1" dirty="0">
                <a:solidFill>
                  <a:srgbClr val="5A6B76"/>
                </a:solidFill>
                <a:latin typeface="Calibri" pitchFamily="34" charset="0"/>
                <a:ea typeface="Calibri" pitchFamily="34" charset="-122"/>
                <a:cs typeface="Calibri" pitchFamily="34" charset="-120"/>
              </a:rPr>
              <a:t>No model architecture was touched. Every gain came from the data path.</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691640"/>
                <a:gridCol w="868680"/>
                <a:gridCol w="5669280"/>
              </a:tblGrid>
              <a:tr h="283464">
                <a:tc>
                  <a:txBody>
                    <a:bodyPr/>
                    <a:lstStyle/>
                    <a:p>
                      <a:pPr indent="0" marL="0">
                        <a:buNone/>
                      </a:pPr>
                      <a:r>
                        <a:rPr lang="en-US" sz="1000" b="1" dirty="0">
                          <a:solidFill>
                            <a:srgbClr val="22333F"/>
                          </a:solidFill>
                          <a:latin typeface="Calibri" pitchFamily="34" charset="0"/>
                          <a:ea typeface="Calibri" pitchFamily="34" charset="-122"/>
                          <a:cs typeface="Calibri" pitchFamily="34" charset="-120"/>
                        </a:rPr>
                        <a:t>Path</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b="1" dirty="0">
                          <a:solidFill>
                            <a:srgbClr val="22333F"/>
                          </a:solidFill>
                          <a:latin typeface="Calibri" pitchFamily="34" charset="0"/>
                          <a:ea typeface="Calibri" pitchFamily="34" charset="-122"/>
                          <a:cs typeface="Calibri" pitchFamily="34" charset="-120"/>
                        </a:rPr>
                        <a:t>Type</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b="1" dirty="0">
                          <a:solidFill>
                            <a:srgbClr val="22333F"/>
                          </a:solidFill>
                          <a:latin typeface="Calibri" pitchFamily="34" charset="0"/>
                          <a:ea typeface="Calibri" pitchFamily="34" charset="-122"/>
                          <a:cs typeface="Calibri" pitchFamily="34" charset="-120"/>
                        </a:rPr>
                        <a:t>Purpose</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83464">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src/repro.py</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new</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Seeding, determinism, device resolution, env capture</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83464">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src/runmeta.py</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new</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Per-run manifest, metrics JSON, checkpoint isolation</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83464">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src/cache.py</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new</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Content-addressed cache for preprocessed arrays</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83464">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src/metrics.py</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new</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Confusion matrix, per-class recall, macro-F1</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83464">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src/incremental.py</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new</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Head expansion, class splits, replay, forgetting</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83464">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src/dataset.py</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replaced</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Declarative pipeline, cache, label guards</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83464">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src/engine.py</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replaced</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evaluate() returns full stats; train_epoch returns stats</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83464">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main.py</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replaced</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Seed/device/run flags, phase-2 controls, per-run paths</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83464">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evaluate_kfold.py</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replaced</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deepcopy fix, StratifiedKFold, run recording</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83464">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src/tools/*.py</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new (6)</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Ablation, phase-2, incremental, variance, compare, ensemble</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050" i="1" dirty="0">
                <a:solidFill>
                  <a:srgbClr val="5A6B76"/>
                </a:solidFill>
                <a:latin typeface="Calibri" pitchFamily="34" charset="0"/>
                <a:ea typeface="Calibri" pitchFamily="34" charset="-122"/>
                <a:cs typeface="Calibri" pitchFamily="34" charset="-120"/>
              </a:rPr>
              <a:t>Unchanged: src/model.py, legacy_baseline/, generate_heatmaps.py, notebooks/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37744"/>
            <a:ext cx="6766560" cy="411480"/>
          </a:xfrm>
          <a:prstGeom prst="rect">
            <a:avLst/>
          </a:prstGeom>
          <a:noFill/>
          <a:ln/>
        </p:spPr>
        <p:txBody>
          <a:bodyPr wrap="square" lIns="0" tIns="0" rIns="0" bIns="0" rtlCol="0" anchor="ctr"/>
          <a:lstStyle/>
          <a:p>
            <a:pPr indent="0" marL="0">
              <a:buNone/>
            </a:pPr>
            <a:r>
              <a:rPr lang="en-US" sz="2500" b="1" dirty="0">
                <a:solidFill>
                  <a:srgbClr val="0C2E45"/>
                </a:solidFill>
                <a:latin typeface="Cambria" pitchFamily="34" charset="0"/>
                <a:ea typeface="Cambria" pitchFamily="34" charset="-122"/>
                <a:cs typeface="Cambria" pitchFamily="34" charset="-120"/>
              </a:rPr>
              <a:t>Why measurement had to come first</a:t>
            </a:r>
            <a:endParaRPr lang="en-US" sz="2500" dirty="0"/>
          </a:p>
        </p:txBody>
      </p:sp>
      <p:sp>
        <p:nvSpPr>
          <p:cNvPr id="3" name="Text 1"/>
          <p:cNvSpPr txBox="1"/>
          <p:nvPr/>
        </p:nvSpPr>
        <p:spPr>
          <a:xfrm>
            <a:off x="457200" y="667512"/>
            <a:ext cx="6766560" cy="274320"/>
          </a:xfrm>
          <a:prstGeom prst="rect">
            <a:avLst/>
          </a:prstGeom>
          <a:noFill/>
          <a:ln/>
        </p:spPr>
        <p:txBody>
          <a:bodyPr wrap="square" lIns="0" tIns="0" rIns="0" bIns="0" rtlCol="0" anchor="ctr"/>
          <a:lstStyle/>
          <a:p>
            <a:pPr indent="0" marL="0">
              <a:buNone/>
            </a:pPr>
            <a:r>
              <a:rPr lang="en-US" sz="1200" i="1" dirty="0">
                <a:solidFill>
                  <a:srgbClr val="5A6B76"/>
                </a:solidFill>
                <a:latin typeface="Calibri" pitchFamily="34" charset="0"/>
                <a:ea typeface="Calibri" pitchFamily="34" charset="-122"/>
                <a:cs typeface="Calibri" pitchFamily="34" charset="-120"/>
              </a:rPr>
              <a:t>Four defects that made every recorded number unfalsifiable</a:t>
            </a:r>
            <a:endParaRPr lang="en-US" sz="1200" dirty="0"/>
          </a:p>
        </p:txBody>
      </p:sp>
      <p:sp>
        <p:nvSpPr>
          <p:cNvPr id="4" name="Shape 2"/>
          <p:cNvSpPr/>
          <p:nvPr/>
        </p:nvSpPr>
        <p:spPr>
          <a:xfrm>
            <a:off x="7360920" y="274320"/>
            <a:ext cx="1325880" cy="329184"/>
          </a:xfrm>
          <a:prstGeom prst="roundRect">
            <a:avLst>
              <a:gd name="adj" fmla="val 16667"/>
            </a:avLst>
          </a:prstGeom>
          <a:solidFill>
            <a:srgbClr val="5A6B76"/>
          </a:solidFill>
          <a:ln w="12700">
            <a:solidFill>
              <a:srgbClr val="5A6B76"/>
            </a:solidFill>
            <a:prstDash val="solid"/>
          </a:ln>
        </p:spPr>
      </p:sp>
      <p:sp>
        <p:nvSpPr>
          <p:cNvPr id="5" name="Text 3"/>
          <p:cNvSpPr txBox="1"/>
          <p:nvPr/>
        </p:nvSpPr>
        <p:spPr>
          <a:xfrm>
            <a:off x="7360920" y="274320"/>
            <a:ext cx="132588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PREREQUISITE</a:t>
            </a:r>
            <a:endParaRPr lang="en-US" sz="1000" dirty="0"/>
          </a:p>
        </p:txBody>
      </p:sp>
      <p:sp>
        <p:nvSpPr>
          <p:cNvPr id="6" name="Shape 4"/>
          <p:cNvSpPr/>
          <p:nvPr/>
        </p:nvSpPr>
        <p:spPr>
          <a:xfrm>
            <a:off x="457200" y="1097280"/>
            <a:ext cx="4023360" cy="1051560"/>
          </a:xfrm>
          <a:prstGeom prst="roundRect">
            <a:avLst>
              <a:gd name="adj" fmla="val 6087"/>
            </a:avLst>
          </a:prstGeom>
          <a:solidFill>
            <a:srgbClr val="FBEDE6"/>
          </a:solidFill>
          <a:ln w="12700">
            <a:solidFill>
              <a:srgbClr val="FBEDE6"/>
            </a:solidFill>
            <a:prstDash val="solid"/>
          </a:ln>
        </p:spPr>
      </p:sp>
      <p:sp>
        <p:nvSpPr>
          <p:cNvPr id="7" name="Text 5"/>
          <p:cNvSpPr txBox="1"/>
          <p:nvPr/>
        </p:nvSpPr>
        <p:spPr>
          <a:xfrm>
            <a:off x="621792" y="1197864"/>
            <a:ext cx="369417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The logs predate the code</a:t>
            </a:r>
            <a:endParaRPr lang="en-US" sz="1150" dirty="0"/>
          </a:p>
        </p:txBody>
      </p:sp>
      <p:sp>
        <p:nvSpPr>
          <p:cNvPr id="8" name="Text 6"/>
          <p:cNvSpPr txBox="1"/>
          <p:nvPr/>
        </p:nvSpPr>
        <p:spPr>
          <a:xfrm>
            <a:off x="621792" y="1444752"/>
            <a:ext cx="3694176" cy="59436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main.py was rewritten in f4e1e29, which added per-epoch validation and early stopping. 14 of 18 logs, including the 76.50% headline, came from the prior version. Identifiable by counting 'Validation set:' lines.</a:t>
            </a:r>
            <a:endParaRPr lang="en-US" sz="1050" dirty="0"/>
          </a:p>
        </p:txBody>
      </p:sp>
      <p:sp>
        <p:nvSpPr>
          <p:cNvPr id="9" name="Shape 7"/>
          <p:cNvSpPr/>
          <p:nvPr/>
        </p:nvSpPr>
        <p:spPr>
          <a:xfrm>
            <a:off x="457200" y="2240280"/>
            <a:ext cx="4023360" cy="960120"/>
          </a:xfrm>
          <a:prstGeom prst="roundRect">
            <a:avLst>
              <a:gd name="adj" fmla="val 6667"/>
            </a:avLst>
          </a:prstGeom>
          <a:solidFill>
            <a:srgbClr val="EEF3F6"/>
          </a:solidFill>
          <a:ln w="12700">
            <a:solidFill>
              <a:srgbClr val="EEF3F6"/>
            </a:solidFill>
            <a:prstDash val="solid"/>
          </a:ln>
        </p:spPr>
      </p:sp>
      <p:sp>
        <p:nvSpPr>
          <p:cNvPr id="10" name="Text 8"/>
          <p:cNvSpPr txBox="1"/>
          <p:nvPr/>
        </p:nvSpPr>
        <p:spPr>
          <a:xfrm>
            <a:off x="621792" y="2340864"/>
            <a:ext cx="369417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No configuration capture</a:t>
            </a:r>
            <a:endParaRPr lang="en-US" sz="1150" dirty="0"/>
          </a:p>
        </p:txBody>
      </p:sp>
      <p:sp>
        <p:nvSpPr>
          <p:cNvPr id="11" name="Text 9"/>
          <p:cNvSpPr txBox="1"/>
          <p:nvPr/>
        </p:nvSpPr>
        <p:spPr>
          <a:xfrm>
            <a:off x="621792" y="2587752"/>
            <a:ext cx="3694176" cy="50292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Args were never written anywhere. Batch size had to be inferred from the 100-batch print stride: 6400 implies bs 64.</a:t>
            </a:r>
            <a:endParaRPr lang="en-US" sz="1050" dirty="0"/>
          </a:p>
        </p:txBody>
      </p:sp>
      <p:sp>
        <p:nvSpPr>
          <p:cNvPr id="12" name="Shape 10"/>
          <p:cNvSpPr/>
          <p:nvPr/>
        </p:nvSpPr>
        <p:spPr>
          <a:xfrm>
            <a:off x="457200" y="3291840"/>
            <a:ext cx="4023360" cy="1051560"/>
          </a:xfrm>
          <a:prstGeom prst="roundRect">
            <a:avLst>
              <a:gd name="adj" fmla="val 6087"/>
            </a:avLst>
          </a:prstGeom>
          <a:solidFill>
            <a:srgbClr val="EEF3F6"/>
          </a:solidFill>
          <a:ln w="12700">
            <a:solidFill>
              <a:srgbClr val="EEF3F6"/>
            </a:solidFill>
            <a:prstDash val="solid"/>
          </a:ln>
        </p:spPr>
      </p:sp>
      <p:sp>
        <p:nvSpPr>
          <p:cNvPr id="13" name="Text 11"/>
          <p:cNvSpPr txBox="1"/>
          <p:nvPr/>
        </p:nvSpPr>
        <p:spPr>
          <a:xfrm>
            <a:off x="621792" y="3392424"/>
            <a:ext cx="369417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No seeding at all</a:t>
            </a:r>
            <a:endParaRPr lang="en-US" sz="1150" dirty="0"/>
          </a:p>
        </p:txBody>
      </p:sp>
      <p:sp>
        <p:nvSpPr>
          <p:cNvPr id="14" name="Text 12"/>
          <p:cNvSpPr txBox="1"/>
          <p:nvPr/>
        </p:nvSpPr>
        <p:spPr>
          <a:xfrm>
            <a:off x="621792" y="3639312"/>
            <a:ext cx="3694176" cy="59436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No torch.manual_seed, np.random.seed or random.seed for weights, augmentation or shuffling. Only random_split was seeded, at 42.</a:t>
            </a:r>
            <a:endParaRPr lang="en-US" sz="1050" dirty="0"/>
          </a:p>
        </p:txBody>
      </p:sp>
      <p:sp>
        <p:nvSpPr>
          <p:cNvPr id="15" name="Shape 13"/>
          <p:cNvSpPr/>
          <p:nvPr/>
        </p:nvSpPr>
        <p:spPr>
          <a:xfrm>
            <a:off x="4709160" y="1097280"/>
            <a:ext cx="3977640" cy="1371600"/>
          </a:xfrm>
          <a:prstGeom prst="roundRect">
            <a:avLst>
              <a:gd name="adj" fmla="val 4000"/>
            </a:avLst>
          </a:prstGeom>
          <a:solidFill>
            <a:srgbClr val="10293D"/>
          </a:solidFill>
          <a:ln w="12700">
            <a:solidFill>
              <a:srgbClr val="10293D"/>
            </a:solidFill>
            <a:prstDash val="solid"/>
          </a:ln>
        </p:spPr>
      </p:sp>
      <p:sp>
        <p:nvSpPr>
          <p:cNvPr id="16" name="Text 14"/>
          <p:cNvSpPr txBox="1"/>
          <p:nvPr/>
        </p:nvSpPr>
        <p:spPr>
          <a:xfrm>
            <a:off x="4855464" y="1207008"/>
            <a:ext cx="3685032" cy="1152144"/>
          </a:xfrm>
          <a:prstGeom prst="rect">
            <a:avLst/>
          </a:prstGeom>
          <a:noFill/>
          <a:ln/>
        </p:spPr>
        <p:txBody>
          <a:bodyPr wrap="square" lIns="0" tIns="0" rIns="0" bIns="0" rtlCol="0" anchor="t"/>
          <a:lstStyle/>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evaluate_kfold.py:118  (the 73.23% +/- 0.11%)</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best_ft_weights = model.state_dict()</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 live tensor refs, mutated by later epochs</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model.load_state_dict(best_ft_weights)</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 therefore a no-op: reloads the LAST epoch</a:t>
            </a:r>
            <a:endParaRPr lang="en-US" sz="900" dirty="0"/>
          </a:p>
        </p:txBody>
      </p:sp>
      <p:sp>
        <p:nvSpPr>
          <p:cNvPr id="17" name="Shape 15"/>
          <p:cNvSpPr/>
          <p:nvPr/>
        </p:nvSpPr>
        <p:spPr>
          <a:xfrm>
            <a:off x="4709160" y="2697480"/>
            <a:ext cx="3977640" cy="1645920"/>
          </a:xfrm>
          <a:prstGeom prst="roundRect">
            <a:avLst>
              <a:gd name="adj" fmla="val 3889"/>
            </a:avLst>
          </a:prstGeom>
          <a:solidFill>
            <a:srgbClr val="FBEDE6"/>
          </a:solidFill>
          <a:ln w="12700">
            <a:solidFill>
              <a:srgbClr val="FBEDE6"/>
            </a:solidFill>
            <a:prstDash val="solid"/>
          </a:ln>
        </p:spPr>
      </p:sp>
      <p:sp>
        <p:nvSpPr>
          <p:cNvPr id="18" name="Text 16"/>
          <p:cNvSpPr txBox="1"/>
          <p:nvPr/>
        </p:nvSpPr>
        <p:spPr>
          <a:xfrm>
            <a:off x="4873752" y="2798064"/>
            <a:ext cx="364845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And the folds were not folds</a:t>
            </a:r>
            <a:endParaRPr lang="en-US" sz="1150" dirty="0"/>
          </a:p>
        </p:txBody>
      </p:sp>
      <p:sp>
        <p:nvSpPr>
          <p:cNvPr id="19" name="Text 17"/>
          <p:cNvSpPr txBox="1"/>
          <p:nvPr/>
        </p:nvSpPr>
        <p:spPr>
          <a:xfrm>
            <a:off x="4873752" y="3044952"/>
            <a:ext cx="3648456" cy="118872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Five independent random 90/10 draws, not disjoint partitions, all sharing one phase-1 checkpoint. The reported 0.11% margin was roughly ten times smaller than real run-to-run variance, which measured 1.04.</a:t>
            </a:r>
            <a:endParaRPr lang="en-US" sz="1050" dirty="0"/>
          </a:p>
        </p:txBody>
      </p:sp>
      <p:sp>
        <p:nvSpPr>
          <p:cNvPr id="20" name="Text 18"/>
          <p:cNvSpPr txBox="1"/>
          <p:nvPr/>
        </p:nvSpPr>
        <p:spPr>
          <a:xfrm>
            <a:off x="457200" y="4480560"/>
            <a:ext cx="8229600" cy="274320"/>
          </a:xfrm>
          <a:prstGeom prst="rect">
            <a:avLst/>
          </a:prstGeom>
          <a:noFill/>
          <a:ln/>
        </p:spPr>
        <p:txBody>
          <a:bodyPr wrap="square" lIns="0" tIns="0" rIns="0" bIns="0" rtlCol="0" anchor="ctr"/>
          <a:lstStyle/>
          <a:p>
            <a:pPr indent="0" marL="0">
              <a:buNone/>
            </a:pPr>
            <a:r>
              <a:rPr lang="en-US" sz="1100" b="1" dirty="0">
                <a:solidFill>
                  <a:srgbClr val="0C2E45"/>
                </a:solidFill>
                <a:latin typeface="Calibri" pitchFamily="34" charset="0"/>
                <a:ea typeface="Calibri" pitchFamily="34" charset="-122"/>
                <a:cs typeface="Calibri" pitchFamily="34" charset="-120"/>
              </a:rPr>
              <a:t>Measured seed-to-seed spread at a fixed config: 2.07 points (sd 1.04). Four recorded 'findings' were inside it.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37744"/>
            <a:ext cx="6766560" cy="411480"/>
          </a:xfrm>
          <a:prstGeom prst="rect">
            <a:avLst/>
          </a:prstGeom>
          <a:noFill/>
          <a:ln/>
        </p:spPr>
        <p:txBody>
          <a:bodyPr wrap="square" lIns="0" tIns="0" rIns="0" bIns="0" rtlCol="0" anchor="ctr"/>
          <a:lstStyle/>
          <a:p>
            <a:pPr indent="0" marL="0">
              <a:buNone/>
            </a:pPr>
            <a:r>
              <a:rPr lang="en-US" sz="2500" b="1" dirty="0">
                <a:solidFill>
                  <a:srgbClr val="0C2E45"/>
                </a:solidFill>
                <a:latin typeface="Cambria" pitchFamily="34" charset="0"/>
                <a:ea typeface="Cambria" pitchFamily="34" charset="-122"/>
                <a:cs typeface="Cambria" pitchFamily="34" charset="-120"/>
              </a:rPr>
              <a:t>src/repro.py and src/runmeta.py</a:t>
            </a:r>
            <a:endParaRPr lang="en-US" sz="2500" dirty="0"/>
          </a:p>
        </p:txBody>
      </p:sp>
      <p:sp>
        <p:nvSpPr>
          <p:cNvPr id="3" name="Text 1"/>
          <p:cNvSpPr txBox="1"/>
          <p:nvPr/>
        </p:nvSpPr>
        <p:spPr>
          <a:xfrm>
            <a:off x="457200" y="667512"/>
            <a:ext cx="6766560" cy="274320"/>
          </a:xfrm>
          <a:prstGeom prst="rect">
            <a:avLst/>
          </a:prstGeom>
          <a:noFill/>
          <a:ln/>
        </p:spPr>
        <p:txBody>
          <a:bodyPr wrap="square" lIns="0" tIns="0" rIns="0" bIns="0" rtlCol="0" anchor="ctr"/>
          <a:lstStyle/>
          <a:p>
            <a:pPr indent="0" marL="0">
              <a:buNone/>
            </a:pPr>
            <a:r>
              <a:rPr lang="en-US" sz="1200" i="1" dirty="0">
                <a:solidFill>
                  <a:srgbClr val="5A6B76"/>
                </a:solidFill>
                <a:latin typeface="Calibri" pitchFamily="34" charset="0"/>
                <a:ea typeface="Calibri" pitchFamily="34" charset="-122"/>
                <a:cs typeface="Calibri" pitchFamily="34" charset="-120"/>
              </a:rPr>
              <a:t>Make runs repeatable, and make every run self-describing</a:t>
            </a:r>
            <a:endParaRPr lang="en-US" sz="1200" dirty="0"/>
          </a:p>
        </p:txBody>
      </p:sp>
      <p:sp>
        <p:nvSpPr>
          <p:cNvPr id="4" name="Shape 2"/>
          <p:cNvSpPr/>
          <p:nvPr/>
        </p:nvSpPr>
        <p:spPr>
          <a:xfrm>
            <a:off x="7360920" y="274320"/>
            <a:ext cx="1325880" cy="329184"/>
          </a:xfrm>
          <a:prstGeom prst="roundRect">
            <a:avLst>
              <a:gd name="adj" fmla="val 16667"/>
            </a:avLst>
          </a:prstGeom>
          <a:solidFill>
            <a:srgbClr val="065A82"/>
          </a:solidFill>
          <a:ln w="12700">
            <a:solidFill>
              <a:srgbClr val="065A82"/>
            </a:solidFill>
            <a:prstDash val="solid"/>
          </a:ln>
        </p:spPr>
      </p:sp>
      <p:sp>
        <p:nvSpPr>
          <p:cNvPr id="5" name="Text 3"/>
          <p:cNvSpPr txBox="1"/>
          <p:nvPr/>
        </p:nvSpPr>
        <p:spPr>
          <a:xfrm>
            <a:off x="7360920" y="274320"/>
            <a:ext cx="132588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NEW</a:t>
            </a:r>
            <a:endParaRPr lang="en-US" sz="1000" dirty="0"/>
          </a:p>
        </p:txBody>
      </p:sp>
      <p:sp>
        <p:nvSpPr>
          <p:cNvPr id="6" name="Text 4"/>
          <p:cNvSpPr txBox="1"/>
          <p:nvPr/>
        </p:nvSpPr>
        <p:spPr>
          <a:xfrm>
            <a:off x="457200" y="1133856"/>
            <a:ext cx="4160520" cy="219456"/>
          </a:xfrm>
          <a:prstGeom prst="rect">
            <a:avLst/>
          </a:prstGeom>
          <a:noFill/>
          <a:ln/>
        </p:spPr>
        <p:txBody>
          <a:bodyPr wrap="square" lIns="0" tIns="0" rIns="0" bIns="0" rtlCol="0" anchor="ctr"/>
          <a:lstStyle/>
          <a:p>
            <a:pPr indent="0" marL="0">
              <a:buNone/>
            </a:pPr>
            <a:r>
              <a:rPr lang="en-US" sz="1000" b="1" dirty="0">
                <a:solidFill>
                  <a:srgbClr val="5A6B76"/>
                </a:solidFill>
                <a:latin typeface="Calibri" pitchFamily="34" charset="0"/>
                <a:ea typeface="Calibri" pitchFamily="34" charset="-122"/>
                <a:cs typeface="Calibri" pitchFamily="34" charset="-120"/>
              </a:rPr>
              <a:t>Seeding — must run before any CUDA tensor exists</a:t>
            </a:r>
            <a:endParaRPr lang="en-US" sz="1000" dirty="0"/>
          </a:p>
        </p:txBody>
      </p:sp>
      <p:sp>
        <p:nvSpPr>
          <p:cNvPr id="7" name="Shape 5"/>
          <p:cNvSpPr/>
          <p:nvPr/>
        </p:nvSpPr>
        <p:spPr>
          <a:xfrm>
            <a:off x="457200" y="1371600"/>
            <a:ext cx="4160520" cy="1691640"/>
          </a:xfrm>
          <a:prstGeom prst="roundRect">
            <a:avLst>
              <a:gd name="adj" fmla="val 3243"/>
            </a:avLst>
          </a:prstGeom>
          <a:solidFill>
            <a:srgbClr val="10293D"/>
          </a:solidFill>
          <a:ln w="12700">
            <a:solidFill>
              <a:srgbClr val="10293D"/>
            </a:solidFill>
            <a:prstDash val="solid"/>
          </a:ln>
        </p:spPr>
      </p:sp>
      <p:sp>
        <p:nvSpPr>
          <p:cNvPr id="8" name="Text 6"/>
          <p:cNvSpPr txBox="1"/>
          <p:nvPr/>
        </p:nvSpPr>
        <p:spPr>
          <a:xfrm>
            <a:off x="603504" y="1481328"/>
            <a:ext cx="3867912" cy="1472184"/>
          </a:xfrm>
          <a:prstGeom prst="rect">
            <a:avLst/>
          </a:prstGeom>
          <a:noFill/>
          <a:ln/>
        </p:spPr>
        <p:txBody>
          <a:bodyPr wrap="square" lIns="0" tIns="0" rIns="0" bIns="0" rtlCol="0" anchor="t"/>
          <a:lstStyle/>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def set_seed(seed=42, strict=False):</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os.environ['PYTHONHASHSEED'] = str(seed)</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random.seed(seed); np.random.seed(seed)</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torch.manual_seed(seed)</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torch.cuda.manual_seed_all(seed)</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torch.backends.cudnn.deterministic = True</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torch.backends.cudnn.benchmark = False</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if strict:</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torch.use_deterministic_algorithms(True,</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warn_only=True)</a:t>
            </a:r>
            <a:endParaRPr lang="en-US" sz="900" dirty="0"/>
          </a:p>
        </p:txBody>
      </p:sp>
      <p:sp>
        <p:nvSpPr>
          <p:cNvPr id="9" name="Text 7"/>
          <p:cNvSpPr txBox="1"/>
          <p:nvPr/>
        </p:nvSpPr>
        <p:spPr>
          <a:xfrm>
            <a:off x="457200" y="3191256"/>
            <a:ext cx="4160520" cy="219456"/>
          </a:xfrm>
          <a:prstGeom prst="rect">
            <a:avLst/>
          </a:prstGeom>
          <a:noFill/>
          <a:ln/>
        </p:spPr>
        <p:txBody>
          <a:bodyPr wrap="square" lIns="0" tIns="0" rIns="0" bIns="0" rtlCol="0" anchor="ctr"/>
          <a:lstStyle/>
          <a:p>
            <a:pPr indent="0" marL="0">
              <a:buNone/>
            </a:pPr>
            <a:r>
              <a:rPr lang="en-US" sz="1000" b="1" dirty="0">
                <a:solidFill>
                  <a:srgbClr val="5A6B76"/>
                </a:solidFill>
                <a:latin typeface="Calibri" pitchFamily="34" charset="0"/>
                <a:ea typeface="Calibri" pitchFamily="34" charset="-122"/>
                <a:cs typeface="Calibri" pitchFamily="34" charset="-120"/>
              </a:rPr>
              <a:t>DataLoader — augmentation uses np.random inside __getitem__</a:t>
            </a:r>
            <a:endParaRPr lang="en-US" sz="1000" dirty="0"/>
          </a:p>
        </p:txBody>
      </p:sp>
      <p:sp>
        <p:nvSpPr>
          <p:cNvPr id="10" name="Shape 8"/>
          <p:cNvSpPr/>
          <p:nvPr/>
        </p:nvSpPr>
        <p:spPr>
          <a:xfrm>
            <a:off x="457200" y="3429000"/>
            <a:ext cx="4160520" cy="1097280"/>
          </a:xfrm>
          <a:prstGeom prst="roundRect">
            <a:avLst>
              <a:gd name="adj" fmla="val 5000"/>
            </a:avLst>
          </a:prstGeom>
          <a:solidFill>
            <a:srgbClr val="10293D"/>
          </a:solidFill>
          <a:ln w="12700">
            <a:solidFill>
              <a:srgbClr val="10293D"/>
            </a:solidFill>
            <a:prstDash val="solid"/>
          </a:ln>
        </p:spPr>
      </p:sp>
      <p:sp>
        <p:nvSpPr>
          <p:cNvPr id="11" name="Text 9"/>
          <p:cNvSpPr txBox="1"/>
          <p:nvPr/>
        </p:nvSpPr>
        <p:spPr>
          <a:xfrm>
            <a:off x="603504" y="3538728"/>
            <a:ext cx="3867912" cy="877824"/>
          </a:xfrm>
          <a:prstGeom prst="rect">
            <a:avLst/>
          </a:prstGeom>
          <a:noFill/>
          <a:ln/>
        </p:spPr>
        <p:txBody>
          <a:bodyPr wrap="square" lIns="0" tIns="0" rIns="0" bIns="0" rtlCol="0" anchor="t"/>
          <a:lstStyle/>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DataLoader(ds, shuffle=shuffle,</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num_workers=args.num_workers,</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worker_init_fn=seed_worker if workers else None,</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generator=make_generator(args.seed) if shuffle</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else None)</a:t>
            </a:r>
            <a:endParaRPr lang="en-US" sz="900" dirty="0"/>
          </a:p>
        </p:txBody>
      </p:sp>
      <p:sp>
        <p:nvSpPr>
          <p:cNvPr id="12" name="Shape 10"/>
          <p:cNvSpPr/>
          <p:nvPr/>
        </p:nvSpPr>
        <p:spPr>
          <a:xfrm>
            <a:off x="4846320" y="1133856"/>
            <a:ext cx="3840480" cy="1188720"/>
          </a:xfrm>
          <a:prstGeom prst="roundRect">
            <a:avLst>
              <a:gd name="adj" fmla="val 5385"/>
            </a:avLst>
          </a:prstGeom>
          <a:solidFill>
            <a:srgbClr val="EEF3F6"/>
          </a:solidFill>
          <a:ln w="12700">
            <a:solidFill>
              <a:srgbClr val="EEF3F6"/>
            </a:solidFill>
            <a:prstDash val="solid"/>
          </a:ln>
        </p:spPr>
      </p:sp>
      <p:sp>
        <p:nvSpPr>
          <p:cNvPr id="13" name="Text 11"/>
          <p:cNvSpPr txBox="1"/>
          <p:nvPr/>
        </p:nvSpPr>
        <p:spPr>
          <a:xfrm>
            <a:off x="5010912" y="1234440"/>
            <a:ext cx="351129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Why cudnn.benchmark had to go</a:t>
            </a:r>
            <a:endParaRPr lang="en-US" sz="1150" dirty="0"/>
          </a:p>
        </p:txBody>
      </p:sp>
      <p:sp>
        <p:nvSpPr>
          <p:cNvPr id="14" name="Text 12"/>
          <p:cNvSpPr txBox="1"/>
          <p:nvPr/>
        </p:nvSpPr>
        <p:spPr>
          <a:xfrm>
            <a:off x="5010912" y="1481328"/>
            <a:ext cx="3511296" cy="73152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cuDNN autotunes convolution algorithms per run. Different algorithm, different float accumulation order, different result. Costs a little speed; buys bit-exact repeats.</a:t>
            </a:r>
            <a:endParaRPr lang="en-US" sz="1050" dirty="0"/>
          </a:p>
        </p:txBody>
      </p:sp>
      <p:sp>
        <p:nvSpPr>
          <p:cNvPr id="15" name="Shape 13"/>
          <p:cNvSpPr/>
          <p:nvPr/>
        </p:nvSpPr>
        <p:spPr>
          <a:xfrm>
            <a:off x="4846320" y="2414016"/>
            <a:ext cx="3840480" cy="1143000"/>
          </a:xfrm>
          <a:prstGeom prst="roundRect">
            <a:avLst>
              <a:gd name="adj" fmla="val 5600"/>
            </a:avLst>
          </a:prstGeom>
          <a:solidFill>
            <a:srgbClr val="EEF3F6"/>
          </a:solidFill>
          <a:ln w="12700">
            <a:solidFill>
              <a:srgbClr val="EEF3F6"/>
            </a:solidFill>
            <a:prstDash val="solid"/>
          </a:ln>
        </p:spPr>
      </p:sp>
      <p:sp>
        <p:nvSpPr>
          <p:cNvPr id="16" name="Text 14"/>
          <p:cNvSpPr txBox="1"/>
          <p:nvPr/>
        </p:nvSpPr>
        <p:spPr>
          <a:xfrm>
            <a:off x="5010912" y="2514600"/>
            <a:ext cx="351129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Why an explicit generator</a:t>
            </a:r>
            <a:endParaRPr lang="en-US" sz="1150" dirty="0"/>
          </a:p>
        </p:txBody>
      </p:sp>
      <p:sp>
        <p:nvSpPr>
          <p:cNvPr id="17" name="Text 15"/>
          <p:cNvSpPr txBox="1"/>
          <p:nvPr/>
        </p:nvSpPr>
        <p:spPr>
          <a:xfrm>
            <a:off x="5010912" y="2761488"/>
            <a:ext cx="3511296" cy="68580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Augmentation consumes global RNG. Without a dedicated generator, adding or removing an augmentation silently shifts the train/val split too, confounding every comparison.</a:t>
            </a:r>
            <a:endParaRPr lang="en-US" sz="1050" dirty="0"/>
          </a:p>
        </p:txBody>
      </p:sp>
      <p:sp>
        <p:nvSpPr>
          <p:cNvPr id="18" name="Shape 16"/>
          <p:cNvSpPr/>
          <p:nvPr/>
        </p:nvSpPr>
        <p:spPr>
          <a:xfrm>
            <a:off x="4846320" y="3648456"/>
            <a:ext cx="3840480" cy="877824"/>
          </a:xfrm>
          <a:prstGeom prst="roundRect">
            <a:avLst>
              <a:gd name="adj" fmla="val 7292"/>
            </a:avLst>
          </a:prstGeom>
          <a:solidFill>
            <a:srgbClr val="E7F3EF"/>
          </a:solidFill>
          <a:ln w="12700">
            <a:solidFill>
              <a:srgbClr val="E7F3EF"/>
            </a:solidFill>
            <a:prstDash val="solid"/>
          </a:ln>
        </p:spPr>
      </p:sp>
      <p:sp>
        <p:nvSpPr>
          <p:cNvPr id="19" name="Text 17"/>
          <p:cNvSpPr txBox="1"/>
          <p:nvPr/>
        </p:nvSpPr>
        <p:spPr>
          <a:xfrm>
            <a:off x="5010912" y="3749040"/>
            <a:ext cx="351129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Verified, not assumed</a:t>
            </a:r>
            <a:endParaRPr lang="en-US" sz="1150" dirty="0"/>
          </a:p>
        </p:txBody>
      </p:sp>
      <p:sp>
        <p:nvSpPr>
          <p:cNvPr id="20" name="Text 18"/>
          <p:cNvSpPr txBox="1"/>
          <p:nvPr/>
        </p:nvSpPr>
        <p:spPr>
          <a:xfrm>
            <a:off x="5010912" y="3995928"/>
            <a:ext cx="3511296" cy="420624"/>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Two runs at seed 7 with --augment matched to full float precision: val loss 1.1417966807683309 on both.</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37744"/>
            <a:ext cx="6766560" cy="411480"/>
          </a:xfrm>
          <a:prstGeom prst="rect">
            <a:avLst/>
          </a:prstGeom>
          <a:noFill/>
          <a:ln/>
        </p:spPr>
        <p:txBody>
          <a:bodyPr wrap="square" lIns="0" tIns="0" rIns="0" bIns="0" rtlCol="0" anchor="ctr"/>
          <a:lstStyle/>
          <a:p>
            <a:pPr indent="0" marL="0">
              <a:buNone/>
            </a:pPr>
            <a:r>
              <a:rPr lang="en-US" sz="2500" b="1" dirty="0">
                <a:solidFill>
                  <a:srgbClr val="0C2E45"/>
                </a:solidFill>
                <a:latin typeface="Cambria" pitchFamily="34" charset="0"/>
                <a:ea typeface="Cambria" pitchFamily="34" charset="-122"/>
                <a:cs typeface="Cambria" pitchFamily="34" charset="-120"/>
              </a:rPr>
              <a:t>src/cache.py + declarative pipeline</a:t>
            </a:r>
            <a:endParaRPr lang="en-US" sz="2500" dirty="0"/>
          </a:p>
        </p:txBody>
      </p:sp>
      <p:sp>
        <p:nvSpPr>
          <p:cNvPr id="3" name="Text 1"/>
          <p:cNvSpPr txBox="1"/>
          <p:nvPr/>
        </p:nvSpPr>
        <p:spPr>
          <a:xfrm>
            <a:off x="457200" y="667512"/>
            <a:ext cx="6766560" cy="274320"/>
          </a:xfrm>
          <a:prstGeom prst="rect">
            <a:avLst/>
          </a:prstGeom>
          <a:noFill/>
          <a:ln/>
        </p:spPr>
        <p:txBody>
          <a:bodyPr wrap="square" lIns="0" tIns="0" rIns="0" bIns="0" rtlCol="0" anchor="ctr"/>
          <a:lstStyle/>
          <a:p>
            <a:pPr indent="0" marL="0">
              <a:buNone/>
            </a:pPr>
            <a:r>
              <a:rPr lang="en-US" sz="1200" i="1" dirty="0">
                <a:solidFill>
                  <a:srgbClr val="5A6B76"/>
                </a:solidFill>
                <a:latin typeface="Calibri" pitchFamily="34" charset="0"/>
                <a:ea typeface="Calibri" pitchFamily="34" charset="-122"/>
                <a:cs typeface="Calibri" pitchFamily="34" charset="-120"/>
              </a:rPr>
              <a:t>Stop re-running ramanspy on 66,000 spectra at every script start</a:t>
            </a:r>
            <a:endParaRPr lang="en-US" sz="1200" dirty="0"/>
          </a:p>
        </p:txBody>
      </p:sp>
      <p:sp>
        <p:nvSpPr>
          <p:cNvPr id="4" name="Shape 2"/>
          <p:cNvSpPr/>
          <p:nvPr/>
        </p:nvSpPr>
        <p:spPr>
          <a:xfrm>
            <a:off x="7360920" y="274320"/>
            <a:ext cx="1325880" cy="329184"/>
          </a:xfrm>
          <a:prstGeom prst="roundRect">
            <a:avLst>
              <a:gd name="adj" fmla="val 16667"/>
            </a:avLst>
          </a:prstGeom>
          <a:solidFill>
            <a:srgbClr val="065A82"/>
          </a:solidFill>
          <a:ln w="12700">
            <a:solidFill>
              <a:srgbClr val="065A82"/>
            </a:solidFill>
            <a:prstDash val="solid"/>
          </a:ln>
        </p:spPr>
      </p:sp>
      <p:sp>
        <p:nvSpPr>
          <p:cNvPr id="5" name="Text 3"/>
          <p:cNvSpPr txBox="1"/>
          <p:nvPr/>
        </p:nvSpPr>
        <p:spPr>
          <a:xfrm>
            <a:off x="7360920" y="274320"/>
            <a:ext cx="132588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NEW</a:t>
            </a:r>
            <a:endParaRPr lang="en-US" sz="1000" dirty="0"/>
          </a:p>
        </p:txBody>
      </p:sp>
      <p:sp>
        <p:nvSpPr>
          <p:cNvPr id="6" name="Text 4"/>
          <p:cNvSpPr txBox="1"/>
          <p:nvPr/>
        </p:nvSpPr>
        <p:spPr>
          <a:xfrm>
            <a:off x="457200" y="1133856"/>
            <a:ext cx="4846320" cy="219456"/>
          </a:xfrm>
          <a:prstGeom prst="rect">
            <a:avLst/>
          </a:prstGeom>
          <a:noFill/>
          <a:ln/>
        </p:spPr>
        <p:txBody>
          <a:bodyPr wrap="square" lIns="0" tIns="0" rIns="0" bIns="0" rtlCol="0" anchor="ctr"/>
          <a:lstStyle/>
          <a:p>
            <a:pPr indent="0" marL="0">
              <a:buNone/>
            </a:pPr>
            <a:r>
              <a:rPr lang="en-US" sz="1000" b="1" dirty="0">
                <a:solidFill>
                  <a:srgbClr val="5A6B76"/>
                </a:solidFill>
                <a:latin typeface="Calibri" pitchFamily="34" charset="0"/>
                <a:ea typeface="Calibri" pitchFamily="34" charset="-122"/>
                <a:cs typeface="Calibri" pitchFamily="34" charset="-120"/>
              </a:rPr>
              <a:t>The spec is both the build instruction and the cache key</a:t>
            </a:r>
            <a:endParaRPr lang="en-US" sz="1000" dirty="0"/>
          </a:p>
        </p:txBody>
      </p:sp>
      <p:sp>
        <p:nvSpPr>
          <p:cNvPr id="7" name="Shape 5"/>
          <p:cNvSpPr/>
          <p:nvPr/>
        </p:nvSpPr>
        <p:spPr>
          <a:xfrm>
            <a:off x="457200" y="1371600"/>
            <a:ext cx="4846320" cy="1417320"/>
          </a:xfrm>
          <a:prstGeom prst="roundRect">
            <a:avLst>
              <a:gd name="adj" fmla="val 3871"/>
            </a:avLst>
          </a:prstGeom>
          <a:solidFill>
            <a:srgbClr val="10293D"/>
          </a:solidFill>
          <a:ln w="12700">
            <a:solidFill>
              <a:srgbClr val="10293D"/>
            </a:solidFill>
            <a:prstDash val="solid"/>
          </a:ln>
        </p:spPr>
      </p:sp>
      <p:sp>
        <p:nvSpPr>
          <p:cNvPr id="8" name="Text 6"/>
          <p:cNvSpPr txBox="1"/>
          <p:nvPr/>
        </p:nvSpPr>
        <p:spPr>
          <a:xfrm>
            <a:off x="603504" y="1481328"/>
            <a:ext cx="4553712" cy="1197864"/>
          </a:xfrm>
          <a:prstGeom prst="rect">
            <a:avLst/>
          </a:prstGeom>
          <a:noFill/>
          <a:ln/>
        </p:spPr>
        <p:txBody>
          <a:bodyPr wrap="square" lIns="0" tIns="0" rIns="0" bIns="0" rtlCol="0" anchor="t"/>
          <a:lstStyle/>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DEFAULT_PIPELINE = (</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{'module':'normalise','method':'MinMax','kwargs':{}},</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a:t>
            </a:r>
            <a:endParaRPr lang="en-US" sz="900" dirty="0"/>
          </a:p>
          <a:p>
            <a:pPr indent="0" marL="0">
              <a:lnSpc>
                <a:spcPct val="105000"/>
              </a:lnSpc>
              <a:buNone/>
            </a:pP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def build_pipeline(spec):</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return rp.preprocessing.Pipeline([</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getattr(getattr(rp.preprocessing, s['module']),</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s['method'])(**s['kwargs']) for s in spec])</a:t>
            </a:r>
            <a:endParaRPr lang="en-US" sz="900" dirty="0"/>
          </a:p>
        </p:txBody>
      </p:sp>
      <p:sp>
        <p:nvSpPr>
          <p:cNvPr id="9" name="Text 7"/>
          <p:cNvSpPr txBox="1"/>
          <p:nvPr/>
        </p:nvSpPr>
        <p:spPr>
          <a:xfrm>
            <a:off x="457200" y="2916936"/>
            <a:ext cx="4846320" cy="219456"/>
          </a:xfrm>
          <a:prstGeom prst="rect">
            <a:avLst/>
          </a:prstGeom>
          <a:noFill/>
          <a:ln/>
        </p:spPr>
        <p:txBody>
          <a:bodyPr wrap="square" lIns="0" tIns="0" rIns="0" bIns="0" rtlCol="0" anchor="ctr"/>
          <a:lstStyle/>
          <a:p>
            <a:pPr indent="0" marL="0">
              <a:buNone/>
            </a:pPr>
            <a:r>
              <a:rPr lang="en-US" sz="1000" b="1" dirty="0">
                <a:solidFill>
                  <a:srgbClr val="5A6B76"/>
                </a:solidFill>
                <a:latin typeface="Calibri" pitchFamily="34" charset="0"/>
                <a:ea typeface="Calibri" pitchFamily="34" charset="-122"/>
                <a:cs typeface="Calibri" pitchFamily="34" charset="-120"/>
              </a:rPr>
              <a:t>Key includes the spec, so arms cannot collide</a:t>
            </a:r>
            <a:endParaRPr lang="en-US" sz="1000" dirty="0"/>
          </a:p>
        </p:txBody>
      </p:sp>
      <p:sp>
        <p:nvSpPr>
          <p:cNvPr id="10" name="Shape 8"/>
          <p:cNvSpPr/>
          <p:nvPr/>
        </p:nvSpPr>
        <p:spPr>
          <a:xfrm>
            <a:off x="457200" y="3154680"/>
            <a:ext cx="4846320" cy="1371600"/>
          </a:xfrm>
          <a:prstGeom prst="roundRect">
            <a:avLst>
              <a:gd name="adj" fmla="val 4000"/>
            </a:avLst>
          </a:prstGeom>
          <a:solidFill>
            <a:srgbClr val="10293D"/>
          </a:solidFill>
          <a:ln w="12700">
            <a:solidFill>
              <a:srgbClr val="10293D"/>
            </a:solidFill>
            <a:prstDash val="solid"/>
          </a:ln>
        </p:spPr>
      </p:sp>
      <p:sp>
        <p:nvSpPr>
          <p:cNvPr id="11" name="Text 9"/>
          <p:cNvSpPr txBox="1"/>
          <p:nvPr/>
        </p:nvSpPr>
        <p:spPr>
          <a:xfrm>
            <a:off x="603504" y="3264408"/>
            <a:ext cx="4553712" cy="1152144"/>
          </a:xfrm>
          <a:prstGeom prst="rect">
            <a:avLst/>
          </a:prstGeom>
          <a:noFill/>
          <a:ln/>
        </p:spPr>
        <p:txBody>
          <a:bodyPr wrap="square" lIns="0" tIns="0" rIns="0" bIns="0" rtlCol="0" anchor="t"/>
          <a:lstStyle/>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key_parts = {</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'X': file_fingerprint(X_path),</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'wavenumbers': file_fingerprint(wn_path),</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'pipeline': list(self.pipeline_spec),</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'dtype': 'float32', 'cache_format': CACHE_FORMAT,</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X = load_or_compute(cache_dir, key_parts, _run_pipeline)</a:t>
            </a:r>
            <a:endParaRPr lang="en-US" sz="900" dirty="0"/>
          </a:p>
        </p:txBody>
      </p:sp>
      <p:sp>
        <p:nvSpPr>
          <p:cNvPr id="12" name="Shape 10"/>
          <p:cNvSpPr/>
          <p:nvPr/>
        </p:nvSpPr>
        <p:spPr>
          <a:xfrm>
            <a:off x="5532120" y="1133856"/>
            <a:ext cx="3154680" cy="1280160"/>
          </a:xfrm>
          <a:prstGeom prst="roundRect">
            <a:avLst>
              <a:gd name="adj" fmla="val 5000"/>
            </a:avLst>
          </a:prstGeom>
          <a:solidFill>
            <a:srgbClr val="FBEDE6"/>
          </a:solidFill>
          <a:ln w="12700">
            <a:solidFill>
              <a:srgbClr val="FBEDE6"/>
            </a:solidFill>
            <a:prstDash val="solid"/>
          </a:ln>
        </p:spPr>
      </p:sp>
      <p:sp>
        <p:nvSpPr>
          <p:cNvPr id="13" name="Text 11"/>
          <p:cNvSpPr txBox="1"/>
          <p:nvPr/>
        </p:nvSpPr>
        <p:spPr>
          <a:xfrm>
            <a:off x="5696712" y="1234440"/>
            <a:ext cx="282549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The problem</a:t>
            </a:r>
            <a:endParaRPr lang="en-US" sz="1150" dirty="0"/>
          </a:p>
        </p:txBody>
      </p:sp>
      <p:sp>
        <p:nvSpPr>
          <p:cNvPr id="14" name="Text 12"/>
          <p:cNvSpPr txBox="1"/>
          <p:nvPr/>
        </p:nvSpPr>
        <p:spPr>
          <a:xfrm>
            <a:off x="5696712" y="1481328"/>
            <a:ext cx="2825496" cy="82296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RamanDataset ran the full ramanspy pipeline eagerly in __init__, over 60k + 3k + 3k spectra, at every single script invocation. No caching anywhere.</a:t>
            </a:r>
            <a:endParaRPr lang="en-US" sz="1050" dirty="0"/>
          </a:p>
        </p:txBody>
      </p:sp>
      <p:sp>
        <p:nvSpPr>
          <p:cNvPr id="15" name="Shape 13"/>
          <p:cNvSpPr/>
          <p:nvPr/>
        </p:nvSpPr>
        <p:spPr>
          <a:xfrm>
            <a:off x="5532120" y="2505456"/>
            <a:ext cx="3154680" cy="1234440"/>
          </a:xfrm>
          <a:prstGeom prst="roundRect">
            <a:avLst>
              <a:gd name="adj" fmla="val 5185"/>
            </a:avLst>
          </a:prstGeom>
          <a:solidFill>
            <a:srgbClr val="EEF3F6"/>
          </a:solidFill>
          <a:ln w="12700">
            <a:solidFill>
              <a:srgbClr val="EEF3F6"/>
            </a:solidFill>
            <a:prstDash val="solid"/>
          </a:ln>
        </p:spPr>
      </p:sp>
      <p:sp>
        <p:nvSpPr>
          <p:cNvPr id="16" name="Text 14"/>
          <p:cNvSpPr txBox="1"/>
          <p:nvPr/>
        </p:nvSpPr>
        <p:spPr>
          <a:xfrm>
            <a:off x="5696712" y="2606040"/>
            <a:ext cx="282549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The footgun avoided</a:t>
            </a:r>
            <a:endParaRPr lang="en-US" sz="1150" dirty="0"/>
          </a:p>
        </p:txBody>
      </p:sp>
      <p:sp>
        <p:nvSpPr>
          <p:cNvPr id="17" name="Text 15"/>
          <p:cNvSpPr txBox="1"/>
          <p:nvPr/>
        </p:nvSpPr>
        <p:spPr>
          <a:xfrm>
            <a:off x="5696712" y="2852928"/>
            <a:ext cx="2825496" cy="77724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A cache keyed only on the input file goes stale the moment a parameter changes, and you silently train on arrays produced by code you no longer have.</a:t>
            </a:r>
            <a:endParaRPr lang="en-US" sz="1050" dirty="0"/>
          </a:p>
        </p:txBody>
      </p:sp>
      <p:sp>
        <p:nvSpPr>
          <p:cNvPr id="18" name="Shape 16"/>
          <p:cNvSpPr/>
          <p:nvPr/>
        </p:nvSpPr>
        <p:spPr>
          <a:xfrm>
            <a:off x="5532120" y="3831336"/>
            <a:ext cx="3154680" cy="694944"/>
          </a:xfrm>
          <a:prstGeom prst="roundRect">
            <a:avLst>
              <a:gd name="adj" fmla="val 9211"/>
            </a:avLst>
          </a:prstGeom>
          <a:solidFill>
            <a:srgbClr val="E7F3EF"/>
          </a:solidFill>
          <a:ln w="12700">
            <a:solidFill>
              <a:srgbClr val="E7F3EF"/>
            </a:solidFill>
            <a:prstDash val="solid"/>
          </a:ln>
        </p:spPr>
      </p:sp>
      <p:sp>
        <p:nvSpPr>
          <p:cNvPr id="19" name="Text 17"/>
          <p:cNvSpPr txBox="1"/>
          <p:nvPr/>
        </p:nvSpPr>
        <p:spPr>
          <a:xfrm>
            <a:off x="5696712" y="3931920"/>
            <a:ext cx="282549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Side benefit</a:t>
            </a:r>
            <a:endParaRPr lang="en-US" sz="1150" dirty="0"/>
          </a:p>
        </p:txBody>
      </p:sp>
      <p:sp>
        <p:nvSpPr>
          <p:cNvPr id="20" name="Text 18"/>
          <p:cNvSpPr txBox="1"/>
          <p:nvPr/>
        </p:nvSpPr>
        <p:spPr>
          <a:xfrm>
            <a:off x="5696712" y="4178808"/>
            <a:ext cx="2825496" cy="237744"/>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Made the Stage-1 ablation a CLI flag instead of a source edit.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37744"/>
            <a:ext cx="6766560" cy="411480"/>
          </a:xfrm>
          <a:prstGeom prst="rect">
            <a:avLst/>
          </a:prstGeom>
          <a:noFill/>
          <a:ln/>
        </p:spPr>
        <p:txBody>
          <a:bodyPr wrap="square" lIns="0" tIns="0" rIns="0" bIns="0" rtlCol="0" anchor="ctr"/>
          <a:lstStyle/>
          <a:p>
            <a:pPr indent="0" marL="0">
              <a:buNone/>
            </a:pPr>
            <a:r>
              <a:rPr lang="en-US" sz="2500" b="1" dirty="0">
                <a:solidFill>
                  <a:srgbClr val="0C2E45"/>
                </a:solidFill>
                <a:latin typeface="Cambria" pitchFamily="34" charset="0"/>
                <a:ea typeface="Cambria" pitchFamily="34" charset="-122"/>
                <a:cs typeface="Cambria" pitchFamily="34" charset="-120"/>
              </a:rPr>
              <a:t>src/metrics.py + engine.evaluate()</a:t>
            </a:r>
            <a:endParaRPr lang="en-US" sz="2500" dirty="0"/>
          </a:p>
        </p:txBody>
      </p:sp>
      <p:sp>
        <p:nvSpPr>
          <p:cNvPr id="3" name="Text 1"/>
          <p:cNvSpPr txBox="1"/>
          <p:nvPr/>
        </p:nvSpPr>
        <p:spPr>
          <a:xfrm>
            <a:off x="457200" y="667512"/>
            <a:ext cx="6766560" cy="274320"/>
          </a:xfrm>
          <a:prstGeom prst="rect">
            <a:avLst/>
          </a:prstGeom>
          <a:noFill/>
          <a:ln/>
        </p:spPr>
        <p:txBody>
          <a:bodyPr wrap="square" lIns="0" tIns="0" rIns="0" bIns="0" rtlCol="0" anchor="ctr"/>
          <a:lstStyle/>
          <a:p>
            <a:pPr indent="0" marL="0">
              <a:buNone/>
            </a:pPr>
            <a:r>
              <a:rPr lang="en-US" sz="1200" i="1" dirty="0">
                <a:solidFill>
                  <a:srgbClr val="5A6B76"/>
                </a:solidFill>
                <a:latin typeface="Calibri" pitchFamily="34" charset="0"/>
                <a:ea typeface="Calibri" pitchFamily="34" charset="-122"/>
                <a:cs typeface="Calibri" pitchFamily="34" charset="-120"/>
              </a:rPr>
              <a:t>One scalar cannot show the failure mode you are building against</a:t>
            </a:r>
            <a:endParaRPr lang="en-US" sz="1200" dirty="0"/>
          </a:p>
        </p:txBody>
      </p:sp>
      <p:sp>
        <p:nvSpPr>
          <p:cNvPr id="4" name="Shape 2"/>
          <p:cNvSpPr/>
          <p:nvPr/>
        </p:nvSpPr>
        <p:spPr>
          <a:xfrm>
            <a:off x="7360920" y="274320"/>
            <a:ext cx="1325880" cy="329184"/>
          </a:xfrm>
          <a:prstGeom prst="roundRect">
            <a:avLst>
              <a:gd name="adj" fmla="val 16667"/>
            </a:avLst>
          </a:prstGeom>
          <a:solidFill>
            <a:srgbClr val="065A82"/>
          </a:solidFill>
          <a:ln w="12700">
            <a:solidFill>
              <a:srgbClr val="065A82"/>
            </a:solidFill>
            <a:prstDash val="solid"/>
          </a:ln>
        </p:spPr>
      </p:sp>
      <p:sp>
        <p:nvSpPr>
          <p:cNvPr id="5" name="Text 3"/>
          <p:cNvSpPr txBox="1"/>
          <p:nvPr/>
        </p:nvSpPr>
        <p:spPr>
          <a:xfrm>
            <a:off x="7360920" y="274320"/>
            <a:ext cx="132588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NEW + REPLACED</a:t>
            </a:r>
            <a:endParaRPr lang="en-US" sz="1000" dirty="0"/>
          </a:p>
        </p:txBody>
      </p:sp>
      <p:sp>
        <p:nvSpPr>
          <p:cNvPr id="6" name="Text 4"/>
          <p:cNvSpPr txBox="1"/>
          <p:nvPr/>
        </p:nvSpPr>
        <p:spPr>
          <a:xfrm>
            <a:off x="457200" y="1088136"/>
            <a:ext cx="4663440" cy="219456"/>
          </a:xfrm>
          <a:prstGeom prst="rect">
            <a:avLst/>
          </a:prstGeom>
          <a:noFill/>
          <a:ln/>
        </p:spPr>
        <p:txBody>
          <a:bodyPr wrap="square" lIns="0" tIns="0" rIns="0" bIns="0" rtlCol="0" anchor="ctr"/>
          <a:lstStyle/>
          <a:p>
            <a:pPr indent="0" marL="0">
              <a:buNone/>
            </a:pPr>
            <a:r>
              <a:rPr lang="en-US" sz="1000" b="1" dirty="0">
                <a:solidFill>
                  <a:srgbClr val="5A6B76"/>
                </a:solidFill>
                <a:latin typeface="Calibri" pitchFamily="34" charset="0"/>
                <a:ea typeface="Calibri" pitchFamily="34" charset="-122"/>
                <a:cs typeface="Calibri" pitchFamily="34" charset="-120"/>
              </a:rPr>
              <a:t>Before — the entire return value</a:t>
            </a:r>
            <a:endParaRPr lang="en-US" sz="1000" dirty="0"/>
          </a:p>
        </p:txBody>
      </p:sp>
      <p:sp>
        <p:nvSpPr>
          <p:cNvPr id="7" name="Shape 5"/>
          <p:cNvSpPr/>
          <p:nvPr/>
        </p:nvSpPr>
        <p:spPr>
          <a:xfrm>
            <a:off x="457200" y="1325880"/>
            <a:ext cx="4663440" cy="1234440"/>
          </a:xfrm>
          <a:prstGeom prst="roundRect">
            <a:avLst>
              <a:gd name="adj" fmla="val 4444"/>
            </a:avLst>
          </a:prstGeom>
          <a:solidFill>
            <a:srgbClr val="10293D"/>
          </a:solidFill>
          <a:ln w="12700">
            <a:solidFill>
              <a:srgbClr val="10293D"/>
            </a:solidFill>
            <a:prstDash val="solid"/>
          </a:ln>
        </p:spPr>
      </p:sp>
      <p:sp>
        <p:nvSpPr>
          <p:cNvPr id="8" name="Text 6"/>
          <p:cNvSpPr txBox="1"/>
          <p:nvPr/>
        </p:nvSpPr>
        <p:spPr>
          <a:xfrm>
            <a:off x="603504" y="1435608"/>
            <a:ext cx="4370832" cy="1014984"/>
          </a:xfrm>
          <a:prstGeom prst="rect">
            <a:avLst/>
          </a:prstGeom>
          <a:noFill/>
          <a:ln/>
        </p:spPr>
        <p:txBody>
          <a:bodyPr wrap="square" lIns="0" tIns="0" rIns="0" bIns="0" rtlCol="0" anchor="t"/>
          <a:lstStyle/>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def evaluate(model, device, loader, criterion, phase):</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return test_loss, acc</a:t>
            </a:r>
            <a:endParaRPr lang="en-US" sz="900" dirty="0"/>
          </a:p>
        </p:txBody>
      </p:sp>
      <p:sp>
        <p:nvSpPr>
          <p:cNvPr id="9" name="Text 7"/>
          <p:cNvSpPr txBox="1"/>
          <p:nvPr/>
        </p:nvSpPr>
        <p:spPr>
          <a:xfrm>
            <a:off x="457200" y="2596896"/>
            <a:ext cx="4663440" cy="219456"/>
          </a:xfrm>
          <a:prstGeom prst="rect">
            <a:avLst/>
          </a:prstGeom>
          <a:noFill/>
          <a:ln/>
        </p:spPr>
        <p:txBody>
          <a:bodyPr wrap="square" lIns="0" tIns="0" rIns="0" bIns="0" rtlCol="0" anchor="ctr"/>
          <a:lstStyle/>
          <a:p>
            <a:pPr indent="0" marL="0">
              <a:buNone/>
            </a:pPr>
            <a:r>
              <a:rPr lang="en-US" sz="1000" b="1" dirty="0">
                <a:solidFill>
                  <a:srgbClr val="5A6B76"/>
                </a:solidFill>
                <a:latin typeface="Calibri" pitchFamily="34" charset="0"/>
                <a:ea typeface="Calibri" pitchFamily="34" charset="-122"/>
                <a:cs typeface="Calibri" pitchFamily="34" charset="-120"/>
              </a:rPr>
              <a:t>After</a:t>
            </a:r>
            <a:endParaRPr lang="en-US" sz="1000" dirty="0"/>
          </a:p>
        </p:txBody>
      </p:sp>
      <p:sp>
        <p:nvSpPr>
          <p:cNvPr id="10" name="Shape 8"/>
          <p:cNvSpPr/>
          <p:nvPr/>
        </p:nvSpPr>
        <p:spPr>
          <a:xfrm>
            <a:off x="457200" y="2834640"/>
            <a:ext cx="4663440" cy="1691640"/>
          </a:xfrm>
          <a:prstGeom prst="roundRect">
            <a:avLst>
              <a:gd name="adj" fmla="val 3243"/>
            </a:avLst>
          </a:prstGeom>
          <a:solidFill>
            <a:srgbClr val="10293D"/>
          </a:solidFill>
          <a:ln w="12700">
            <a:solidFill>
              <a:srgbClr val="10293D"/>
            </a:solidFill>
            <a:prstDash val="solid"/>
          </a:ln>
        </p:spPr>
      </p:sp>
      <p:sp>
        <p:nvSpPr>
          <p:cNvPr id="11" name="Text 9"/>
          <p:cNvSpPr txBox="1"/>
          <p:nvPr/>
        </p:nvSpPr>
        <p:spPr>
          <a:xfrm>
            <a:off x="603504" y="2944368"/>
            <a:ext cx="4370832" cy="1472184"/>
          </a:xfrm>
          <a:prstGeom prst="rect">
            <a:avLst/>
          </a:prstGeom>
          <a:noFill/>
          <a:ln/>
        </p:spPr>
        <p:txBody>
          <a:bodyPr wrap="square" lIns="0" tIns="0" rIns="0" bIns="0" rtlCol="0" anchor="t"/>
          <a:lstStyle/>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cm = confusion(y_true, y_pred, num_classes)</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stats = summarize(cm)   # accuracy, macro_f1,</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 macro_recall, per_class_recall,</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 per_class_precision, support</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stats['confusion'] = cm.tolist()</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stats['y_pred'] = y_pred      # popped to .npy</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print(f'{phase} set: Average loss: ...')  # unchanged</a:t>
            </a:r>
            <a:endParaRPr lang="en-US" sz="900" dirty="0"/>
          </a:p>
        </p:txBody>
      </p:sp>
      <p:sp>
        <p:nvSpPr>
          <p:cNvPr id="12" name="Shape 10"/>
          <p:cNvSpPr/>
          <p:nvPr/>
        </p:nvSpPr>
        <p:spPr>
          <a:xfrm>
            <a:off x="5349240" y="1088136"/>
            <a:ext cx="3337560" cy="1234440"/>
          </a:xfrm>
          <a:prstGeom prst="roundRect">
            <a:avLst>
              <a:gd name="adj" fmla="val 5185"/>
            </a:avLst>
          </a:prstGeom>
          <a:solidFill>
            <a:srgbClr val="FBEDE6"/>
          </a:solidFill>
          <a:ln w="12700">
            <a:solidFill>
              <a:srgbClr val="FBEDE6"/>
            </a:solidFill>
            <a:prstDash val="solid"/>
          </a:ln>
        </p:spPr>
      </p:sp>
      <p:sp>
        <p:nvSpPr>
          <p:cNvPr id="13" name="Text 11"/>
          <p:cNvSpPr txBox="1"/>
          <p:nvPr/>
        </p:nvSpPr>
        <p:spPr>
          <a:xfrm>
            <a:off x="5513832" y="1188720"/>
            <a:ext cx="300837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Why it was necessary</a:t>
            </a:r>
            <a:endParaRPr lang="en-US" sz="1150" dirty="0"/>
          </a:p>
        </p:txBody>
      </p:sp>
      <p:sp>
        <p:nvSpPr>
          <p:cNvPr id="14" name="Text 12"/>
          <p:cNvSpPr txBox="1"/>
          <p:nvPr/>
        </p:nvSpPr>
        <p:spPr>
          <a:xfrm>
            <a:off x="5513832" y="1435608"/>
            <a:ext cx="3008376" cy="77724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The characteristic failure of retraining is per-class. Overall accuracy can hold while six classes collapse. That is invisible in a scalar.</a:t>
            </a:r>
            <a:endParaRPr lang="en-US" sz="1050" dirty="0"/>
          </a:p>
        </p:txBody>
      </p:sp>
      <p:sp>
        <p:nvSpPr>
          <p:cNvPr id="15" name="Shape 13"/>
          <p:cNvSpPr/>
          <p:nvPr/>
        </p:nvSpPr>
        <p:spPr>
          <a:xfrm>
            <a:off x="5349240" y="2414016"/>
            <a:ext cx="3337560" cy="1143000"/>
          </a:xfrm>
          <a:prstGeom prst="roundRect">
            <a:avLst>
              <a:gd name="adj" fmla="val 5600"/>
            </a:avLst>
          </a:prstGeom>
          <a:solidFill>
            <a:srgbClr val="EEF3F6"/>
          </a:solidFill>
          <a:ln w="12700">
            <a:solidFill>
              <a:srgbClr val="EEF3F6"/>
            </a:solidFill>
            <a:prstDash val="solid"/>
          </a:ln>
        </p:spPr>
      </p:sp>
      <p:sp>
        <p:nvSpPr>
          <p:cNvPr id="16" name="Text 14"/>
          <p:cNvSpPr txBox="1"/>
          <p:nvPr/>
        </p:nvSpPr>
        <p:spPr>
          <a:xfrm>
            <a:off x="5513832" y="2514600"/>
            <a:ext cx="300837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Why the print line is byte-identical</a:t>
            </a:r>
            <a:endParaRPr lang="en-US" sz="1150" dirty="0"/>
          </a:p>
        </p:txBody>
      </p:sp>
      <p:sp>
        <p:nvSpPr>
          <p:cNvPr id="17" name="Text 15"/>
          <p:cNvSpPr txBox="1"/>
          <p:nvPr/>
        </p:nvSpPr>
        <p:spPr>
          <a:xfrm>
            <a:off x="5513832" y="2761488"/>
            <a:ext cx="3008376" cy="68580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webapp/app.py parses logs with a regex on that exact string. Changing it would silently break the dashboard.</a:t>
            </a:r>
            <a:endParaRPr lang="en-US" sz="1050" dirty="0"/>
          </a:p>
        </p:txBody>
      </p:sp>
      <p:sp>
        <p:nvSpPr>
          <p:cNvPr id="18" name="Shape 16"/>
          <p:cNvSpPr/>
          <p:nvPr/>
        </p:nvSpPr>
        <p:spPr>
          <a:xfrm>
            <a:off x="5349240" y="3648456"/>
            <a:ext cx="3337560" cy="877824"/>
          </a:xfrm>
          <a:prstGeom prst="roundRect">
            <a:avLst>
              <a:gd name="adj" fmla="val 7292"/>
            </a:avLst>
          </a:prstGeom>
          <a:solidFill>
            <a:srgbClr val="E7F3EF"/>
          </a:solidFill>
          <a:ln w="12700">
            <a:solidFill>
              <a:srgbClr val="E7F3EF"/>
            </a:solidFill>
            <a:prstDash val="solid"/>
          </a:ln>
        </p:spPr>
      </p:sp>
      <p:sp>
        <p:nvSpPr>
          <p:cNvPr id="19" name="Text 17"/>
          <p:cNvSpPr txBox="1"/>
          <p:nvPr/>
        </p:nvSpPr>
        <p:spPr>
          <a:xfrm>
            <a:off x="5513832" y="3749040"/>
            <a:ext cx="300837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Free correctness check</a:t>
            </a:r>
            <a:endParaRPr lang="en-US" sz="1150" dirty="0"/>
          </a:p>
        </p:txBody>
      </p:sp>
      <p:sp>
        <p:nvSpPr>
          <p:cNvPr id="20" name="Text 18"/>
          <p:cNvSpPr txBox="1"/>
          <p:nvPr/>
        </p:nvSpPr>
        <p:spPr>
          <a:xfrm>
            <a:off x="5513832" y="3995928"/>
            <a:ext cx="3008376" cy="420624"/>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Test set is perfectly balanced, so accuracy must equal macro-recall exactly. It does.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37744"/>
            <a:ext cx="6766560" cy="411480"/>
          </a:xfrm>
          <a:prstGeom prst="rect">
            <a:avLst/>
          </a:prstGeom>
          <a:noFill/>
          <a:ln/>
        </p:spPr>
        <p:txBody>
          <a:bodyPr wrap="square" lIns="0" tIns="0" rIns="0" bIns="0" rtlCol="0" anchor="ctr"/>
          <a:lstStyle/>
          <a:p>
            <a:pPr indent="0" marL="0">
              <a:buNone/>
            </a:pPr>
            <a:r>
              <a:rPr lang="en-US" sz="2500" b="1" dirty="0">
                <a:solidFill>
                  <a:srgbClr val="0C2E45"/>
                </a:solidFill>
                <a:latin typeface="Cambria" pitchFamily="34" charset="0"/>
                <a:ea typeface="Cambria" pitchFamily="34" charset="-122"/>
                <a:cs typeface="Cambria" pitchFamily="34" charset="-120"/>
              </a:rPr>
              <a:t>src/dataset.py — pipeline variants</a:t>
            </a:r>
            <a:endParaRPr lang="en-US" sz="2500" dirty="0"/>
          </a:p>
        </p:txBody>
      </p:sp>
      <p:sp>
        <p:nvSpPr>
          <p:cNvPr id="3" name="Text 1"/>
          <p:cNvSpPr txBox="1"/>
          <p:nvPr/>
        </p:nvSpPr>
        <p:spPr>
          <a:xfrm>
            <a:off x="457200" y="667512"/>
            <a:ext cx="6766560" cy="274320"/>
          </a:xfrm>
          <a:prstGeom prst="rect">
            <a:avLst/>
          </a:prstGeom>
          <a:noFill/>
          <a:ln/>
        </p:spPr>
        <p:txBody>
          <a:bodyPr wrap="square" lIns="0" tIns="0" rIns="0" bIns="0" rtlCol="0" anchor="ctr"/>
          <a:lstStyle/>
          <a:p>
            <a:pPr indent="0" marL="0">
              <a:buNone/>
            </a:pPr>
            <a:r>
              <a:rPr lang="en-US" sz="1200" i="1" dirty="0">
                <a:solidFill>
                  <a:srgbClr val="5A6B76"/>
                </a:solidFill>
                <a:latin typeface="Calibri" pitchFamily="34" charset="0"/>
                <a:ea typeface="Calibri" pitchFamily="34" charset="-122"/>
                <a:cs typeface="Calibri" pitchFamily="34" charset="-120"/>
              </a:rPr>
              <a:t>The change that made the ablation a one-line flag</a:t>
            </a:r>
            <a:endParaRPr lang="en-US" sz="1200" dirty="0"/>
          </a:p>
        </p:txBody>
      </p:sp>
      <p:sp>
        <p:nvSpPr>
          <p:cNvPr id="4" name="Shape 2"/>
          <p:cNvSpPr/>
          <p:nvPr/>
        </p:nvSpPr>
        <p:spPr>
          <a:xfrm>
            <a:off x="7360920" y="274320"/>
            <a:ext cx="1325880" cy="329184"/>
          </a:xfrm>
          <a:prstGeom prst="roundRect">
            <a:avLst>
              <a:gd name="adj" fmla="val 16667"/>
            </a:avLst>
          </a:prstGeom>
          <a:solidFill>
            <a:srgbClr val="1C7293"/>
          </a:solidFill>
          <a:ln w="12700">
            <a:solidFill>
              <a:srgbClr val="1C7293"/>
            </a:solidFill>
            <a:prstDash val="solid"/>
          </a:ln>
        </p:spPr>
      </p:sp>
      <p:sp>
        <p:nvSpPr>
          <p:cNvPr id="5" name="Text 3"/>
          <p:cNvSpPr txBox="1"/>
          <p:nvPr/>
        </p:nvSpPr>
        <p:spPr>
          <a:xfrm>
            <a:off x="7360920" y="274320"/>
            <a:ext cx="132588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REPLACED</a:t>
            </a:r>
            <a:endParaRPr lang="en-US" sz="1000" dirty="0"/>
          </a:p>
        </p:txBody>
      </p:sp>
      <p:sp>
        <p:nvSpPr>
          <p:cNvPr id="6" name="Text 4"/>
          <p:cNvSpPr txBox="1"/>
          <p:nvPr/>
        </p:nvSpPr>
        <p:spPr>
          <a:xfrm>
            <a:off x="457200" y="1088136"/>
            <a:ext cx="4892040" cy="219456"/>
          </a:xfrm>
          <a:prstGeom prst="rect">
            <a:avLst/>
          </a:prstGeom>
          <a:noFill/>
          <a:ln/>
        </p:spPr>
        <p:txBody>
          <a:bodyPr wrap="square" lIns="0" tIns="0" rIns="0" bIns="0" rtlCol="0" anchor="ctr"/>
          <a:lstStyle/>
          <a:p>
            <a:pPr indent="0" marL="0">
              <a:buNone/>
            </a:pPr>
            <a:r>
              <a:rPr lang="en-US" sz="1000" b="1" dirty="0">
                <a:solidFill>
                  <a:srgbClr val="5A6B76"/>
                </a:solidFill>
                <a:latin typeface="Calibri" pitchFamily="34" charset="0"/>
                <a:ea typeface="Calibri" pitchFamily="34" charset="-122"/>
                <a:cs typeface="Calibri" pitchFamily="34" charset="-120"/>
              </a:rPr>
              <a:t>Named arms, each with its own automatic cache key</a:t>
            </a:r>
            <a:endParaRPr lang="en-US" sz="1000" dirty="0"/>
          </a:p>
        </p:txBody>
      </p:sp>
      <p:sp>
        <p:nvSpPr>
          <p:cNvPr id="7" name="Shape 5"/>
          <p:cNvSpPr/>
          <p:nvPr/>
        </p:nvSpPr>
        <p:spPr>
          <a:xfrm>
            <a:off x="457200" y="1325880"/>
            <a:ext cx="4892040" cy="1828800"/>
          </a:xfrm>
          <a:prstGeom prst="roundRect">
            <a:avLst>
              <a:gd name="adj" fmla="val 3000"/>
            </a:avLst>
          </a:prstGeom>
          <a:solidFill>
            <a:srgbClr val="10293D"/>
          </a:solidFill>
          <a:ln w="12700">
            <a:solidFill>
              <a:srgbClr val="10293D"/>
            </a:solidFill>
            <a:prstDash val="solid"/>
          </a:ln>
        </p:spPr>
      </p:sp>
      <p:sp>
        <p:nvSpPr>
          <p:cNvPr id="8" name="Text 6"/>
          <p:cNvSpPr txBox="1"/>
          <p:nvPr/>
        </p:nvSpPr>
        <p:spPr>
          <a:xfrm>
            <a:off x="603504" y="1435608"/>
            <a:ext cx="4599432" cy="1609344"/>
          </a:xfrm>
          <a:prstGeom prst="rect">
            <a:avLst/>
          </a:prstGeom>
          <a:noFill/>
          <a:ln/>
        </p:spPr>
        <p:txBody>
          <a:bodyPr wrap="square" lIns="0" tIns="0" rIns="0" bIns="0" rtlCol="0" anchor="t"/>
          <a:lstStyle/>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PIPELINE_VARIANTS = {</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'minmax_only':  DEFAULT_PIPELINE,        # current</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'none':         (),</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'legacy_full':  LEGACY_FULL_PIPELINE,    # original 4</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'no_aspls':     _without(LEGACY_FULL, 'ASPLS'),</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'no_despike':   _without(LEGACY_FULL, 'WhitakerHayes'),</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'no_savgol':    _without(LEGACY_FULL, 'SavGol'),</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a:t>
            </a:r>
            <a:endParaRPr lang="en-US" sz="900" dirty="0"/>
          </a:p>
        </p:txBody>
      </p:sp>
      <p:sp>
        <p:nvSpPr>
          <p:cNvPr id="9" name="Text 7"/>
          <p:cNvSpPr txBox="1"/>
          <p:nvPr/>
        </p:nvSpPr>
        <p:spPr>
          <a:xfrm>
            <a:off x="457200" y="3099816"/>
            <a:ext cx="4892040" cy="219456"/>
          </a:xfrm>
          <a:prstGeom prst="rect">
            <a:avLst/>
          </a:prstGeom>
          <a:noFill/>
          <a:ln/>
        </p:spPr>
        <p:txBody>
          <a:bodyPr wrap="square" lIns="0" tIns="0" rIns="0" bIns="0" rtlCol="0" anchor="ctr"/>
          <a:lstStyle/>
          <a:p>
            <a:pPr indent="0" marL="0">
              <a:buNone/>
            </a:pPr>
            <a:r>
              <a:rPr lang="en-US" sz="1000" b="1" dirty="0">
                <a:solidFill>
                  <a:srgbClr val="5A6B76"/>
                </a:solidFill>
                <a:latin typeface="Calibri" pitchFamily="34" charset="0"/>
                <a:ea typeface="Calibri" pitchFamily="34" charset="-122"/>
                <a:cs typeface="Calibri" pitchFamily="34" charset="-120"/>
              </a:rPr>
              <a:t>Threaded once, applies to all three splits</a:t>
            </a:r>
            <a:endParaRPr lang="en-US" sz="1000" dirty="0"/>
          </a:p>
        </p:txBody>
      </p:sp>
      <p:sp>
        <p:nvSpPr>
          <p:cNvPr id="10" name="Shape 8"/>
          <p:cNvSpPr/>
          <p:nvPr/>
        </p:nvSpPr>
        <p:spPr>
          <a:xfrm>
            <a:off x="457200" y="3337560"/>
            <a:ext cx="4892040" cy="1188720"/>
          </a:xfrm>
          <a:prstGeom prst="roundRect">
            <a:avLst>
              <a:gd name="adj" fmla="val 4615"/>
            </a:avLst>
          </a:prstGeom>
          <a:solidFill>
            <a:srgbClr val="10293D"/>
          </a:solidFill>
          <a:ln w="12700">
            <a:solidFill>
              <a:srgbClr val="10293D"/>
            </a:solidFill>
            <a:prstDash val="solid"/>
          </a:ln>
        </p:spPr>
      </p:sp>
      <p:sp>
        <p:nvSpPr>
          <p:cNvPr id="11" name="Text 9"/>
          <p:cNvSpPr txBox="1"/>
          <p:nvPr/>
        </p:nvSpPr>
        <p:spPr>
          <a:xfrm>
            <a:off x="603504" y="3447288"/>
            <a:ext cx="4599432" cy="969264"/>
          </a:xfrm>
          <a:prstGeom prst="rect">
            <a:avLst/>
          </a:prstGeom>
          <a:noFill/>
          <a:ln/>
        </p:spPr>
        <p:txBody>
          <a:bodyPr wrap="square" lIns="0" tIns="0" rIns="0" bIns="0" rtlCol="0" anchor="t"/>
          <a:lstStyle/>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ds_kwargs = dict(cache_dir=args.cache_dir,</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use_cache=not args.no_cache,</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pipeline_spec=PIPELINE_VARIANTS[args.pipeline])</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reference, finetune and test all take **ds_kwargs</a:t>
            </a:r>
            <a:endParaRPr lang="en-US" sz="900" dirty="0"/>
          </a:p>
        </p:txBody>
      </p:sp>
      <p:sp>
        <p:nvSpPr>
          <p:cNvPr id="12" name="Shape 10"/>
          <p:cNvSpPr/>
          <p:nvPr/>
        </p:nvSpPr>
        <p:spPr>
          <a:xfrm>
            <a:off x="5577840" y="1088136"/>
            <a:ext cx="3108960" cy="1371600"/>
          </a:xfrm>
          <a:prstGeom prst="roundRect">
            <a:avLst>
              <a:gd name="adj" fmla="val 4667"/>
            </a:avLst>
          </a:prstGeom>
          <a:solidFill>
            <a:srgbClr val="EEF3F6"/>
          </a:solidFill>
          <a:ln w="12700">
            <a:solidFill>
              <a:srgbClr val="EEF3F6"/>
            </a:solidFill>
            <a:prstDash val="solid"/>
          </a:ln>
        </p:spPr>
      </p:sp>
      <p:sp>
        <p:nvSpPr>
          <p:cNvPr id="13" name="Text 11"/>
          <p:cNvSpPr txBox="1"/>
          <p:nvPr/>
        </p:nvSpPr>
        <p:spPr>
          <a:xfrm>
            <a:off x="5742432" y="1188720"/>
            <a:ext cx="277977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Why all three splits</a:t>
            </a:r>
            <a:endParaRPr lang="en-US" sz="1150" dirty="0"/>
          </a:p>
        </p:txBody>
      </p:sp>
      <p:sp>
        <p:nvSpPr>
          <p:cNvPr id="14" name="Text 12"/>
          <p:cNvSpPr txBox="1"/>
          <p:nvPr/>
        </p:nvSpPr>
        <p:spPr>
          <a:xfrm>
            <a:off x="5742432" y="1435608"/>
            <a:ext cx="2779776" cy="91440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Preprocessing applied to train but not test would be a confound, not an ablation. One kwargs dict guarantees consistency.</a:t>
            </a:r>
            <a:endParaRPr lang="en-US" sz="1050" dirty="0"/>
          </a:p>
        </p:txBody>
      </p:sp>
      <p:sp>
        <p:nvSpPr>
          <p:cNvPr id="15" name="Shape 13"/>
          <p:cNvSpPr/>
          <p:nvPr/>
        </p:nvSpPr>
        <p:spPr>
          <a:xfrm>
            <a:off x="5577840" y="2551176"/>
            <a:ext cx="3108960" cy="1051560"/>
          </a:xfrm>
          <a:prstGeom prst="roundRect">
            <a:avLst>
              <a:gd name="adj" fmla="val 6087"/>
            </a:avLst>
          </a:prstGeom>
          <a:solidFill>
            <a:srgbClr val="EEF3F6"/>
          </a:solidFill>
          <a:ln w="12700">
            <a:solidFill>
              <a:srgbClr val="EEF3F6"/>
            </a:solidFill>
            <a:prstDash val="solid"/>
          </a:ln>
        </p:spPr>
      </p:sp>
      <p:sp>
        <p:nvSpPr>
          <p:cNvPr id="16" name="Text 14"/>
          <p:cNvSpPr txBox="1"/>
          <p:nvPr/>
        </p:nvSpPr>
        <p:spPr>
          <a:xfrm>
            <a:off x="5742432" y="2651760"/>
            <a:ext cx="277977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Why legacy_full is retained</a:t>
            </a:r>
            <a:endParaRPr lang="en-US" sz="1150" dirty="0"/>
          </a:p>
        </p:txBody>
      </p:sp>
      <p:sp>
        <p:nvSpPr>
          <p:cNvPr id="17" name="Text 15"/>
          <p:cNvSpPr txBox="1"/>
          <p:nvPr/>
        </p:nvSpPr>
        <p:spPr>
          <a:xfrm>
            <a:off x="5742432" y="2898648"/>
            <a:ext cx="2779776" cy="59436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So every historical number stays reproducible. The name changed from 'full' deliberately: a 4-step pipeline costing 8 points should not be called complete.</a:t>
            </a:r>
            <a:endParaRPr lang="en-US" sz="1050" dirty="0"/>
          </a:p>
        </p:txBody>
      </p:sp>
      <p:sp>
        <p:nvSpPr>
          <p:cNvPr id="18" name="Shape 16"/>
          <p:cNvSpPr/>
          <p:nvPr/>
        </p:nvSpPr>
        <p:spPr>
          <a:xfrm>
            <a:off x="5577840" y="3694176"/>
            <a:ext cx="3108960" cy="832104"/>
          </a:xfrm>
          <a:prstGeom prst="roundRect">
            <a:avLst>
              <a:gd name="adj" fmla="val 7692"/>
            </a:avLst>
          </a:prstGeom>
          <a:solidFill>
            <a:srgbClr val="E7F3EF"/>
          </a:solidFill>
          <a:ln w="12700">
            <a:solidFill>
              <a:srgbClr val="E7F3EF"/>
            </a:solidFill>
            <a:prstDash val="solid"/>
          </a:ln>
        </p:spPr>
      </p:sp>
      <p:sp>
        <p:nvSpPr>
          <p:cNvPr id="19" name="Text 17"/>
          <p:cNvSpPr txBox="1"/>
          <p:nvPr/>
        </p:nvSpPr>
        <p:spPr>
          <a:xfrm>
            <a:off x="5742432" y="3794760"/>
            <a:ext cx="277977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choices= on argparse</a:t>
            </a:r>
            <a:endParaRPr lang="en-US" sz="1150" dirty="0"/>
          </a:p>
        </p:txBody>
      </p:sp>
      <p:sp>
        <p:nvSpPr>
          <p:cNvPr id="20" name="Text 18"/>
          <p:cNvSpPr txBox="1"/>
          <p:nvPr/>
        </p:nvSpPr>
        <p:spPr>
          <a:xfrm>
            <a:off x="5742432" y="4041648"/>
            <a:ext cx="2779776" cy="374904"/>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A typo fails at parse time rather than silently running the wrong arm.</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37744"/>
            <a:ext cx="6766560" cy="411480"/>
          </a:xfrm>
          <a:prstGeom prst="rect">
            <a:avLst/>
          </a:prstGeom>
          <a:noFill/>
          <a:ln/>
        </p:spPr>
        <p:txBody>
          <a:bodyPr wrap="square" lIns="0" tIns="0" rIns="0" bIns="0" rtlCol="0" anchor="ctr"/>
          <a:lstStyle/>
          <a:p>
            <a:pPr indent="0" marL="0">
              <a:buNone/>
            </a:pPr>
            <a:r>
              <a:rPr lang="en-US" sz="2500" b="1" dirty="0">
                <a:solidFill>
                  <a:srgbClr val="0C2E45"/>
                </a:solidFill>
                <a:latin typeface="Cambria" pitchFamily="34" charset="0"/>
                <a:ea typeface="Cambria" pitchFamily="34" charset="-122"/>
                <a:cs typeface="Cambria" pitchFamily="34" charset="-120"/>
              </a:rPr>
              <a:t>The one change that moved accuracy</a:t>
            </a:r>
            <a:endParaRPr lang="en-US" sz="2500" dirty="0"/>
          </a:p>
        </p:txBody>
      </p:sp>
      <p:sp>
        <p:nvSpPr>
          <p:cNvPr id="3" name="Text 1"/>
          <p:cNvSpPr txBox="1"/>
          <p:nvPr/>
        </p:nvSpPr>
        <p:spPr>
          <a:xfrm>
            <a:off x="457200" y="667512"/>
            <a:ext cx="6766560" cy="274320"/>
          </a:xfrm>
          <a:prstGeom prst="rect">
            <a:avLst/>
          </a:prstGeom>
          <a:noFill/>
          <a:ln/>
        </p:spPr>
        <p:txBody>
          <a:bodyPr wrap="square" lIns="0" tIns="0" rIns="0" bIns="0" rtlCol="0" anchor="ctr"/>
          <a:lstStyle/>
          <a:p>
            <a:pPr indent="0" marL="0">
              <a:buNone/>
            </a:pPr>
            <a:r>
              <a:rPr lang="en-US" sz="1200" i="1" dirty="0">
                <a:solidFill>
                  <a:srgbClr val="5A6B76"/>
                </a:solidFill>
                <a:latin typeface="Calibri" pitchFamily="34" charset="0"/>
                <a:ea typeface="Calibri" pitchFamily="34" charset="-122"/>
                <a:cs typeface="Calibri" pitchFamily="34" charset="-120"/>
              </a:rPr>
              <a:t>Delete ASPLS baseline correction from the default pipeline</a:t>
            </a:r>
            <a:endParaRPr lang="en-US" sz="1200" dirty="0"/>
          </a:p>
        </p:txBody>
      </p:sp>
      <p:sp>
        <p:nvSpPr>
          <p:cNvPr id="4" name="Shape 2"/>
          <p:cNvSpPr/>
          <p:nvPr/>
        </p:nvSpPr>
        <p:spPr>
          <a:xfrm>
            <a:off x="7360920" y="274320"/>
            <a:ext cx="1325880" cy="329184"/>
          </a:xfrm>
          <a:prstGeom prst="roundRect">
            <a:avLst>
              <a:gd name="adj" fmla="val 16667"/>
            </a:avLst>
          </a:prstGeom>
          <a:solidFill>
            <a:srgbClr val="3F9E86"/>
          </a:solidFill>
          <a:ln w="12700">
            <a:solidFill>
              <a:srgbClr val="3F9E86"/>
            </a:solidFill>
            <a:prstDash val="solid"/>
          </a:ln>
        </p:spPr>
      </p:sp>
      <p:sp>
        <p:nvSpPr>
          <p:cNvPr id="5" name="Text 3"/>
          <p:cNvSpPr txBox="1"/>
          <p:nvPr/>
        </p:nvSpPr>
        <p:spPr>
          <a:xfrm>
            <a:off x="7360920" y="274320"/>
            <a:ext cx="132588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+9.11 PTS</a:t>
            </a:r>
            <a:endParaRPr lang="en-US" sz="1000" dirty="0"/>
          </a:p>
        </p:txBody>
      </p:sp>
      <p:sp>
        <p:nvSpPr>
          <p:cNvPr id="6" name="Text 4"/>
          <p:cNvSpPr txBox="1"/>
          <p:nvPr/>
        </p:nvSpPr>
        <p:spPr>
          <a:xfrm>
            <a:off x="457200" y="1042416"/>
            <a:ext cx="4846320" cy="219456"/>
          </a:xfrm>
          <a:prstGeom prst="rect">
            <a:avLst/>
          </a:prstGeom>
          <a:noFill/>
          <a:ln/>
        </p:spPr>
        <p:txBody>
          <a:bodyPr wrap="square" lIns="0" tIns="0" rIns="0" bIns="0" rtlCol="0" anchor="ctr"/>
          <a:lstStyle/>
          <a:p>
            <a:pPr indent="0" marL="0">
              <a:buNone/>
            </a:pPr>
            <a:r>
              <a:rPr lang="en-US" sz="1000" b="1" dirty="0">
                <a:solidFill>
                  <a:srgbClr val="5A6B76"/>
                </a:solidFill>
                <a:latin typeface="Calibri" pitchFamily="34" charset="0"/>
                <a:ea typeface="Calibri" pitchFamily="34" charset="-122"/>
                <a:cs typeface="Calibri" pitchFamily="34" charset="-120"/>
              </a:rPr>
              <a:t>src/dataset.py — the diff that mattered</a:t>
            </a:r>
            <a:endParaRPr lang="en-US" sz="1000" dirty="0"/>
          </a:p>
        </p:txBody>
      </p:sp>
      <p:sp>
        <p:nvSpPr>
          <p:cNvPr id="7" name="Shape 5"/>
          <p:cNvSpPr/>
          <p:nvPr/>
        </p:nvSpPr>
        <p:spPr>
          <a:xfrm>
            <a:off x="457200" y="1280160"/>
            <a:ext cx="4846320" cy="1051560"/>
          </a:xfrm>
          <a:prstGeom prst="roundRect">
            <a:avLst>
              <a:gd name="adj" fmla="val 5217"/>
            </a:avLst>
          </a:prstGeom>
          <a:solidFill>
            <a:srgbClr val="10293D"/>
          </a:solidFill>
          <a:ln w="12700">
            <a:solidFill>
              <a:srgbClr val="10293D"/>
            </a:solidFill>
            <a:prstDash val="solid"/>
          </a:ln>
        </p:spPr>
      </p:sp>
      <p:sp>
        <p:nvSpPr>
          <p:cNvPr id="8" name="Text 6"/>
          <p:cNvSpPr txBox="1"/>
          <p:nvPr/>
        </p:nvSpPr>
        <p:spPr>
          <a:xfrm>
            <a:off x="603504" y="1389888"/>
            <a:ext cx="4553712" cy="832104"/>
          </a:xfrm>
          <a:prstGeom prst="rect">
            <a:avLst/>
          </a:prstGeom>
          <a:noFill/>
          <a:ln/>
        </p:spPr>
        <p:txBody>
          <a:bodyPr wrap="square" lIns="0" tIns="0" rIns="0" bIns="0" rtlCol="0" anchor="t"/>
          <a:lstStyle/>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{'module':'baseline','method':'ASPLS','kwargs':{}},</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{'module':'despike','method':'WhitakerHayes',...},</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{'module':'denoise','method':'SavGol',...},</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{'module':'normalise','method':'MinMax','kwargs':{}},</a:t>
            </a:r>
            <a:endParaRPr lang="en-US" sz="900" dirty="0"/>
          </a:p>
        </p:txBody>
      </p:sp>
      <p:sp>
        <p:nvSpPr>
          <p:cNvPr id="9" name="Shape 7"/>
          <p:cNvSpPr/>
          <p:nvPr/>
        </p:nvSpPr>
        <p:spPr>
          <a:xfrm>
            <a:off x="457200" y="2514600"/>
            <a:ext cx="4846320" cy="1188720"/>
          </a:xfrm>
          <a:prstGeom prst="roundRect">
            <a:avLst>
              <a:gd name="adj" fmla="val 5385"/>
            </a:avLst>
          </a:prstGeom>
          <a:solidFill>
            <a:srgbClr val="FBEDE6"/>
          </a:solidFill>
          <a:ln w="12700">
            <a:solidFill>
              <a:srgbClr val="FBEDE6"/>
            </a:solidFill>
            <a:prstDash val="solid"/>
          </a:ln>
        </p:spPr>
      </p:sp>
      <p:sp>
        <p:nvSpPr>
          <p:cNvPr id="10" name="Text 8"/>
          <p:cNvSpPr txBox="1"/>
          <p:nvPr/>
        </p:nvSpPr>
        <p:spPr>
          <a:xfrm>
            <a:off x="621792" y="2615184"/>
            <a:ext cx="451713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Why it was destroying signal</a:t>
            </a:r>
            <a:endParaRPr lang="en-US" sz="1150" dirty="0"/>
          </a:p>
        </p:txBody>
      </p:sp>
      <p:sp>
        <p:nvSpPr>
          <p:cNvPr id="11" name="Text 9"/>
          <p:cNvSpPr txBox="1"/>
          <p:nvPr/>
        </p:nvSpPr>
        <p:spPr>
          <a:xfrm>
            <a:off x="621792" y="2862072"/>
            <a:ext cx="4517136" cy="73152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Measured: X_reference already lies in [0, 1] on disk. The publishers had baseline-corrected it. ASPLS then fits a smooth curve to what is largely peak envelope and subtracts it, removing real band area.</a:t>
            </a:r>
            <a:endParaRPr lang="en-US" sz="1050" dirty="0"/>
          </a:p>
        </p:txBody>
      </p:sp>
      <p:sp>
        <p:nvSpPr>
          <p:cNvPr id="12" name="Shape 10"/>
          <p:cNvSpPr/>
          <p:nvPr/>
        </p:nvSpPr>
        <p:spPr>
          <a:xfrm>
            <a:off x="457200" y="3794760"/>
            <a:ext cx="4846320" cy="731520"/>
          </a:xfrm>
          <a:prstGeom prst="roundRect">
            <a:avLst>
              <a:gd name="adj" fmla="val 8750"/>
            </a:avLst>
          </a:prstGeom>
          <a:solidFill>
            <a:srgbClr val="EEF3F6"/>
          </a:solidFill>
          <a:ln w="12700">
            <a:solidFill>
              <a:srgbClr val="EEF3F6"/>
            </a:solidFill>
            <a:prstDash val="solid"/>
          </a:ln>
        </p:spPr>
      </p:sp>
      <p:sp>
        <p:nvSpPr>
          <p:cNvPr id="13" name="Text 11"/>
          <p:cNvSpPr txBox="1"/>
          <p:nvPr/>
        </p:nvSpPr>
        <p:spPr>
          <a:xfrm>
            <a:off x="621792" y="3895344"/>
            <a:ext cx="451713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Why nobody caught it</a:t>
            </a:r>
            <a:endParaRPr lang="en-US" sz="1150" dirty="0"/>
          </a:p>
        </p:txBody>
      </p:sp>
      <p:sp>
        <p:nvSpPr>
          <p:cNvPr id="14" name="Text 12"/>
          <p:cNvSpPr txBox="1"/>
          <p:nvPr/>
        </p:nvSpPr>
        <p:spPr>
          <a:xfrm>
            <a:off x="621792" y="4142232"/>
            <a:ext cx="4517136" cy="27432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docs/3_PREPROCESSING.md justified each step correctly in general. The dataset-specific assumption was never checked.</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532120" y="1280160"/>
          <a:ext cx="3154680" cy="914400"/>
        </p:xfrm>
        <a:graphic>
          <a:graphicData uri="http://schemas.openxmlformats.org/drawingml/2006/table">
            <a:tbl>
              <a:tblPr/>
              <a:tblGrid>
                <a:gridCol w="1508760"/>
                <a:gridCol w="914400"/>
                <a:gridCol w="731520"/>
              </a:tblGrid>
              <a:tr h="278892">
                <a:tc>
                  <a:txBody>
                    <a:bodyPr/>
                    <a:lstStyle/>
                    <a:p>
                      <a:pPr indent="0" marL="0">
                        <a:buNone/>
                      </a:pPr>
                      <a:r>
                        <a:rPr lang="en-US" sz="1000" b="1" dirty="0">
                          <a:solidFill>
                            <a:srgbClr val="22333F"/>
                          </a:solidFill>
                          <a:latin typeface="Calibri" pitchFamily="34" charset="0"/>
                          <a:ea typeface="Calibri" pitchFamily="34" charset="-122"/>
                          <a:cs typeface="Calibri" pitchFamily="34" charset="-120"/>
                        </a:rPr>
                        <a:t>Arm</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b="1" dirty="0">
                          <a:solidFill>
                            <a:srgbClr val="22333F"/>
                          </a:solidFill>
                          <a:latin typeface="Calibri" pitchFamily="34" charset="0"/>
                          <a:ea typeface="Calibri" pitchFamily="34" charset="-122"/>
                          <a:cs typeface="Calibri" pitchFamily="34" charset="-120"/>
                        </a:rPr>
                        <a:t>Test acc</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b="1" dirty="0">
                          <a:solidFill>
                            <a:srgbClr val="22333F"/>
                          </a:solidFill>
                          <a:latin typeface="Calibri" pitchFamily="34" charset="0"/>
                          <a:ea typeface="Calibri" pitchFamily="34" charset="-122"/>
                          <a:cs typeface="Calibri" pitchFamily="34" charset="-120"/>
                        </a:rPr>
                        <a:t>sd</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78892">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legacy_full</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74.78</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1.04</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78892">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no_despike</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74.04</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1.28</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78892">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no_savgol</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75.64</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0.56</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78892">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no_aspls</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82.39</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0.53</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78892">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83.56</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0.53</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78892">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minmax_only</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83.89</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1000" dirty="0">
                          <a:solidFill>
                            <a:srgbClr val="22333F"/>
                          </a:solidFill>
                          <a:latin typeface="Calibri" pitchFamily="34" charset="0"/>
                          <a:ea typeface="Calibri" pitchFamily="34" charset="-122"/>
                          <a:cs typeface="Calibri" pitchFamily="34" charset="-120"/>
                        </a:rPr>
                        <a:t>0.33</a:t>
                      </a:r>
                      <a:endParaRPr lang="en-US" sz="100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bl>
          </a:graphicData>
        </a:graphic>
      </p:graphicFrame>
      <p:sp>
        <p:nvSpPr>
          <p:cNvPr id="16" name="Shape 13"/>
          <p:cNvSpPr/>
          <p:nvPr/>
        </p:nvSpPr>
        <p:spPr>
          <a:xfrm>
            <a:off x="5532120" y="3291840"/>
            <a:ext cx="3154680" cy="1234440"/>
          </a:xfrm>
          <a:prstGeom prst="roundRect">
            <a:avLst>
              <a:gd name="adj" fmla="val 5185"/>
            </a:avLst>
          </a:prstGeom>
          <a:solidFill>
            <a:srgbClr val="E7F3EF"/>
          </a:solidFill>
          <a:ln w="12700">
            <a:solidFill>
              <a:srgbClr val="E7F3EF"/>
            </a:solidFill>
            <a:prstDash val="solid"/>
          </a:ln>
        </p:spPr>
      </p:sp>
      <p:sp>
        <p:nvSpPr>
          <p:cNvPr id="17" name="Text 14"/>
          <p:cNvSpPr txBox="1"/>
          <p:nvPr/>
        </p:nvSpPr>
        <p:spPr>
          <a:xfrm>
            <a:off x="5696712" y="3392424"/>
            <a:ext cx="282549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Evidence</a:t>
            </a:r>
            <a:endParaRPr lang="en-US" sz="1150" dirty="0"/>
          </a:p>
        </p:txBody>
      </p:sp>
      <p:sp>
        <p:nvSpPr>
          <p:cNvPr id="18" name="Text 15"/>
          <p:cNvSpPr txBox="1"/>
          <p:nvPr/>
        </p:nvSpPr>
        <p:spPr>
          <a:xfrm>
            <a:off x="5696712" y="3639312"/>
            <a:ext cx="2825496" cy="77724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Paired, 3 seeds: +7.61 pts [+3.71, +11.51]. Pooled McNemar 1261 vs 576, p = 2.5e-57. Variance also fell, 1.04 sd to 0.33.</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37744"/>
            <a:ext cx="6766560" cy="411480"/>
          </a:xfrm>
          <a:prstGeom prst="rect">
            <a:avLst/>
          </a:prstGeom>
          <a:noFill/>
          <a:ln/>
        </p:spPr>
        <p:txBody>
          <a:bodyPr wrap="square" lIns="0" tIns="0" rIns="0" bIns="0" rtlCol="0" anchor="ctr"/>
          <a:lstStyle/>
          <a:p>
            <a:pPr indent="0" marL="0">
              <a:buNone/>
            </a:pPr>
            <a:r>
              <a:rPr lang="en-US" sz="2500" b="1" dirty="0">
                <a:solidFill>
                  <a:srgbClr val="0C2E45"/>
                </a:solidFill>
                <a:latin typeface="Cambria" pitchFamily="34" charset="0"/>
                <a:ea typeface="Cambria" pitchFamily="34" charset="-122"/>
                <a:cs typeface="Cambria" pitchFamily="34" charset="-120"/>
              </a:rPr>
              <a:t>Two guards in src/dataset.py</a:t>
            </a:r>
            <a:endParaRPr lang="en-US" sz="2500" dirty="0"/>
          </a:p>
        </p:txBody>
      </p:sp>
      <p:sp>
        <p:nvSpPr>
          <p:cNvPr id="3" name="Text 1"/>
          <p:cNvSpPr txBox="1"/>
          <p:nvPr/>
        </p:nvSpPr>
        <p:spPr>
          <a:xfrm>
            <a:off x="457200" y="667512"/>
            <a:ext cx="6766560" cy="274320"/>
          </a:xfrm>
          <a:prstGeom prst="rect">
            <a:avLst/>
          </a:prstGeom>
          <a:noFill/>
          <a:ln/>
        </p:spPr>
        <p:txBody>
          <a:bodyPr wrap="square" lIns="0" tIns="0" rIns="0" bIns="0" rtlCol="0" anchor="ctr"/>
          <a:lstStyle/>
          <a:p>
            <a:pPr indent="0" marL="0">
              <a:buNone/>
            </a:pPr>
            <a:r>
              <a:rPr lang="en-US" sz="1200" i="1" dirty="0">
                <a:solidFill>
                  <a:srgbClr val="5A6B76"/>
                </a:solidFill>
                <a:latin typeface="Calibri" pitchFamily="34" charset="0"/>
                <a:ea typeface="Calibri" pitchFamily="34" charset="-122"/>
                <a:cs typeface="Calibri" pitchFamily="34" charset="-120"/>
              </a:rPr>
              <a:t>One I got right, one I got wrong and had to redesign</a:t>
            </a:r>
            <a:endParaRPr lang="en-US" sz="1200" dirty="0"/>
          </a:p>
        </p:txBody>
      </p:sp>
      <p:sp>
        <p:nvSpPr>
          <p:cNvPr id="4" name="Shape 2"/>
          <p:cNvSpPr/>
          <p:nvPr/>
        </p:nvSpPr>
        <p:spPr>
          <a:xfrm>
            <a:off x="7360920" y="274320"/>
            <a:ext cx="1325880" cy="329184"/>
          </a:xfrm>
          <a:prstGeom prst="roundRect">
            <a:avLst>
              <a:gd name="adj" fmla="val 16667"/>
            </a:avLst>
          </a:prstGeom>
          <a:solidFill>
            <a:srgbClr val="B8863B"/>
          </a:solidFill>
          <a:ln w="12700">
            <a:solidFill>
              <a:srgbClr val="B8863B"/>
            </a:solidFill>
            <a:prstDash val="solid"/>
          </a:ln>
        </p:spPr>
      </p:sp>
      <p:sp>
        <p:nvSpPr>
          <p:cNvPr id="5" name="Text 3"/>
          <p:cNvSpPr txBox="1"/>
          <p:nvPr/>
        </p:nvSpPr>
        <p:spPr>
          <a:xfrm>
            <a:off x="7360920" y="274320"/>
            <a:ext cx="132588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CORRECTNESS</a:t>
            </a:r>
            <a:endParaRPr lang="en-US" sz="1000" dirty="0"/>
          </a:p>
        </p:txBody>
      </p:sp>
      <p:sp>
        <p:nvSpPr>
          <p:cNvPr id="6" name="Text 4"/>
          <p:cNvSpPr txBox="1"/>
          <p:nvPr/>
        </p:nvSpPr>
        <p:spPr>
          <a:xfrm>
            <a:off x="457200" y="1060704"/>
            <a:ext cx="4206240" cy="219456"/>
          </a:xfrm>
          <a:prstGeom prst="rect">
            <a:avLst/>
          </a:prstGeom>
          <a:noFill/>
          <a:ln/>
        </p:spPr>
        <p:txBody>
          <a:bodyPr wrap="square" lIns="0" tIns="0" rIns="0" bIns="0" rtlCol="0" anchor="ctr"/>
          <a:lstStyle/>
          <a:p>
            <a:pPr indent="0" marL="0">
              <a:buNone/>
            </a:pPr>
            <a:r>
              <a:rPr lang="en-US" sz="1000" b="1" dirty="0">
                <a:solidFill>
                  <a:srgbClr val="5A6B76"/>
                </a:solidFill>
                <a:latin typeface="Calibri" pitchFamily="34" charset="0"/>
                <a:ea typeface="Calibri" pitchFamily="34" charset="-122"/>
                <a:cs typeface="Calibri" pitchFamily="34" charset="-120"/>
              </a:rPr>
              <a:t>Guard 1 — unseen label values</a:t>
            </a:r>
            <a:endParaRPr lang="en-US" sz="1000" dirty="0"/>
          </a:p>
        </p:txBody>
      </p:sp>
      <p:sp>
        <p:nvSpPr>
          <p:cNvPr id="7" name="Shape 5"/>
          <p:cNvSpPr/>
          <p:nvPr/>
        </p:nvSpPr>
        <p:spPr>
          <a:xfrm>
            <a:off x="457200" y="1298448"/>
            <a:ext cx="4206240" cy="1371600"/>
          </a:xfrm>
          <a:prstGeom prst="roundRect">
            <a:avLst>
              <a:gd name="adj" fmla="val 4000"/>
            </a:avLst>
          </a:prstGeom>
          <a:solidFill>
            <a:srgbClr val="10293D"/>
          </a:solidFill>
          <a:ln w="12700">
            <a:solidFill>
              <a:srgbClr val="10293D"/>
            </a:solidFill>
            <a:prstDash val="solid"/>
          </a:ln>
        </p:spPr>
      </p:sp>
      <p:sp>
        <p:nvSpPr>
          <p:cNvPr id="8" name="Text 6"/>
          <p:cNvSpPr txBox="1"/>
          <p:nvPr/>
        </p:nvSpPr>
        <p:spPr>
          <a:xfrm>
            <a:off x="603504" y="1408176"/>
            <a:ext cx="3913632" cy="1152144"/>
          </a:xfrm>
          <a:prstGeom prst="rect">
            <a:avLst/>
          </a:prstGeom>
          <a:noFill/>
          <a:ln/>
        </p:spPr>
        <p:txBody>
          <a:bodyPr wrap="square" lIns="0" tIns="0" rIns="0" bIns="0" rtlCol="0" anchor="t"/>
          <a:lstStyle/>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unseen = [u for u in np.unique(raw_y)</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if u not in self.label_mapping]</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if unseen and on_unseen == 'error':</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raise ValueError(f'labels absent from mapping: '</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f'{counts}')</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was: print('Dropped N samples'); continue</a:t>
            </a:r>
            <a:endParaRPr lang="en-US" sz="900" dirty="0"/>
          </a:p>
        </p:txBody>
      </p:sp>
      <p:sp>
        <p:nvSpPr>
          <p:cNvPr id="9" name="Text 7"/>
          <p:cNvSpPr txBox="1"/>
          <p:nvPr/>
        </p:nvSpPr>
        <p:spPr>
          <a:xfrm>
            <a:off x="457200" y="2916936"/>
            <a:ext cx="4206240" cy="219456"/>
          </a:xfrm>
          <a:prstGeom prst="rect">
            <a:avLst/>
          </a:prstGeom>
          <a:noFill/>
          <a:ln/>
        </p:spPr>
        <p:txBody>
          <a:bodyPr wrap="square" lIns="0" tIns="0" rIns="0" bIns="0" rtlCol="0" anchor="ctr"/>
          <a:lstStyle/>
          <a:p>
            <a:pPr indent="0" marL="0">
              <a:buNone/>
            </a:pPr>
            <a:r>
              <a:rPr lang="en-US" sz="1000" b="1" dirty="0">
                <a:solidFill>
                  <a:srgbClr val="5A6B76"/>
                </a:solidFill>
                <a:latin typeface="Calibri" pitchFamily="34" charset="0"/>
                <a:ea typeface="Calibri" pitchFamily="34" charset="-122"/>
                <a:cs typeface="Calibri" pitchFamily="34" charset="-120"/>
              </a:rPr>
              <a:t>Guard 2 — label SPACE, not label value</a:t>
            </a:r>
            <a:endParaRPr lang="en-US" sz="1000" dirty="0"/>
          </a:p>
        </p:txBody>
      </p:sp>
      <p:sp>
        <p:nvSpPr>
          <p:cNvPr id="10" name="Shape 8"/>
          <p:cNvSpPr/>
          <p:nvPr/>
        </p:nvSpPr>
        <p:spPr>
          <a:xfrm>
            <a:off x="457200" y="3154680"/>
            <a:ext cx="4206240" cy="1371600"/>
          </a:xfrm>
          <a:prstGeom prst="roundRect">
            <a:avLst>
              <a:gd name="adj" fmla="val 4000"/>
            </a:avLst>
          </a:prstGeom>
          <a:solidFill>
            <a:srgbClr val="10293D"/>
          </a:solidFill>
          <a:ln w="12700">
            <a:solidFill>
              <a:srgbClr val="10293D"/>
            </a:solidFill>
            <a:prstDash val="solid"/>
          </a:ln>
        </p:spPr>
      </p:sp>
      <p:sp>
        <p:nvSpPr>
          <p:cNvPr id="11" name="Text 9"/>
          <p:cNvSpPr txBox="1"/>
          <p:nvPr/>
        </p:nvSpPr>
        <p:spPr>
          <a:xfrm>
            <a:off x="603504" y="3264408"/>
            <a:ext cx="3913632" cy="1152144"/>
          </a:xfrm>
          <a:prstGeom prst="rect">
            <a:avLst/>
          </a:prstGeom>
          <a:noFill/>
          <a:ln/>
        </p:spPr>
        <p:txBody>
          <a:bodyPr wrap="square" lIns="0" tIns="0" rIns="0" bIns="0" rtlCol="0" anchor="t"/>
          <a:lstStyle/>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LABEL_SPACES = {</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'y_reference.npy':   'isolate30',</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'y_2018clinical.npy':'treatment',</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if require_space and self.label_space != require_space:</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raise ValueError(...)</a:t>
            </a:r>
            <a:endParaRPr lang="en-US" sz="900" dirty="0"/>
          </a:p>
        </p:txBody>
      </p:sp>
      <p:sp>
        <p:nvSpPr>
          <p:cNvPr id="12" name="Shape 10"/>
          <p:cNvSpPr/>
          <p:nvPr/>
        </p:nvSpPr>
        <p:spPr>
          <a:xfrm>
            <a:off x="4892040" y="1060704"/>
            <a:ext cx="3794760" cy="1371600"/>
          </a:xfrm>
          <a:prstGeom prst="roundRect">
            <a:avLst>
              <a:gd name="adj" fmla="val 4667"/>
            </a:avLst>
          </a:prstGeom>
          <a:solidFill>
            <a:srgbClr val="FBEDE6"/>
          </a:solidFill>
          <a:ln w="12700">
            <a:solidFill>
              <a:srgbClr val="FBEDE6"/>
            </a:solidFill>
            <a:prstDash val="solid"/>
          </a:ln>
        </p:spPr>
      </p:sp>
      <p:sp>
        <p:nvSpPr>
          <p:cNvPr id="13" name="Text 11"/>
          <p:cNvSpPr txBox="1"/>
          <p:nvPr/>
        </p:nvSpPr>
        <p:spPr>
          <a:xfrm>
            <a:off x="5056632" y="1161288"/>
            <a:ext cx="346557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Why guard 1 was necessary</a:t>
            </a:r>
            <a:endParaRPr lang="en-US" sz="1150" dirty="0"/>
          </a:p>
        </p:txBody>
      </p:sp>
      <p:sp>
        <p:nvSpPr>
          <p:cNvPr id="14" name="Text 12"/>
          <p:cNvSpPr txBox="1"/>
          <p:nvPr/>
        </p:nvSpPr>
        <p:spPr>
          <a:xfrm>
            <a:off x="5056632" y="1408176"/>
            <a:ext cx="3465576" cy="91440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The original dropped unseen labels with only a count printed. A 31st species would vanish and the run would report a plausible accuracy. For a brief about accommodating new data, that is the most dangerous line in the repo.</a:t>
            </a:r>
            <a:endParaRPr lang="en-US" sz="1050" dirty="0"/>
          </a:p>
        </p:txBody>
      </p:sp>
      <p:sp>
        <p:nvSpPr>
          <p:cNvPr id="15" name="Shape 13"/>
          <p:cNvSpPr/>
          <p:nvPr/>
        </p:nvSpPr>
        <p:spPr>
          <a:xfrm>
            <a:off x="4892040" y="2523744"/>
            <a:ext cx="3794760" cy="1325880"/>
          </a:xfrm>
          <a:prstGeom prst="roundRect">
            <a:avLst>
              <a:gd name="adj" fmla="val 4828"/>
            </a:avLst>
          </a:prstGeom>
          <a:solidFill>
            <a:srgbClr val="FBEDE6"/>
          </a:solidFill>
          <a:ln w="12700">
            <a:solidFill>
              <a:srgbClr val="FBEDE6"/>
            </a:solidFill>
            <a:prstDash val="solid"/>
          </a:ln>
        </p:spPr>
      </p:sp>
      <p:sp>
        <p:nvSpPr>
          <p:cNvPr id="16" name="Text 14"/>
          <p:cNvSpPr txBox="1"/>
          <p:nvPr/>
        </p:nvSpPr>
        <p:spPr>
          <a:xfrm>
            <a:off x="5056632" y="2624328"/>
            <a:ext cx="346557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Why guard 1 was not sufficient</a:t>
            </a:r>
            <a:endParaRPr lang="en-US" sz="1150" dirty="0"/>
          </a:p>
        </p:txBody>
      </p:sp>
      <p:sp>
        <p:nvSpPr>
          <p:cNvPr id="17" name="Text 15"/>
          <p:cNvSpPr txBox="1"/>
          <p:nvPr/>
        </p:nvSpPr>
        <p:spPr>
          <a:xfrm>
            <a:off x="5056632" y="2871216"/>
            <a:ext cx="3465576" cy="86868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The clinical files use labels {0,2,3,5,6}, all valid in the 0-29 mapping. A value-level check cannot see the mismatch. My acceptance test asserted it would raise. It did not.</a:t>
            </a:r>
            <a:endParaRPr lang="en-US" sz="1050" dirty="0"/>
          </a:p>
        </p:txBody>
      </p:sp>
      <p:sp>
        <p:nvSpPr>
          <p:cNvPr id="18" name="Shape 16"/>
          <p:cNvSpPr/>
          <p:nvPr/>
        </p:nvSpPr>
        <p:spPr>
          <a:xfrm>
            <a:off x="4892040" y="3941064"/>
            <a:ext cx="3794760" cy="585216"/>
          </a:xfrm>
          <a:prstGeom prst="roundRect">
            <a:avLst>
              <a:gd name="adj" fmla="val 10938"/>
            </a:avLst>
          </a:prstGeom>
          <a:solidFill>
            <a:srgbClr val="E7F3EF"/>
          </a:solidFill>
          <a:ln w="12700">
            <a:solidFill>
              <a:srgbClr val="E7F3EF"/>
            </a:solidFill>
            <a:prstDash val="solid"/>
          </a:ln>
        </p:spPr>
      </p:sp>
      <p:sp>
        <p:nvSpPr>
          <p:cNvPr id="19" name="Text 17"/>
          <p:cNvSpPr txBox="1"/>
          <p:nvPr/>
        </p:nvSpPr>
        <p:spPr>
          <a:xfrm>
            <a:off x="5056632" y="4041648"/>
            <a:ext cx="346557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The actual semantics</a:t>
            </a:r>
            <a:endParaRPr lang="en-US" sz="1150" dirty="0"/>
          </a:p>
        </p:txBody>
      </p:sp>
      <p:sp>
        <p:nvSpPr>
          <p:cNvPr id="20" name="Text 18"/>
          <p:cNvSpPr txBox="1"/>
          <p:nvPr/>
        </p:nvSpPr>
        <p:spPr>
          <a:xfrm>
            <a:off x="5056632" y="4288536"/>
            <a:ext cx="3465576" cy="128016"/>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Clinical files carry antibiotic-treatment labels, not isolate labels.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37744"/>
            <a:ext cx="6766560" cy="411480"/>
          </a:xfrm>
          <a:prstGeom prst="rect">
            <a:avLst/>
          </a:prstGeom>
          <a:noFill/>
          <a:ln/>
        </p:spPr>
        <p:txBody>
          <a:bodyPr wrap="square" lIns="0" tIns="0" rIns="0" bIns="0" rtlCol="0" anchor="ctr"/>
          <a:lstStyle/>
          <a:p>
            <a:pPr indent="0" marL="0">
              <a:buNone/>
            </a:pPr>
            <a:r>
              <a:rPr lang="en-US" sz="2500" b="1" dirty="0">
                <a:solidFill>
                  <a:srgbClr val="0C2E45"/>
                </a:solidFill>
                <a:latin typeface="Cambria" pitchFamily="34" charset="0"/>
                <a:ea typeface="Cambria" pitchFamily="34" charset="-122"/>
                <a:cs typeface="Cambria" pitchFamily="34" charset="-120"/>
              </a:rPr>
              <a:t>evaluate_kfold.py</a:t>
            </a:r>
            <a:endParaRPr lang="en-US" sz="2500" dirty="0"/>
          </a:p>
        </p:txBody>
      </p:sp>
      <p:sp>
        <p:nvSpPr>
          <p:cNvPr id="3" name="Text 1"/>
          <p:cNvSpPr txBox="1"/>
          <p:nvPr/>
        </p:nvSpPr>
        <p:spPr>
          <a:xfrm>
            <a:off x="457200" y="667512"/>
            <a:ext cx="6766560" cy="274320"/>
          </a:xfrm>
          <a:prstGeom prst="rect">
            <a:avLst/>
          </a:prstGeom>
          <a:noFill/>
          <a:ln/>
        </p:spPr>
        <p:txBody>
          <a:bodyPr wrap="square" lIns="0" tIns="0" rIns="0" bIns="0" rtlCol="0" anchor="ctr"/>
          <a:lstStyle/>
          <a:p>
            <a:pPr indent="0" marL="0">
              <a:buNone/>
            </a:pPr>
            <a:r>
              <a:rPr lang="en-US" sz="1200" i="1" dirty="0">
                <a:solidFill>
                  <a:srgbClr val="5A6B76"/>
                </a:solidFill>
                <a:latin typeface="Calibri" pitchFamily="34" charset="0"/>
                <a:ea typeface="Calibri" pitchFamily="34" charset="-122"/>
                <a:cs typeface="Calibri" pitchFamily="34" charset="-120"/>
              </a:rPr>
              <a:t>Two fixes; both make the reported number worse and more defensible</a:t>
            </a:r>
            <a:endParaRPr lang="en-US" sz="1200" dirty="0"/>
          </a:p>
        </p:txBody>
      </p:sp>
      <p:sp>
        <p:nvSpPr>
          <p:cNvPr id="4" name="Shape 2"/>
          <p:cNvSpPr/>
          <p:nvPr/>
        </p:nvSpPr>
        <p:spPr>
          <a:xfrm>
            <a:off x="7360920" y="274320"/>
            <a:ext cx="1325880" cy="329184"/>
          </a:xfrm>
          <a:prstGeom prst="roundRect">
            <a:avLst>
              <a:gd name="adj" fmla="val 16667"/>
            </a:avLst>
          </a:prstGeom>
          <a:solidFill>
            <a:srgbClr val="B8863B"/>
          </a:solidFill>
          <a:ln w="12700">
            <a:solidFill>
              <a:srgbClr val="B8863B"/>
            </a:solidFill>
            <a:prstDash val="solid"/>
          </a:ln>
        </p:spPr>
      </p:sp>
      <p:sp>
        <p:nvSpPr>
          <p:cNvPr id="5" name="Text 3"/>
          <p:cNvSpPr txBox="1"/>
          <p:nvPr/>
        </p:nvSpPr>
        <p:spPr>
          <a:xfrm>
            <a:off x="7360920" y="274320"/>
            <a:ext cx="132588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CORRECTNESS</a:t>
            </a:r>
            <a:endParaRPr lang="en-US" sz="1000" dirty="0"/>
          </a:p>
        </p:txBody>
      </p:sp>
      <p:sp>
        <p:nvSpPr>
          <p:cNvPr id="6" name="Text 4"/>
          <p:cNvSpPr txBox="1"/>
          <p:nvPr/>
        </p:nvSpPr>
        <p:spPr>
          <a:xfrm>
            <a:off x="457200" y="1088136"/>
            <a:ext cx="4892040" cy="219456"/>
          </a:xfrm>
          <a:prstGeom prst="rect">
            <a:avLst/>
          </a:prstGeom>
          <a:noFill/>
          <a:ln/>
        </p:spPr>
        <p:txBody>
          <a:bodyPr wrap="square" lIns="0" tIns="0" rIns="0" bIns="0" rtlCol="0" anchor="ctr"/>
          <a:lstStyle/>
          <a:p>
            <a:pPr indent="0" marL="0">
              <a:buNone/>
            </a:pPr>
            <a:r>
              <a:rPr lang="en-US" sz="1000" b="1" dirty="0">
                <a:solidFill>
                  <a:srgbClr val="5A6B76"/>
                </a:solidFill>
                <a:latin typeface="Calibri" pitchFamily="34" charset="0"/>
                <a:ea typeface="Calibri" pitchFamily="34" charset="-122"/>
                <a:cs typeface="Calibri" pitchFamily="34" charset="-120"/>
              </a:rPr>
              <a:t>Fix 1 — line 118</a:t>
            </a:r>
            <a:endParaRPr lang="en-US" sz="1000" dirty="0"/>
          </a:p>
        </p:txBody>
      </p:sp>
      <p:sp>
        <p:nvSpPr>
          <p:cNvPr id="7" name="Shape 5"/>
          <p:cNvSpPr/>
          <p:nvPr/>
        </p:nvSpPr>
        <p:spPr>
          <a:xfrm>
            <a:off x="457200" y="1325880"/>
            <a:ext cx="4892040" cy="914400"/>
          </a:xfrm>
          <a:prstGeom prst="roundRect">
            <a:avLst>
              <a:gd name="adj" fmla="val 6000"/>
            </a:avLst>
          </a:prstGeom>
          <a:solidFill>
            <a:srgbClr val="10293D"/>
          </a:solidFill>
          <a:ln w="12700">
            <a:solidFill>
              <a:srgbClr val="10293D"/>
            </a:solidFill>
            <a:prstDash val="solid"/>
          </a:ln>
        </p:spPr>
      </p:sp>
      <p:sp>
        <p:nvSpPr>
          <p:cNvPr id="8" name="Text 6"/>
          <p:cNvSpPr txBox="1"/>
          <p:nvPr/>
        </p:nvSpPr>
        <p:spPr>
          <a:xfrm>
            <a:off x="603504" y="1435608"/>
            <a:ext cx="4599432" cy="694944"/>
          </a:xfrm>
          <a:prstGeom prst="rect">
            <a:avLst/>
          </a:prstGeom>
          <a:noFill/>
          <a:ln/>
        </p:spPr>
        <p:txBody>
          <a:bodyPr wrap="square" lIns="0" tIns="0" rIns="0" bIns="0" rtlCol="0" anchor="t"/>
          <a:lstStyle/>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best_ft_weights = model.state_dict()</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best_ft_weights = copy.deepcopy(model.state_dict())</a:t>
            </a:r>
            <a:endParaRPr lang="en-US" sz="900" dirty="0"/>
          </a:p>
        </p:txBody>
      </p:sp>
      <p:sp>
        <p:nvSpPr>
          <p:cNvPr id="9" name="Text 7"/>
          <p:cNvSpPr txBox="1"/>
          <p:nvPr/>
        </p:nvSpPr>
        <p:spPr>
          <a:xfrm>
            <a:off x="457200" y="2276856"/>
            <a:ext cx="4892040" cy="219456"/>
          </a:xfrm>
          <a:prstGeom prst="rect">
            <a:avLst/>
          </a:prstGeom>
          <a:noFill/>
          <a:ln/>
        </p:spPr>
        <p:txBody>
          <a:bodyPr wrap="square" lIns="0" tIns="0" rIns="0" bIns="0" rtlCol="0" anchor="ctr"/>
          <a:lstStyle/>
          <a:p>
            <a:pPr indent="0" marL="0">
              <a:buNone/>
            </a:pPr>
            <a:r>
              <a:rPr lang="en-US" sz="1000" b="1" dirty="0">
                <a:solidFill>
                  <a:srgbClr val="5A6B76"/>
                </a:solidFill>
                <a:latin typeface="Calibri" pitchFamily="34" charset="0"/>
                <a:ea typeface="Calibri" pitchFamily="34" charset="-122"/>
                <a:cs typeface="Calibri" pitchFamily="34" charset="-120"/>
              </a:rPr>
              <a:t>Fix 2 — make the folds actual folds</a:t>
            </a:r>
            <a:endParaRPr lang="en-US" sz="1000" dirty="0"/>
          </a:p>
        </p:txBody>
      </p:sp>
      <p:sp>
        <p:nvSpPr>
          <p:cNvPr id="10" name="Shape 8"/>
          <p:cNvSpPr/>
          <p:nvPr/>
        </p:nvSpPr>
        <p:spPr>
          <a:xfrm>
            <a:off x="457200" y="2514600"/>
            <a:ext cx="4892040" cy="1371600"/>
          </a:xfrm>
          <a:prstGeom prst="roundRect">
            <a:avLst>
              <a:gd name="adj" fmla="val 4000"/>
            </a:avLst>
          </a:prstGeom>
          <a:solidFill>
            <a:srgbClr val="10293D"/>
          </a:solidFill>
          <a:ln w="12700">
            <a:solidFill>
              <a:srgbClr val="10293D"/>
            </a:solidFill>
            <a:prstDash val="solid"/>
          </a:ln>
        </p:spPr>
      </p:sp>
      <p:sp>
        <p:nvSpPr>
          <p:cNvPr id="11" name="Text 9"/>
          <p:cNvSpPr txBox="1"/>
          <p:nvPr/>
        </p:nvSpPr>
        <p:spPr>
          <a:xfrm>
            <a:off x="603504" y="2624328"/>
            <a:ext cx="4599432" cy="1152144"/>
          </a:xfrm>
          <a:prstGeom prst="rect">
            <a:avLst/>
          </a:prstGeom>
          <a:noFill/>
          <a:ln/>
        </p:spPr>
        <p:txBody>
          <a:bodyPr wrap="square" lIns="0" tIns="0" rIns="0" bIns="0" rtlCol="0" anchor="t"/>
          <a:lstStyle/>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for fold in range(1, 6):</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ft_train, ft_val = random_split(ds, [90%, 10%])</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skf = StratifiedKFold(n_splits=5, shuffle=True,</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random_state=args.seed)</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for fold, (tr, va) in enumerate(skf.split(X0, y), 1):</a:t>
            </a:r>
            <a:endParaRPr lang="en-US" sz="900" dirty="0"/>
          </a:p>
        </p:txBody>
      </p:sp>
      <p:sp>
        <p:nvSpPr>
          <p:cNvPr id="12" name="Shape 10"/>
          <p:cNvSpPr/>
          <p:nvPr/>
        </p:nvSpPr>
        <p:spPr>
          <a:xfrm>
            <a:off x="5577840" y="1088136"/>
            <a:ext cx="3108960" cy="1417320"/>
          </a:xfrm>
          <a:prstGeom prst="roundRect">
            <a:avLst>
              <a:gd name="adj" fmla="val 4516"/>
            </a:avLst>
          </a:prstGeom>
          <a:solidFill>
            <a:srgbClr val="FBEDE6"/>
          </a:solidFill>
          <a:ln w="12700">
            <a:solidFill>
              <a:srgbClr val="FBEDE6"/>
            </a:solidFill>
            <a:prstDash val="solid"/>
          </a:ln>
        </p:spPr>
      </p:sp>
      <p:sp>
        <p:nvSpPr>
          <p:cNvPr id="13" name="Text 11"/>
          <p:cNvSpPr txBox="1"/>
          <p:nvPr/>
        </p:nvSpPr>
        <p:spPr>
          <a:xfrm>
            <a:off x="5742432" y="1188720"/>
            <a:ext cx="277977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What fix 1 changes</a:t>
            </a:r>
            <a:endParaRPr lang="en-US" sz="1150" dirty="0"/>
          </a:p>
        </p:txBody>
      </p:sp>
      <p:sp>
        <p:nvSpPr>
          <p:cNvPr id="14" name="Text 12"/>
          <p:cNvSpPr txBox="1"/>
          <p:nvPr/>
        </p:nvSpPr>
        <p:spPr>
          <a:xfrm>
            <a:off x="5742432" y="1435608"/>
            <a:ext cx="2779776" cy="96012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state_dict() returns live references. Later epochs mutated the saved 'best' in place, so the reload was a no-op. The recorded 73.23% was a last-epoch number.</a:t>
            </a:r>
            <a:endParaRPr lang="en-US" sz="1050" dirty="0"/>
          </a:p>
        </p:txBody>
      </p:sp>
      <p:sp>
        <p:nvSpPr>
          <p:cNvPr id="15" name="Shape 13"/>
          <p:cNvSpPr/>
          <p:nvPr/>
        </p:nvSpPr>
        <p:spPr>
          <a:xfrm>
            <a:off x="5577840" y="2596896"/>
            <a:ext cx="3108960" cy="1371600"/>
          </a:xfrm>
          <a:prstGeom prst="roundRect">
            <a:avLst>
              <a:gd name="adj" fmla="val 4667"/>
            </a:avLst>
          </a:prstGeom>
          <a:solidFill>
            <a:srgbClr val="EEF3F6"/>
          </a:solidFill>
          <a:ln w="12700">
            <a:solidFill>
              <a:srgbClr val="EEF3F6"/>
            </a:solidFill>
            <a:prstDash val="solid"/>
          </a:ln>
        </p:spPr>
      </p:sp>
      <p:sp>
        <p:nvSpPr>
          <p:cNvPr id="16" name="Text 14"/>
          <p:cNvSpPr txBox="1"/>
          <p:nvPr/>
        </p:nvSpPr>
        <p:spPr>
          <a:xfrm>
            <a:off x="5742432" y="2697480"/>
            <a:ext cx="277977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What fix 2 changes</a:t>
            </a:r>
            <a:endParaRPr lang="en-US" sz="1150" dirty="0"/>
          </a:p>
        </p:txBody>
      </p:sp>
      <p:sp>
        <p:nvSpPr>
          <p:cNvPr id="17" name="Text 15"/>
          <p:cNvSpPr txBox="1"/>
          <p:nvPr/>
        </p:nvSpPr>
        <p:spPr>
          <a:xfrm>
            <a:off x="5742432" y="2944368"/>
            <a:ext cx="2779776" cy="91440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Five independent 90/10 draws overlap arbitrarily and all share one phase-1 checkpoint, compressing the spread. Disjoint stratified partitions widen it honestly.</a:t>
            </a:r>
            <a:endParaRPr lang="en-US" sz="1050" dirty="0"/>
          </a:p>
        </p:txBody>
      </p:sp>
      <p:sp>
        <p:nvSpPr>
          <p:cNvPr id="18" name="Shape 16"/>
          <p:cNvSpPr/>
          <p:nvPr/>
        </p:nvSpPr>
        <p:spPr>
          <a:xfrm>
            <a:off x="5577840" y="4059936"/>
            <a:ext cx="3108960" cy="466344"/>
          </a:xfrm>
          <a:prstGeom prst="roundRect">
            <a:avLst>
              <a:gd name="adj" fmla="val 13725"/>
            </a:avLst>
          </a:prstGeom>
          <a:solidFill>
            <a:srgbClr val="EEF3F6"/>
          </a:solidFill>
          <a:ln w="12700">
            <a:solidFill>
              <a:srgbClr val="EEF3F6"/>
            </a:solidFill>
            <a:prstDash val="solid"/>
          </a:ln>
        </p:spPr>
      </p:sp>
      <p:sp>
        <p:nvSpPr>
          <p:cNvPr id="19" name="Text 17"/>
          <p:cNvSpPr txBox="1"/>
          <p:nvPr/>
        </p:nvSpPr>
        <p:spPr>
          <a:xfrm>
            <a:off x="5742432" y="4160520"/>
            <a:ext cx="277977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Still measures finetune variance only</a:t>
            </a:r>
            <a:endParaRPr lang="en-US" sz="1150" dirty="0"/>
          </a:p>
        </p:txBody>
      </p:sp>
      <p:sp>
        <p:nvSpPr>
          <p:cNvPr id="20" name="Text 18"/>
          <p:cNvSpPr txBox="1"/>
          <p:nvPr/>
        </p:nvSpPr>
        <p:spPr>
          <a:xfrm>
            <a:off x="5742432" y="4407408"/>
            <a:ext cx="2779776" cy="9144"/>
          </a:xfrm>
          <a:prstGeom prst="rect">
            <a:avLst/>
          </a:prstGeom>
          <a:noFill/>
          <a:ln/>
        </p:spPr>
        <p:txBody>
          <a:bodyPr wrap="square" lIns="0" tIns="0" rIns="0" bIns="0" rtlCol="0" anchor="t"/>
          <a:lstStyle/>
          <a:p>
            <a:pPr indent="0" marL="0">
              <a:lnSpc>
                <a:spcPct val="112000"/>
              </a:lnSpc>
              <a:buNone/>
            </a:pPr>
            <a:endParaRPr lang="en-US" sz="1050" dirty="0"/>
          </a:p>
        </p:txBody>
      </p:sp>
      <p:sp>
        <p:nvSpPr>
          <p:cNvPr id="21" name="Text 19"/>
          <p:cNvSpPr txBox="1"/>
          <p:nvPr/>
        </p:nvSpPr>
        <p:spPr>
          <a:xfrm>
            <a:off x="457200" y="4114800"/>
            <a:ext cx="4892040" cy="365760"/>
          </a:xfrm>
          <a:prstGeom prst="rect">
            <a:avLst/>
          </a:prstGeom>
          <a:noFill/>
          <a:ln/>
        </p:spPr>
        <p:txBody>
          <a:bodyPr wrap="square" lIns="0" tIns="0" rIns="0" bIns="0" rtlCol="0" anchor="ctr"/>
          <a:lstStyle/>
          <a:p>
            <a:pPr indent="0" marL="0">
              <a:buNone/>
            </a:pPr>
            <a:r>
              <a:rPr lang="en-US" sz="1100" i="1" dirty="0">
                <a:solidFill>
                  <a:srgbClr val="0C2E45"/>
                </a:solidFill>
                <a:latin typeface="Calibri" pitchFamily="34" charset="0"/>
                <a:ea typeface="Calibri" pitchFamily="34" charset="-122"/>
                <a:cs typeface="Calibri" pitchFamily="34" charset="-120"/>
              </a:rPr>
              <a:t>Expect the reported margin to widen from ±0.11% toward the real ~1.0 sd. That is the fix working.</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37744"/>
            <a:ext cx="6766560" cy="411480"/>
          </a:xfrm>
          <a:prstGeom prst="rect">
            <a:avLst/>
          </a:prstGeom>
          <a:noFill/>
          <a:ln/>
        </p:spPr>
        <p:txBody>
          <a:bodyPr wrap="square" lIns="0" tIns="0" rIns="0" bIns="0" rtlCol="0" anchor="ctr"/>
          <a:lstStyle/>
          <a:p>
            <a:pPr indent="0" marL="0">
              <a:buNone/>
            </a:pPr>
            <a:r>
              <a:rPr lang="en-US" sz="2500" b="1" dirty="0">
                <a:solidFill>
                  <a:srgbClr val="0C2E45"/>
                </a:solidFill>
                <a:latin typeface="Cambria" pitchFamily="34" charset="0"/>
                <a:ea typeface="Cambria" pitchFamily="34" charset="-122"/>
                <a:cs typeface="Cambria" pitchFamily="34" charset="-120"/>
              </a:rPr>
              <a:t>main.py — phase 2 controls</a:t>
            </a:r>
            <a:endParaRPr lang="en-US" sz="2500" dirty="0"/>
          </a:p>
        </p:txBody>
      </p:sp>
      <p:sp>
        <p:nvSpPr>
          <p:cNvPr id="3" name="Text 1"/>
          <p:cNvSpPr txBox="1"/>
          <p:nvPr/>
        </p:nvSpPr>
        <p:spPr>
          <a:xfrm>
            <a:off x="457200" y="667512"/>
            <a:ext cx="6766560" cy="274320"/>
          </a:xfrm>
          <a:prstGeom prst="rect">
            <a:avLst/>
          </a:prstGeom>
          <a:noFill/>
          <a:ln/>
        </p:spPr>
        <p:txBody>
          <a:bodyPr wrap="square" lIns="0" tIns="0" rIns="0" bIns="0" rtlCol="0" anchor="ctr"/>
          <a:lstStyle/>
          <a:p>
            <a:pPr indent="0" marL="0">
              <a:buNone/>
            </a:pPr>
            <a:r>
              <a:rPr lang="en-US" sz="1200" i="1" dirty="0">
                <a:solidFill>
                  <a:srgbClr val="5A6B76"/>
                </a:solidFill>
                <a:latin typeface="Calibri" pitchFamily="34" charset="0"/>
                <a:ea typeface="Calibri" pitchFamily="34" charset="-122"/>
                <a:cs typeface="Calibri" pitchFamily="34" charset="-120"/>
              </a:rPr>
              <a:t>Instrument the stage worth ~25 points and previously unsupervised</a:t>
            </a:r>
            <a:endParaRPr lang="en-US" sz="1200" dirty="0"/>
          </a:p>
        </p:txBody>
      </p:sp>
      <p:sp>
        <p:nvSpPr>
          <p:cNvPr id="4" name="Shape 2"/>
          <p:cNvSpPr/>
          <p:nvPr/>
        </p:nvSpPr>
        <p:spPr>
          <a:xfrm>
            <a:off x="7360920" y="274320"/>
            <a:ext cx="1325880" cy="329184"/>
          </a:xfrm>
          <a:prstGeom prst="roundRect">
            <a:avLst>
              <a:gd name="adj" fmla="val 16667"/>
            </a:avLst>
          </a:prstGeom>
          <a:solidFill>
            <a:srgbClr val="1C7293"/>
          </a:solidFill>
          <a:ln w="12700">
            <a:solidFill>
              <a:srgbClr val="1C7293"/>
            </a:solidFill>
            <a:prstDash val="solid"/>
          </a:ln>
        </p:spPr>
      </p:sp>
      <p:sp>
        <p:nvSpPr>
          <p:cNvPr id="5" name="Text 3"/>
          <p:cNvSpPr txBox="1"/>
          <p:nvPr/>
        </p:nvSpPr>
        <p:spPr>
          <a:xfrm>
            <a:off x="7360920" y="274320"/>
            <a:ext cx="132588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REPLACED</a:t>
            </a:r>
            <a:endParaRPr lang="en-US" sz="1000" dirty="0"/>
          </a:p>
        </p:txBody>
      </p:sp>
      <p:sp>
        <p:nvSpPr>
          <p:cNvPr id="6" name="Text 4"/>
          <p:cNvSpPr txBox="1"/>
          <p:nvPr/>
        </p:nvSpPr>
        <p:spPr>
          <a:xfrm>
            <a:off x="457200" y="1060704"/>
            <a:ext cx="4892040" cy="219456"/>
          </a:xfrm>
          <a:prstGeom prst="rect">
            <a:avLst/>
          </a:prstGeom>
          <a:noFill/>
          <a:ln/>
        </p:spPr>
        <p:txBody>
          <a:bodyPr wrap="square" lIns="0" tIns="0" rIns="0" bIns="0" rtlCol="0" anchor="ctr"/>
          <a:lstStyle/>
          <a:p>
            <a:pPr indent="0" marL="0">
              <a:buNone/>
            </a:pPr>
            <a:r>
              <a:rPr lang="en-US" sz="1000" b="1" dirty="0">
                <a:solidFill>
                  <a:srgbClr val="5A6B76"/>
                </a:solidFill>
                <a:latin typeface="Calibri" pitchFamily="34" charset="0"/>
                <a:ea typeface="Calibri" pitchFamily="34" charset="-122"/>
                <a:cs typeface="Calibri" pitchFamily="34" charset="-120"/>
              </a:rPr>
              <a:t>New flags, all defaulting to the old behaviour</a:t>
            </a:r>
            <a:endParaRPr lang="en-US" sz="1000" dirty="0"/>
          </a:p>
        </p:txBody>
      </p:sp>
      <p:sp>
        <p:nvSpPr>
          <p:cNvPr id="7" name="Shape 5"/>
          <p:cNvSpPr/>
          <p:nvPr/>
        </p:nvSpPr>
        <p:spPr>
          <a:xfrm>
            <a:off x="457200" y="1298448"/>
            <a:ext cx="4892040" cy="1874520"/>
          </a:xfrm>
          <a:prstGeom prst="roundRect">
            <a:avLst>
              <a:gd name="adj" fmla="val 2927"/>
            </a:avLst>
          </a:prstGeom>
          <a:solidFill>
            <a:srgbClr val="10293D"/>
          </a:solidFill>
          <a:ln w="12700">
            <a:solidFill>
              <a:srgbClr val="10293D"/>
            </a:solidFill>
            <a:prstDash val="solid"/>
          </a:ln>
        </p:spPr>
      </p:sp>
      <p:sp>
        <p:nvSpPr>
          <p:cNvPr id="8" name="Text 6"/>
          <p:cNvSpPr txBox="1"/>
          <p:nvPr/>
        </p:nvSpPr>
        <p:spPr>
          <a:xfrm>
            <a:off x="603504" y="1408176"/>
            <a:ext cx="4599432" cy="1655064"/>
          </a:xfrm>
          <a:prstGeom prst="rect">
            <a:avLst/>
          </a:prstGeom>
          <a:noFill/>
          <a:ln/>
        </p:spPr>
        <p:txBody>
          <a:bodyPr wrap="square" lIns="0" tIns="0" rIns="0" bIns="0" rtlCol="0" anchor="t"/>
          <a:lstStyle/>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--finetune-val-split   0.0   # 0.1 = 10 per class</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--finetune-augment     off   # never applied before</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--finetune-weight-decay 0.0  # was silently dropped</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--finetune-lr-mult     0.1   # was hardcoded</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--finetune-patience    0</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--diagnostic-test-curve off  # DIAGNOSIS ONLY</a:t>
            </a:r>
            <a:endParaRPr lang="en-US" sz="900" dirty="0"/>
          </a:p>
        </p:txBody>
      </p:sp>
      <p:sp>
        <p:nvSpPr>
          <p:cNvPr id="9" name="Text 7"/>
          <p:cNvSpPr txBox="1"/>
          <p:nvPr/>
        </p:nvSpPr>
        <p:spPr>
          <a:xfrm>
            <a:off x="457200" y="3191256"/>
            <a:ext cx="4892040" cy="219456"/>
          </a:xfrm>
          <a:prstGeom prst="rect">
            <a:avLst/>
          </a:prstGeom>
          <a:noFill/>
          <a:ln/>
        </p:spPr>
        <p:txBody>
          <a:bodyPr wrap="square" lIns="0" tIns="0" rIns="0" bIns="0" rtlCol="0" anchor="ctr"/>
          <a:lstStyle/>
          <a:p>
            <a:pPr indent="0" marL="0">
              <a:buNone/>
            </a:pPr>
            <a:r>
              <a:rPr lang="en-US" sz="1000" b="1" dirty="0">
                <a:solidFill>
                  <a:srgbClr val="5A6B76"/>
                </a:solidFill>
                <a:latin typeface="Calibri" pitchFamily="34" charset="0"/>
                <a:ea typeface="Calibri" pitchFamily="34" charset="-122"/>
                <a:cs typeface="Calibri" pitchFamily="34" charset="-120"/>
              </a:rPr>
              <a:t>Best-epoch selection</a:t>
            </a:r>
            <a:endParaRPr lang="en-US" sz="1000" dirty="0"/>
          </a:p>
        </p:txBody>
      </p:sp>
      <p:sp>
        <p:nvSpPr>
          <p:cNvPr id="10" name="Shape 8"/>
          <p:cNvSpPr/>
          <p:nvPr/>
        </p:nvSpPr>
        <p:spPr>
          <a:xfrm>
            <a:off x="457200" y="3429000"/>
            <a:ext cx="4892040" cy="1097280"/>
          </a:xfrm>
          <a:prstGeom prst="roundRect">
            <a:avLst>
              <a:gd name="adj" fmla="val 5000"/>
            </a:avLst>
          </a:prstGeom>
          <a:solidFill>
            <a:srgbClr val="10293D"/>
          </a:solidFill>
          <a:ln w="12700">
            <a:solidFill>
              <a:srgbClr val="10293D"/>
            </a:solidFill>
            <a:prstDash val="solid"/>
          </a:ln>
        </p:spPr>
      </p:sp>
      <p:sp>
        <p:nvSpPr>
          <p:cNvPr id="11" name="Text 9"/>
          <p:cNvSpPr txBox="1"/>
          <p:nvPr/>
        </p:nvSpPr>
        <p:spPr>
          <a:xfrm>
            <a:off x="603504" y="3538728"/>
            <a:ext cx="4599432" cy="877824"/>
          </a:xfrm>
          <a:prstGeom prst="rect">
            <a:avLst/>
          </a:prstGeom>
          <a:noFill/>
          <a:ln/>
        </p:spPr>
        <p:txBody>
          <a:bodyPr wrap="square" lIns="0" tIns="0" rIns="0" bIns="0" rtlCol="0" anchor="t"/>
          <a:lstStyle/>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if v_loss &lt; best_ft_loss:</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best_ft_loss = v_loss</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best_ft_weights = copy.deepcopy(model.state_dict())</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best_ft_epoch = epoch</a:t>
            </a:r>
            <a:endParaRPr lang="en-US" sz="900" dirty="0"/>
          </a:p>
        </p:txBody>
      </p:sp>
      <p:sp>
        <p:nvSpPr>
          <p:cNvPr id="12" name="Shape 10"/>
          <p:cNvSpPr/>
          <p:nvPr/>
        </p:nvSpPr>
        <p:spPr>
          <a:xfrm>
            <a:off x="5577840" y="1060704"/>
            <a:ext cx="3108960" cy="1371600"/>
          </a:xfrm>
          <a:prstGeom prst="roundRect">
            <a:avLst>
              <a:gd name="adj" fmla="val 4667"/>
            </a:avLst>
          </a:prstGeom>
          <a:solidFill>
            <a:srgbClr val="FBEDE6"/>
          </a:solidFill>
          <a:ln w="12700">
            <a:solidFill>
              <a:srgbClr val="FBEDE6"/>
            </a:solidFill>
            <a:prstDash val="solid"/>
          </a:ln>
        </p:spPr>
      </p:sp>
      <p:sp>
        <p:nvSpPr>
          <p:cNvPr id="13" name="Text 11"/>
          <p:cNvSpPr txBox="1"/>
          <p:nvPr/>
        </p:nvSpPr>
        <p:spPr>
          <a:xfrm>
            <a:off x="5742432" y="1161288"/>
            <a:ext cx="277977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What was wrong</a:t>
            </a:r>
            <a:endParaRPr lang="en-US" sz="1150" dirty="0"/>
          </a:p>
        </p:txBody>
      </p:sp>
      <p:sp>
        <p:nvSpPr>
          <p:cNvPr id="14" name="Text 12"/>
          <p:cNvSpPr txBox="1"/>
          <p:nvPr/>
        </p:nvSpPr>
        <p:spPr>
          <a:xfrm>
            <a:off x="5742432" y="1408176"/>
            <a:ext cx="2779776" cy="91440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20 epochs on 100 samples per class, no validation, no augmentation, weight decay silently zero, last epoch saved regardless.</a:t>
            </a:r>
            <a:endParaRPr lang="en-US" sz="1050" dirty="0"/>
          </a:p>
        </p:txBody>
      </p:sp>
      <p:sp>
        <p:nvSpPr>
          <p:cNvPr id="15" name="Shape 13"/>
          <p:cNvSpPr/>
          <p:nvPr/>
        </p:nvSpPr>
        <p:spPr>
          <a:xfrm>
            <a:off x="5577840" y="2523744"/>
            <a:ext cx="3108960" cy="1051560"/>
          </a:xfrm>
          <a:prstGeom prst="roundRect">
            <a:avLst>
              <a:gd name="adj" fmla="val 6087"/>
            </a:avLst>
          </a:prstGeom>
          <a:solidFill>
            <a:srgbClr val="EEF3F6"/>
          </a:solidFill>
          <a:ln w="12700">
            <a:solidFill>
              <a:srgbClr val="EEF3F6"/>
            </a:solidFill>
            <a:prstDash val="solid"/>
          </a:ln>
        </p:spPr>
      </p:sp>
      <p:sp>
        <p:nvSpPr>
          <p:cNvPr id="16" name="Text 14"/>
          <p:cNvSpPr txBox="1"/>
          <p:nvPr/>
        </p:nvSpPr>
        <p:spPr>
          <a:xfrm>
            <a:off x="5742432" y="2624328"/>
            <a:ext cx="277977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Result: nothing</a:t>
            </a:r>
            <a:endParaRPr lang="en-US" sz="1150" dirty="0"/>
          </a:p>
        </p:txBody>
      </p:sp>
      <p:sp>
        <p:nvSpPr>
          <p:cNvPr id="17" name="Text 15"/>
          <p:cNvSpPr txBox="1"/>
          <p:nvPr/>
        </p:nvSpPr>
        <p:spPr>
          <a:xfrm>
            <a:off x="5742432" y="2871216"/>
            <a:ext cx="2779776" cy="59436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Four arms, three seeds: +0.02, -0.03, +0.16. Largest difference is 5 samples out of 3,000.</a:t>
            </a:r>
            <a:endParaRPr lang="en-US" sz="1050" dirty="0"/>
          </a:p>
        </p:txBody>
      </p:sp>
      <p:sp>
        <p:nvSpPr>
          <p:cNvPr id="18" name="Shape 16"/>
          <p:cNvSpPr/>
          <p:nvPr/>
        </p:nvSpPr>
        <p:spPr>
          <a:xfrm>
            <a:off x="5577840" y="3666744"/>
            <a:ext cx="3108960" cy="859536"/>
          </a:xfrm>
          <a:prstGeom prst="roundRect">
            <a:avLst>
              <a:gd name="adj" fmla="val 7447"/>
            </a:avLst>
          </a:prstGeom>
          <a:solidFill>
            <a:srgbClr val="E7F3EF"/>
          </a:solidFill>
          <a:ln w="12700">
            <a:solidFill>
              <a:srgbClr val="E7F3EF"/>
            </a:solidFill>
            <a:prstDash val="solid"/>
          </a:ln>
        </p:spPr>
      </p:sp>
      <p:sp>
        <p:nvSpPr>
          <p:cNvPr id="19" name="Text 17"/>
          <p:cNvSpPr txBox="1"/>
          <p:nvPr/>
        </p:nvSpPr>
        <p:spPr>
          <a:xfrm>
            <a:off x="5742432" y="3767328"/>
            <a:ext cx="277977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But the diagnostic paid off</a:t>
            </a:r>
            <a:endParaRPr lang="en-US" sz="1150" dirty="0"/>
          </a:p>
        </p:txBody>
      </p:sp>
      <p:sp>
        <p:nvSpPr>
          <p:cNvPr id="20" name="Text 18"/>
          <p:cNvSpPr txBox="1"/>
          <p:nvPr/>
        </p:nvSpPr>
        <p:spPr>
          <a:xfrm>
            <a:off x="5742432" y="4014216"/>
            <a:ext cx="2779776" cy="402336"/>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best_epoch was 17-20 of 20, and 54-57 of 60. It tracks the budget, not convergence.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37744"/>
            <a:ext cx="6766560" cy="411480"/>
          </a:xfrm>
          <a:prstGeom prst="rect">
            <a:avLst/>
          </a:prstGeom>
          <a:noFill/>
          <a:ln/>
        </p:spPr>
        <p:txBody>
          <a:bodyPr wrap="square" lIns="0" tIns="0" rIns="0" bIns="0" rtlCol="0" anchor="ctr"/>
          <a:lstStyle/>
          <a:p>
            <a:pPr indent="0" marL="0">
              <a:buNone/>
            </a:pPr>
            <a:r>
              <a:rPr lang="en-US" sz="2500" b="1" dirty="0">
                <a:solidFill>
                  <a:srgbClr val="0C2E45"/>
                </a:solidFill>
                <a:latin typeface="Cambria" pitchFamily="34" charset="0"/>
                <a:ea typeface="Cambria" pitchFamily="34" charset="-122"/>
                <a:cs typeface="Cambria" pitchFamily="34" charset="-120"/>
              </a:rPr>
              <a:t>src/incremental.py</a:t>
            </a:r>
            <a:endParaRPr lang="en-US" sz="2500" dirty="0"/>
          </a:p>
        </p:txBody>
      </p:sp>
      <p:sp>
        <p:nvSpPr>
          <p:cNvPr id="3" name="Text 1"/>
          <p:cNvSpPr txBox="1"/>
          <p:nvPr/>
        </p:nvSpPr>
        <p:spPr>
          <a:xfrm>
            <a:off x="457200" y="667512"/>
            <a:ext cx="6766560" cy="274320"/>
          </a:xfrm>
          <a:prstGeom prst="rect">
            <a:avLst/>
          </a:prstGeom>
          <a:noFill/>
          <a:ln/>
        </p:spPr>
        <p:txBody>
          <a:bodyPr wrap="square" lIns="0" tIns="0" rIns="0" bIns="0" rtlCol="0" anchor="ctr"/>
          <a:lstStyle/>
          <a:p>
            <a:pPr indent="0" marL="0">
              <a:buNone/>
            </a:pPr>
            <a:r>
              <a:rPr lang="en-US" sz="1200" i="1" dirty="0">
                <a:solidFill>
                  <a:srgbClr val="5A6B76"/>
                </a:solidFill>
                <a:latin typeface="Calibri" pitchFamily="34" charset="0"/>
                <a:ea typeface="Calibri" pitchFamily="34" charset="-122"/>
                <a:cs typeface="Calibri" pitchFamily="34" charset="-120"/>
              </a:rPr>
              <a:t>Everything needed to add classes to a trained model</a:t>
            </a:r>
            <a:endParaRPr lang="en-US" sz="1200" dirty="0"/>
          </a:p>
        </p:txBody>
      </p:sp>
      <p:sp>
        <p:nvSpPr>
          <p:cNvPr id="4" name="Shape 2"/>
          <p:cNvSpPr/>
          <p:nvPr/>
        </p:nvSpPr>
        <p:spPr>
          <a:xfrm>
            <a:off x="7360920" y="274320"/>
            <a:ext cx="1325880" cy="329184"/>
          </a:xfrm>
          <a:prstGeom prst="roundRect">
            <a:avLst>
              <a:gd name="adj" fmla="val 16667"/>
            </a:avLst>
          </a:prstGeom>
          <a:solidFill>
            <a:srgbClr val="065A82"/>
          </a:solidFill>
          <a:ln w="12700">
            <a:solidFill>
              <a:srgbClr val="065A82"/>
            </a:solidFill>
            <a:prstDash val="solid"/>
          </a:ln>
        </p:spPr>
      </p:sp>
      <p:sp>
        <p:nvSpPr>
          <p:cNvPr id="5" name="Text 3"/>
          <p:cNvSpPr txBox="1"/>
          <p:nvPr/>
        </p:nvSpPr>
        <p:spPr>
          <a:xfrm>
            <a:off x="7360920" y="274320"/>
            <a:ext cx="132588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NEW</a:t>
            </a:r>
            <a:endParaRPr lang="en-US" sz="1000" dirty="0"/>
          </a:p>
        </p:txBody>
      </p:sp>
      <p:sp>
        <p:nvSpPr>
          <p:cNvPr id="6" name="Text 4"/>
          <p:cNvSpPr txBox="1"/>
          <p:nvPr/>
        </p:nvSpPr>
        <p:spPr>
          <a:xfrm>
            <a:off x="457200" y="1060704"/>
            <a:ext cx="4892040" cy="219456"/>
          </a:xfrm>
          <a:prstGeom prst="rect">
            <a:avLst/>
          </a:prstGeom>
          <a:noFill/>
          <a:ln/>
        </p:spPr>
        <p:txBody>
          <a:bodyPr wrap="square" lIns="0" tIns="0" rIns="0" bIns="0" rtlCol="0" anchor="ctr"/>
          <a:lstStyle/>
          <a:p>
            <a:pPr indent="0" marL="0">
              <a:buNone/>
            </a:pPr>
            <a:r>
              <a:rPr lang="en-US" sz="1000" b="1" dirty="0">
                <a:solidFill>
                  <a:srgbClr val="5A6B76"/>
                </a:solidFill>
                <a:latin typeface="Calibri" pitchFamily="34" charset="0"/>
                <a:ea typeface="Calibri" pitchFamily="34" charset="-122"/>
                <a:cs typeface="Calibri" pitchFamily="34" charset="-120"/>
              </a:rPr>
              <a:t>Architecture-agnostic head expansion</a:t>
            </a:r>
            <a:endParaRPr lang="en-US" sz="1000" dirty="0"/>
          </a:p>
        </p:txBody>
      </p:sp>
      <p:sp>
        <p:nvSpPr>
          <p:cNvPr id="7" name="Shape 5"/>
          <p:cNvSpPr/>
          <p:nvPr/>
        </p:nvSpPr>
        <p:spPr>
          <a:xfrm>
            <a:off x="457200" y="1298448"/>
            <a:ext cx="4892040" cy="1691640"/>
          </a:xfrm>
          <a:prstGeom prst="roundRect">
            <a:avLst>
              <a:gd name="adj" fmla="val 3243"/>
            </a:avLst>
          </a:prstGeom>
          <a:solidFill>
            <a:srgbClr val="10293D"/>
          </a:solidFill>
          <a:ln w="12700">
            <a:solidFill>
              <a:srgbClr val="10293D"/>
            </a:solidFill>
            <a:prstDash val="solid"/>
          </a:ln>
        </p:spPr>
      </p:sp>
      <p:sp>
        <p:nvSpPr>
          <p:cNvPr id="8" name="Text 6"/>
          <p:cNvSpPr txBox="1"/>
          <p:nvPr/>
        </p:nvSpPr>
        <p:spPr>
          <a:xfrm>
            <a:off x="603504" y="1408176"/>
            <a:ext cx="4599432" cy="1472184"/>
          </a:xfrm>
          <a:prstGeom prst="rect">
            <a:avLst/>
          </a:prstGeom>
          <a:noFill/>
          <a:ln/>
        </p:spPr>
        <p:txBody>
          <a:bodyPr wrap="square" lIns="0" tIns="0" rIns="0" bIns="0" rtlCol="0" anchor="t"/>
          <a:lstStyle/>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def expand_classifier(model, new_num_classes):</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name, old = _last_linear(model)   # walks modules</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new = nn.Linear(old.in_features, new_num_classes)</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with torch.no_grad():</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new.weight[:old.out_features] = old.weight</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new.bias[:old.out_features]   = old.bias</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_set_module(model, name, new)</a:t>
            </a:r>
            <a:endParaRPr lang="en-US" sz="900" dirty="0"/>
          </a:p>
        </p:txBody>
      </p:sp>
      <p:sp>
        <p:nvSpPr>
          <p:cNvPr id="9" name="Text 7"/>
          <p:cNvSpPr txBox="1"/>
          <p:nvPr/>
        </p:nvSpPr>
        <p:spPr>
          <a:xfrm>
            <a:off x="457200" y="3008376"/>
            <a:ext cx="4892040" cy="219456"/>
          </a:xfrm>
          <a:prstGeom prst="rect">
            <a:avLst/>
          </a:prstGeom>
          <a:noFill/>
          <a:ln/>
        </p:spPr>
        <p:txBody>
          <a:bodyPr wrap="square" lIns="0" tIns="0" rIns="0" bIns="0" rtlCol="0" anchor="ctr"/>
          <a:lstStyle/>
          <a:p>
            <a:pPr indent="0" marL="0">
              <a:buNone/>
            </a:pPr>
            <a:r>
              <a:rPr lang="en-US" sz="1000" b="1" dirty="0">
                <a:solidFill>
                  <a:srgbClr val="5A6B76"/>
                </a:solidFill>
                <a:latin typeface="Calibri" pitchFamily="34" charset="0"/>
                <a:ea typeface="Calibri" pitchFamily="34" charset="-122"/>
                <a:cs typeface="Calibri" pitchFamily="34" charset="-120"/>
              </a:rPr>
              <a:t>The invariant that makes forgetting measurable</a:t>
            </a:r>
            <a:endParaRPr lang="en-US" sz="1000" dirty="0"/>
          </a:p>
        </p:txBody>
      </p:sp>
      <p:sp>
        <p:nvSpPr>
          <p:cNvPr id="10" name="Shape 8"/>
          <p:cNvSpPr/>
          <p:nvPr/>
        </p:nvSpPr>
        <p:spPr>
          <a:xfrm>
            <a:off x="457200" y="3246120"/>
            <a:ext cx="4892040" cy="1280160"/>
          </a:xfrm>
          <a:prstGeom prst="roundRect">
            <a:avLst>
              <a:gd name="adj" fmla="val 4286"/>
            </a:avLst>
          </a:prstGeom>
          <a:solidFill>
            <a:srgbClr val="10293D"/>
          </a:solidFill>
          <a:ln w="12700">
            <a:solidFill>
              <a:srgbClr val="10293D"/>
            </a:solidFill>
            <a:prstDash val="solid"/>
          </a:ln>
        </p:spPr>
      </p:sp>
      <p:sp>
        <p:nvSpPr>
          <p:cNvPr id="11" name="Text 9"/>
          <p:cNvSpPr txBox="1"/>
          <p:nvPr/>
        </p:nvSpPr>
        <p:spPr>
          <a:xfrm>
            <a:off x="603504" y="3355848"/>
            <a:ext cx="4599432" cy="1060704"/>
          </a:xfrm>
          <a:prstGeom prst="rect">
            <a:avLst/>
          </a:prstGeom>
          <a:noFill/>
          <a:ln/>
        </p:spPr>
        <p:txBody>
          <a:bodyPr wrap="square" lIns="0" tIns="0" rIns="0" bIns="0" rtlCol="0" anchor="t"/>
          <a:lstStyle/>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def extended_mapping(old_labels, new_labels):</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m = make_mapping(old_labels)      # 0..N-1 preserved</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for i, lab in enumerate(sorted(new_labels)):</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m[lab] = len(old_labels) + i  # appended, not</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return m                          # interleaved</a:t>
            </a:r>
            <a:endParaRPr lang="en-US" sz="900" dirty="0"/>
          </a:p>
        </p:txBody>
      </p:sp>
      <p:sp>
        <p:nvSpPr>
          <p:cNvPr id="12" name="Shape 10"/>
          <p:cNvSpPr/>
          <p:nvPr/>
        </p:nvSpPr>
        <p:spPr>
          <a:xfrm>
            <a:off x="5577840" y="1060704"/>
            <a:ext cx="3108960" cy="1280160"/>
          </a:xfrm>
          <a:prstGeom prst="roundRect">
            <a:avLst>
              <a:gd name="adj" fmla="val 5000"/>
            </a:avLst>
          </a:prstGeom>
          <a:solidFill>
            <a:srgbClr val="EEF3F6"/>
          </a:solidFill>
          <a:ln w="12700">
            <a:solidFill>
              <a:srgbClr val="EEF3F6"/>
            </a:solidFill>
            <a:prstDash val="solid"/>
          </a:ln>
        </p:spPr>
      </p:sp>
      <p:sp>
        <p:nvSpPr>
          <p:cNvPr id="13" name="Text 11"/>
          <p:cNvSpPr txBox="1"/>
          <p:nvPr/>
        </p:nvSpPr>
        <p:spPr>
          <a:xfrm>
            <a:off x="5742432" y="1161288"/>
            <a:ext cx="277977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Why find the last Linear</a:t>
            </a:r>
            <a:endParaRPr lang="en-US" sz="1150" dirty="0"/>
          </a:p>
        </p:txBody>
      </p:sp>
      <p:sp>
        <p:nvSpPr>
          <p:cNvPr id="14" name="Text 12"/>
          <p:cNvSpPr txBox="1"/>
          <p:nvPr/>
        </p:nvSpPr>
        <p:spPr>
          <a:xfrm>
            <a:off x="5742432" y="1408176"/>
            <a:ext cx="2779776" cy="82296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The five designs name their classifier differently: .fc, .classifier, .mlp_head, .head. Walking to the last nn.Linear works for all of them.</a:t>
            </a:r>
            <a:endParaRPr lang="en-US" sz="1050" dirty="0"/>
          </a:p>
        </p:txBody>
      </p:sp>
      <p:sp>
        <p:nvSpPr>
          <p:cNvPr id="15" name="Shape 13"/>
          <p:cNvSpPr/>
          <p:nvPr/>
        </p:nvSpPr>
        <p:spPr>
          <a:xfrm>
            <a:off x="5577840" y="2432304"/>
            <a:ext cx="3108960" cy="1280160"/>
          </a:xfrm>
          <a:prstGeom prst="roundRect">
            <a:avLst>
              <a:gd name="adj" fmla="val 5000"/>
            </a:avLst>
          </a:prstGeom>
          <a:solidFill>
            <a:srgbClr val="FBEDE6"/>
          </a:solidFill>
          <a:ln w="12700">
            <a:solidFill>
              <a:srgbClr val="FBEDE6"/>
            </a:solidFill>
            <a:prstDash val="solid"/>
          </a:ln>
        </p:spPr>
      </p:sp>
      <p:sp>
        <p:nvSpPr>
          <p:cNvPr id="16" name="Text 14"/>
          <p:cNvSpPr txBox="1"/>
          <p:nvPr/>
        </p:nvSpPr>
        <p:spPr>
          <a:xfrm>
            <a:off x="5742432" y="2532888"/>
            <a:ext cx="277977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Why append, never interleave</a:t>
            </a:r>
            <a:endParaRPr lang="en-US" sz="1150" dirty="0"/>
          </a:p>
        </p:txBody>
      </p:sp>
      <p:sp>
        <p:nvSpPr>
          <p:cNvPr id="17" name="Text 15"/>
          <p:cNvSpPr txBox="1"/>
          <p:nvPr/>
        </p:nvSpPr>
        <p:spPr>
          <a:xfrm>
            <a:off x="5742432" y="2779776"/>
            <a:ext cx="2779776" cy="82296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If new classes were inserted in sorted order, every old class index would shift and the copied weight rows would point at the wrong species.</a:t>
            </a:r>
            <a:endParaRPr lang="en-US" sz="1050" dirty="0"/>
          </a:p>
        </p:txBody>
      </p:sp>
      <p:sp>
        <p:nvSpPr>
          <p:cNvPr id="18" name="Shape 16"/>
          <p:cNvSpPr/>
          <p:nvPr/>
        </p:nvSpPr>
        <p:spPr>
          <a:xfrm>
            <a:off x="5577840" y="3803904"/>
            <a:ext cx="3108960" cy="722376"/>
          </a:xfrm>
          <a:prstGeom prst="roundRect">
            <a:avLst>
              <a:gd name="adj" fmla="val 8861"/>
            </a:avLst>
          </a:prstGeom>
          <a:solidFill>
            <a:srgbClr val="E7F3EF"/>
          </a:solidFill>
          <a:ln w="12700">
            <a:solidFill>
              <a:srgbClr val="E7F3EF"/>
            </a:solidFill>
            <a:prstDash val="solid"/>
          </a:ln>
        </p:spPr>
      </p:sp>
      <p:sp>
        <p:nvSpPr>
          <p:cNvPr id="19" name="Text 17"/>
          <p:cNvSpPr txBox="1"/>
          <p:nvPr/>
        </p:nvSpPr>
        <p:spPr>
          <a:xfrm>
            <a:off x="5742432" y="3904488"/>
            <a:ext cx="277977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Also provides</a:t>
            </a:r>
            <a:endParaRPr lang="en-US" sz="1150" dirty="0"/>
          </a:p>
        </p:txBody>
      </p:sp>
      <p:sp>
        <p:nvSpPr>
          <p:cNvPr id="20" name="Text 18"/>
          <p:cNvSpPr txBox="1"/>
          <p:nvPr/>
        </p:nvSpPr>
        <p:spPr>
          <a:xfrm>
            <a:off x="5742432" y="4151376"/>
            <a:ext cx="2779776" cy="265176"/>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Stratified class splits, replay sampling, freeze_backbone, forgetting report.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37744"/>
            <a:ext cx="6766560" cy="411480"/>
          </a:xfrm>
          <a:prstGeom prst="rect">
            <a:avLst/>
          </a:prstGeom>
          <a:noFill/>
          <a:ln/>
        </p:spPr>
        <p:txBody>
          <a:bodyPr wrap="square" lIns="0" tIns="0" rIns="0" bIns="0" rtlCol="0" anchor="ctr"/>
          <a:lstStyle/>
          <a:p>
            <a:pPr indent="0" marL="0">
              <a:buNone/>
            </a:pPr>
            <a:r>
              <a:rPr lang="en-US" sz="2500" b="1" dirty="0">
                <a:solidFill>
                  <a:srgbClr val="0C2E45"/>
                </a:solidFill>
                <a:latin typeface="Cambria" pitchFamily="34" charset="0"/>
                <a:ea typeface="Cambria" pitchFamily="34" charset="-122"/>
                <a:cs typeface="Cambria" pitchFamily="34" charset="-120"/>
              </a:rPr>
              <a:t>src/tools/ — six analysis scripts</a:t>
            </a:r>
            <a:endParaRPr lang="en-US" sz="2500" dirty="0"/>
          </a:p>
        </p:txBody>
      </p:sp>
      <p:sp>
        <p:nvSpPr>
          <p:cNvPr id="3" name="Text 1"/>
          <p:cNvSpPr txBox="1"/>
          <p:nvPr/>
        </p:nvSpPr>
        <p:spPr>
          <a:xfrm>
            <a:off x="457200" y="667512"/>
            <a:ext cx="6766560" cy="274320"/>
          </a:xfrm>
          <a:prstGeom prst="rect">
            <a:avLst/>
          </a:prstGeom>
          <a:noFill/>
          <a:ln/>
        </p:spPr>
        <p:txBody>
          <a:bodyPr wrap="square" lIns="0" tIns="0" rIns="0" bIns="0" rtlCol="0" anchor="ctr"/>
          <a:lstStyle/>
          <a:p>
            <a:pPr indent="0" marL="0">
              <a:buNone/>
            </a:pPr>
            <a:r>
              <a:rPr lang="en-US" sz="1200" i="1" dirty="0">
                <a:solidFill>
                  <a:srgbClr val="5A6B76"/>
                </a:solidFill>
                <a:latin typeface="Calibri" pitchFamily="34" charset="0"/>
                <a:ea typeface="Calibri" pitchFamily="34" charset="-122"/>
                <a:cs typeface="Calibri" pitchFamily="34" charset="-120"/>
              </a:rPr>
              <a:t>Why the statistics needed their own code</a:t>
            </a:r>
            <a:endParaRPr lang="en-US" sz="1200" dirty="0"/>
          </a:p>
        </p:txBody>
      </p:sp>
      <p:sp>
        <p:nvSpPr>
          <p:cNvPr id="4" name="Shape 2"/>
          <p:cNvSpPr/>
          <p:nvPr/>
        </p:nvSpPr>
        <p:spPr>
          <a:xfrm>
            <a:off x="7360920" y="274320"/>
            <a:ext cx="1325880" cy="329184"/>
          </a:xfrm>
          <a:prstGeom prst="roundRect">
            <a:avLst>
              <a:gd name="adj" fmla="val 16667"/>
            </a:avLst>
          </a:prstGeom>
          <a:solidFill>
            <a:srgbClr val="065A82"/>
          </a:solidFill>
          <a:ln w="12700">
            <a:solidFill>
              <a:srgbClr val="065A82"/>
            </a:solidFill>
            <a:prstDash val="solid"/>
          </a:ln>
        </p:spPr>
      </p:sp>
      <p:sp>
        <p:nvSpPr>
          <p:cNvPr id="5" name="Text 3"/>
          <p:cNvSpPr txBox="1"/>
          <p:nvPr/>
        </p:nvSpPr>
        <p:spPr>
          <a:xfrm>
            <a:off x="7360920" y="274320"/>
            <a:ext cx="132588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NEW</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4983480" cy="914400"/>
        </p:xfrm>
        <a:graphic>
          <a:graphicData uri="http://schemas.openxmlformats.org/drawingml/2006/table">
            <a:tbl>
              <a:tblPr/>
              <a:tblGrid>
                <a:gridCol w="1965960"/>
                <a:gridCol w="3017520"/>
              </a:tblGrid>
              <a:tr h="274320">
                <a:tc>
                  <a:txBody>
                    <a:bodyPr/>
                    <a:lstStyle/>
                    <a:p>
                      <a:pPr indent="0" marL="0">
                        <a:buNone/>
                      </a:pPr>
                      <a:r>
                        <a:rPr lang="en-US" sz="950" b="1" dirty="0">
                          <a:solidFill>
                            <a:srgbClr val="22333F"/>
                          </a:solidFill>
                          <a:latin typeface="Calibri" pitchFamily="34" charset="0"/>
                          <a:ea typeface="Calibri" pitchFamily="34" charset="-122"/>
                          <a:cs typeface="Calibri" pitchFamily="34" charset="-120"/>
                        </a:rPr>
                        <a:t>Script</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b="1" dirty="0">
                          <a:solidFill>
                            <a:srgbClr val="22333F"/>
                          </a:solidFill>
                          <a:latin typeface="Calibri" pitchFamily="34" charset="0"/>
                          <a:ea typeface="Calibri" pitchFamily="34" charset="-122"/>
                          <a:cs typeface="Calibri" pitchFamily="34" charset="-120"/>
                        </a:rPr>
                        <a:t>What it does</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compare_runs.py</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Tabulate finished runs; seed-noise floor</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check_variance_source.py</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Score both checkpoints; attribute variance to a stage</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run_ablation.py</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Execute arms x seeds; paired + McNemar analysis</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run_phase2.py</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Same, for the four fine-tuning arms</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run_incremental.py</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Held-out-class experiment, four strategies</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compare_two.py</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Paired comparison ACROSS configs (e.g. 20 vs 60 epochs)</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ensemble.py</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Logit / probability / vote combination + diversity</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457200" y="3401568"/>
            <a:ext cx="4983480" cy="219456"/>
          </a:xfrm>
          <a:prstGeom prst="rect">
            <a:avLst/>
          </a:prstGeom>
          <a:noFill/>
          <a:ln/>
        </p:spPr>
        <p:txBody>
          <a:bodyPr wrap="square" lIns="0" tIns="0" rIns="0" bIns="0" rtlCol="0" anchor="ctr"/>
          <a:lstStyle/>
          <a:p>
            <a:pPr indent="0" marL="0">
              <a:buNone/>
            </a:pPr>
            <a:r>
              <a:rPr lang="en-US" sz="1000" b="1" dirty="0">
                <a:solidFill>
                  <a:srgbClr val="5A6B76"/>
                </a:solidFill>
                <a:latin typeface="Calibri" pitchFamily="34" charset="0"/>
                <a:ea typeface="Calibri" pitchFamily="34" charset="-122"/>
                <a:cs typeface="Calibri" pitchFamily="34" charset="-120"/>
              </a:rPr>
              <a:t>McNemar on paired per-sample correctness</a:t>
            </a:r>
            <a:endParaRPr lang="en-US" sz="1000" dirty="0"/>
          </a:p>
        </p:txBody>
      </p:sp>
      <p:sp>
        <p:nvSpPr>
          <p:cNvPr id="8" name="Shape 5"/>
          <p:cNvSpPr/>
          <p:nvPr/>
        </p:nvSpPr>
        <p:spPr>
          <a:xfrm>
            <a:off x="457200" y="3639312"/>
            <a:ext cx="4983480" cy="886968"/>
          </a:xfrm>
          <a:prstGeom prst="roundRect">
            <a:avLst>
              <a:gd name="adj" fmla="val 6186"/>
            </a:avLst>
          </a:prstGeom>
          <a:solidFill>
            <a:srgbClr val="10293D"/>
          </a:solidFill>
          <a:ln w="12700">
            <a:solidFill>
              <a:srgbClr val="10293D"/>
            </a:solidFill>
            <a:prstDash val="solid"/>
          </a:ln>
        </p:spPr>
      </p:sp>
      <p:sp>
        <p:nvSpPr>
          <p:cNvPr id="9" name="Text 6"/>
          <p:cNvSpPr txBox="1"/>
          <p:nvPr/>
        </p:nvSpPr>
        <p:spPr>
          <a:xfrm>
            <a:off x="603504" y="3749040"/>
            <a:ext cx="4690872" cy="667512"/>
          </a:xfrm>
          <a:prstGeom prst="rect">
            <a:avLst/>
          </a:prstGeom>
          <a:noFill/>
          <a:ln/>
        </p:spPr>
        <p:txBody>
          <a:bodyPr wrap="square" lIns="0" tIns="0" rIns="0" bIns="0" rtlCol="0" anchor="t"/>
          <a:lstStyle/>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b = (correct_a &amp; ~correct_b).sum()  # A right, B wrong</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c = (~correct_a &amp; correct_b).sum()  # B right, A wrong</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chi2 = (abs(b - c) - 1)**2 / (b + c)   # df 1</a:t>
            </a:r>
            <a:endParaRPr lang="en-US" sz="900" dirty="0"/>
          </a:p>
          <a:p>
            <a:pPr indent="0" marL="0">
              <a:lnSpc>
                <a:spcPct val="105000"/>
              </a:lnSpc>
              <a:buNone/>
            </a:pPr>
            <a:r>
              <a:rPr lang="en-US" sz="900" dirty="0">
                <a:solidFill>
                  <a:srgbClr val="D6E6F0"/>
                </a:solidFill>
                <a:latin typeface="Courier New" pitchFamily="34" charset="0"/>
                <a:ea typeface="Courier New" pitchFamily="34" charset="-122"/>
                <a:cs typeface="Courier New" pitchFamily="34" charset="-120"/>
              </a:rPr>
              <a:t># concordant pairs carry no information; ignored</a:t>
            </a:r>
            <a:endParaRPr lang="en-US" sz="900" dirty="0"/>
          </a:p>
        </p:txBody>
      </p:sp>
      <p:sp>
        <p:nvSpPr>
          <p:cNvPr id="10" name="Shape 7"/>
          <p:cNvSpPr/>
          <p:nvPr/>
        </p:nvSpPr>
        <p:spPr>
          <a:xfrm>
            <a:off x="5669280" y="1097280"/>
            <a:ext cx="3017520" cy="1463040"/>
          </a:xfrm>
          <a:prstGeom prst="roundRect">
            <a:avLst>
              <a:gd name="adj" fmla="val 4375"/>
            </a:avLst>
          </a:prstGeom>
          <a:solidFill>
            <a:srgbClr val="FBEDE6"/>
          </a:solidFill>
          <a:ln w="12700">
            <a:solidFill>
              <a:srgbClr val="FBEDE6"/>
            </a:solidFill>
            <a:prstDash val="solid"/>
          </a:ln>
        </p:spPr>
      </p:sp>
      <p:sp>
        <p:nvSpPr>
          <p:cNvPr id="11" name="Text 8"/>
          <p:cNvSpPr txBox="1"/>
          <p:nvPr/>
        </p:nvSpPr>
        <p:spPr>
          <a:xfrm>
            <a:off x="5833872" y="1197864"/>
            <a:ext cx="268833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Why not just compare means</a:t>
            </a:r>
            <a:endParaRPr lang="en-US" sz="1150" dirty="0"/>
          </a:p>
        </p:txBody>
      </p:sp>
      <p:sp>
        <p:nvSpPr>
          <p:cNvPr id="12" name="Text 9"/>
          <p:cNvSpPr txBox="1"/>
          <p:nvPr/>
        </p:nvSpPr>
        <p:spPr>
          <a:xfrm>
            <a:off x="5833872" y="1444752"/>
            <a:ext cx="2688336" cy="100584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At 3 seeds a t-interval estimates its own spread from three numbers. It resolves about 1.7 points and is unstable in both directions.</a:t>
            </a:r>
            <a:endParaRPr lang="en-US" sz="1050" dirty="0"/>
          </a:p>
        </p:txBody>
      </p:sp>
      <p:sp>
        <p:nvSpPr>
          <p:cNvPr id="13" name="Shape 10"/>
          <p:cNvSpPr/>
          <p:nvPr/>
        </p:nvSpPr>
        <p:spPr>
          <a:xfrm>
            <a:off x="5669280" y="2651760"/>
            <a:ext cx="3017520" cy="1234440"/>
          </a:xfrm>
          <a:prstGeom prst="roundRect">
            <a:avLst>
              <a:gd name="adj" fmla="val 5185"/>
            </a:avLst>
          </a:prstGeom>
          <a:solidFill>
            <a:srgbClr val="EEF3F6"/>
          </a:solidFill>
          <a:ln w="12700">
            <a:solidFill>
              <a:srgbClr val="EEF3F6"/>
            </a:solidFill>
            <a:prstDash val="solid"/>
          </a:ln>
        </p:spPr>
      </p:sp>
      <p:sp>
        <p:nvSpPr>
          <p:cNvPr id="14" name="Text 11"/>
          <p:cNvSpPr txBox="1"/>
          <p:nvPr/>
        </p:nvSpPr>
        <p:spPr>
          <a:xfrm>
            <a:off x="5833872" y="2752344"/>
            <a:ext cx="268833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Why paired, same seeds</a:t>
            </a:r>
            <a:endParaRPr lang="en-US" sz="1150" dirty="0"/>
          </a:p>
        </p:txBody>
      </p:sp>
      <p:sp>
        <p:nvSpPr>
          <p:cNvPr id="15" name="Text 12"/>
          <p:cNvSpPr txBox="1"/>
          <p:nvPr/>
        </p:nvSpPr>
        <p:spPr>
          <a:xfrm>
            <a:off x="5833872" y="2999232"/>
            <a:ext cx="2688336" cy="77724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Per-seed differences cancel the seed effect. Six runs then resolve about 1.1 points instead of 1.7.</a:t>
            </a:r>
            <a:endParaRPr lang="en-US" sz="1050" dirty="0"/>
          </a:p>
        </p:txBody>
      </p:sp>
      <p:sp>
        <p:nvSpPr>
          <p:cNvPr id="16" name="Shape 13"/>
          <p:cNvSpPr/>
          <p:nvPr/>
        </p:nvSpPr>
        <p:spPr>
          <a:xfrm>
            <a:off x="5669280" y="3977640"/>
            <a:ext cx="3017520" cy="548640"/>
          </a:xfrm>
          <a:prstGeom prst="roundRect">
            <a:avLst>
              <a:gd name="adj" fmla="val 11667"/>
            </a:avLst>
          </a:prstGeom>
          <a:solidFill>
            <a:srgbClr val="E7F3EF"/>
          </a:solidFill>
          <a:ln w="12700">
            <a:solidFill>
              <a:srgbClr val="E7F3EF"/>
            </a:solidFill>
            <a:prstDash val="solid"/>
          </a:ln>
        </p:spPr>
      </p:sp>
      <p:sp>
        <p:nvSpPr>
          <p:cNvPr id="17" name="Text 14"/>
          <p:cNvSpPr txBox="1"/>
          <p:nvPr/>
        </p:nvSpPr>
        <p:spPr>
          <a:xfrm>
            <a:off x="5833872" y="4078224"/>
            <a:ext cx="2688336" cy="22860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Both disagreed, twice</a:t>
            </a:r>
            <a:endParaRPr lang="en-US" sz="1150" dirty="0"/>
          </a:p>
        </p:txBody>
      </p:sp>
      <p:sp>
        <p:nvSpPr>
          <p:cNvPr id="18" name="Text 15"/>
          <p:cNvSpPr txBox="1"/>
          <p:nvPr/>
        </p:nvSpPr>
        <p:spPr>
          <a:xfrm>
            <a:off x="5833872" y="4325112"/>
            <a:ext cx="2688336" cy="91440"/>
          </a:xfrm>
          <a:prstGeom prst="rect">
            <a:avLst/>
          </a:prstGeom>
          <a:noFill/>
          <a:ln/>
        </p:spPr>
        <p:txBody>
          <a:bodyPr wrap="square" lIns="0" tIns="0" rIns="0" bIns="0" rtlCol="0" anchor="t"/>
          <a:lstStyle/>
          <a:p>
            <a:pPr indent="0" marL="0">
              <a:lnSpc>
                <a:spcPct val="112000"/>
              </a:lnSpc>
              <a:buNone/>
            </a:pPr>
            <a:r>
              <a:rPr lang="en-US" sz="1050" dirty="0">
                <a:solidFill>
                  <a:srgbClr val="22333F"/>
                </a:solidFill>
                <a:latin typeface="Calibri" pitchFamily="34" charset="0"/>
                <a:ea typeface="Calibri" pitchFamily="34" charset="-122"/>
                <a:cs typeface="Calibri" pitchFamily="34" charset="-120"/>
              </a:rPr>
              <a:t>The t-interval was wrong each time.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37744"/>
            <a:ext cx="6766560" cy="411480"/>
          </a:xfrm>
          <a:prstGeom prst="rect">
            <a:avLst/>
          </a:prstGeom>
          <a:noFill/>
          <a:ln/>
        </p:spPr>
        <p:txBody>
          <a:bodyPr wrap="square" lIns="0" tIns="0" rIns="0" bIns="0" rtlCol="0" anchor="ctr"/>
          <a:lstStyle/>
          <a:p>
            <a:pPr indent="0" marL="0">
              <a:buNone/>
            </a:pPr>
            <a:r>
              <a:rPr lang="en-US" sz="2500" b="1" dirty="0">
                <a:solidFill>
                  <a:srgbClr val="0C2E45"/>
                </a:solidFill>
                <a:latin typeface="Cambria" pitchFamily="34" charset="0"/>
                <a:ea typeface="Cambria" pitchFamily="34" charset="-122"/>
                <a:cs typeface="Cambria" pitchFamily="34" charset="-120"/>
              </a:rPr>
              <a:t>Impact per change</a:t>
            </a:r>
            <a:endParaRPr lang="en-US" sz="2500" dirty="0"/>
          </a:p>
        </p:txBody>
      </p:sp>
      <p:sp>
        <p:nvSpPr>
          <p:cNvPr id="3" name="Text 1"/>
          <p:cNvSpPr txBox="1"/>
          <p:nvPr/>
        </p:nvSpPr>
        <p:spPr>
          <a:xfrm>
            <a:off x="457200" y="667512"/>
            <a:ext cx="6766560" cy="274320"/>
          </a:xfrm>
          <a:prstGeom prst="rect">
            <a:avLst/>
          </a:prstGeom>
          <a:noFill/>
          <a:ln/>
        </p:spPr>
        <p:txBody>
          <a:bodyPr wrap="square" lIns="0" tIns="0" rIns="0" bIns="0" rtlCol="0" anchor="ctr"/>
          <a:lstStyle/>
          <a:p>
            <a:pPr indent="0" marL="0">
              <a:buNone/>
            </a:pPr>
            <a:r>
              <a:rPr lang="en-US" sz="1200" i="1" dirty="0">
                <a:solidFill>
                  <a:srgbClr val="5A6B76"/>
                </a:solidFill>
                <a:latin typeface="Calibri" pitchFamily="34" charset="0"/>
                <a:ea typeface="Calibri" pitchFamily="34" charset="-122"/>
                <a:cs typeface="Calibri" pitchFamily="34" charset="-120"/>
              </a:rPr>
              <a:t>What each change returned, and whether it was necessary</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286000"/>
                <a:gridCol w="868680"/>
                <a:gridCol w="1143000"/>
                <a:gridCol w="3931920"/>
              </a:tblGrid>
              <a:tr h="288036">
                <a:tc>
                  <a:txBody>
                    <a:bodyPr/>
                    <a:lstStyle/>
                    <a:p>
                      <a:pPr indent="0" marL="0">
                        <a:buNone/>
                      </a:pPr>
                      <a:r>
                        <a:rPr lang="en-US" sz="950" b="1" dirty="0">
                          <a:solidFill>
                            <a:srgbClr val="22333F"/>
                          </a:solidFill>
                          <a:latin typeface="Calibri" pitchFamily="34" charset="0"/>
                          <a:ea typeface="Calibri" pitchFamily="34" charset="-122"/>
                          <a:cs typeface="Calibri" pitchFamily="34" charset="-120"/>
                        </a:rPr>
                        <a:t>Change</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b="1" dirty="0">
                          <a:solidFill>
                            <a:srgbClr val="22333F"/>
                          </a:solidFill>
                          <a:latin typeface="Calibri" pitchFamily="34" charset="0"/>
                          <a:ea typeface="Calibri" pitchFamily="34" charset="-122"/>
                          <a:cs typeface="Calibri" pitchFamily="34" charset="-120"/>
                        </a:rPr>
                        <a:t>Accuracy</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b="1" dirty="0">
                          <a:solidFill>
                            <a:srgbClr val="22333F"/>
                          </a:solidFill>
                          <a:latin typeface="Calibri" pitchFamily="34" charset="0"/>
                          <a:ea typeface="Calibri" pitchFamily="34" charset="-122"/>
                          <a:cs typeface="Calibri" pitchFamily="34" charset="-120"/>
                        </a:rPr>
                        <a:t>Necessary?</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b="1" dirty="0">
                          <a:solidFill>
                            <a:srgbClr val="22333F"/>
                          </a:solidFill>
                          <a:latin typeface="Calibri" pitchFamily="34" charset="0"/>
                          <a:ea typeface="Calibri" pitchFamily="34" charset="-122"/>
                          <a:cs typeface="Calibri" pitchFamily="34" charset="-120"/>
                        </a:rPr>
                        <a:t>Why</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88036">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Seeding + manifests</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0.00</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Prerequisite</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Nothing downstream is falsifiable without it</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88036">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Preprocessing cache</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0.00</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Convenience; also made ablation arms clean</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88036">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Per-class metrics</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0.00</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Only way to see per-class collapse in exp 7</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88036">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Declarative pipeline</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0.00</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Turned the ablation into a CLI flag</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88036">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Drop ASPLS</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+9.11</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The entire accuracy gain, p = 2.5e-57</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88036">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deepcopy + StratifiedKFold</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0.00</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Corrected a number already in the docs</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88036">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Label-space guard</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0.00</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Blocks a silently meaningless clinical result</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88036">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Phase-2 controls</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0.00</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No, but</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Needed to prove three null results</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88036">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Head expansion + strategies</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0.00</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Enabled the new-class experiment</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r h="288036">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3-model ensemble</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+0.80</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Optional</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c>
                  <a:txBody>
                    <a:bodyPr/>
                    <a:lstStyle/>
                    <a:p>
                      <a:pPr indent="0" marL="0">
                        <a:buNone/>
                      </a:pPr>
                      <a:r>
                        <a:rPr lang="en-US" sz="950" dirty="0">
                          <a:solidFill>
                            <a:srgbClr val="22333F"/>
                          </a:solidFill>
                          <a:latin typeface="Calibri" pitchFamily="34" charset="0"/>
                          <a:ea typeface="Calibri" pitchFamily="34" charset="-122"/>
                          <a:cs typeface="Calibri" pitchFamily="34" charset="-120"/>
                        </a:rPr>
                        <a:t>Marginal, p = 0.059; 3x inference cost</a:t>
                      </a:r>
                      <a:endParaRPr lang="en-US" sz="950" dirty="0">
                        <a:latin typeface="Calibri" charset="0"/>
                        <a:ea typeface="Calibri" charset="0"/>
                        <a:cs typeface="Calibri" charset="0"/>
                      </a:endParaRPr>
                    </a:p>
                  </a:txBody>
                  <a:tcPr marL="91440" marR="91440" marT="45720" marB="45720" anchor="ctr">
                    <a:lnL w="6350" cap="flat" cmpd="sng" algn="ctr">
                      <a:solidFill>
                        <a:srgbClr val="DCE4E9"/>
                      </a:solidFill>
                      <a:prstDash val="solid"/>
                      <a:round/>
                      <a:headEnd type="none" w="med" len="med"/>
                      <a:tailEnd type="none" w="med" len="med"/>
                    </a:lnL>
                    <a:lnR w="6350" cap="flat" cmpd="sng" algn="ctr">
                      <a:solidFill>
                        <a:srgbClr val="DCE4E9"/>
                      </a:solidFill>
                      <a:prstDash val="solid"/>
                      <a:round/>
                      <a:headEnd type="none" w="med" len="med"/>
                      <a:tailEnd type="none" w="med" len="med"/>
                    </a:lnR>
                    <a:lnT w="6350" cap="flat" cmpd="sng" algn="ctr">
                      <a:solidFill>
                        <a:srgbClr val="DCE4E9"/>
                      </a:solidFill>
                      <a:prstDash val="solid"/>
                      <a:round/>
                      <a:headEnd type="none" w="med" len="med"/>
                      <a:tailEnd type="none" w="med" len="med"/>
                    </a:lnT>
                    <a:lnB w="6350" cap="flat" cmpd="sng" algn="ctr">
                      <a:solidFill>
                        <a:srgbClr val="DCE4E9"/>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150" b="1" dirty="0">
                <a:solidFill>
                  <a:srgbClr val="0C2E45"/>
                </a:solidFill>
                <a:latin typeface="Calibri" pitchFamily="34" charset="0"/>
                <a:ea typeface="Calibri" pitchFamily="34" charset="-122"/>
                <a:cs typeface="Calibri" pitchFamily="34" charset="-120"/>
              </a:rPr>
              <a:t>Eight experiments, one accuracy win. 74.78 → 85.03. No architecture was modified.</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2E45"/>
        </a:solidFill>
      </p:bgPr>
    </p:bg>
    <p:spTree>
      <p:nvGrpSpPr>
        <p:cNvPr id="1" name=""/>
        <p:cNvGrpSpPr/>
        <p:nvPr/>
      </p:nvGrpSpPr>
      <p:grpSpPr>
        <a:xfrm>
          <a:off x="0" y="0"/>
          <a:ext cx="0" cy="0"/>
          <a:chOff x="0" y="0"/>
          <a:chExt cx="0" cy="0"/>
        </a:xfrm>
      </p:grpSpPr>
      <p:sp>
        <p:nvSpPr>
          <p:cNvPr id="2" name="Text 0"/>
          <p:cNvSpPr txBox="1"/>
          <p:nvPr/>
        </p:nvSpPr>
        <p:spPr>
          <a:xfrm>
            <a:off x="594360" y="384048"/>
            <a:ext cx="7955280" cy="45720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Known gaps and what is next</a:t>
            </a:r>
            <a:endParaRPr lang="en-US" sz="2700" dirty="0"/>
          </a:p>
        </p:txBody>
      </p:sp>
      <p:sp>
        <p:nvSpPr>
          <p:cNvPr id="3" name="Shape 1"/>
          <p:cNvSpPr/>
          <p:nvPr/>
        </p:nvSpPr>
        <p:spPr>
          <a:xfrm>
            <a:off x="594360" y="1088136"/>
            <a:ext cx="256032" cy="256032"/>
          </a:xfrm>
          <a:prstGeom prst="ellipse">
            <a:avLst/>
          </a:prstGeom>
          <a:solidFill>
            <a:srgbClr val="B8863B"/>
          </a:solidFill>
          <a:ln/>
        </p:spPr>
      </p:sp>
      <p:sp>
        <p:nvSpPr>
          <p:cNvPr id="4" name="Text 2"/>
          <p:cNvSpPr txBox="1"/>
          <p:nvPr/>
        </p:nvSpPr>
        <p:spPr>
          <a:xfrm>
            <a:off x="987552" y="1051560"/>
            <a:ext cx="758952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Unfixed in my own tools</a:t>
            </a:r>
            <a:endParaRPr lang="en-US" sz="1400" dirty="0"/>
          </a:p>
        </p:txBody>
      </p:sp>
      <p:sp>
        <p:nvSpPr>
          <p:cNvPr id="5" name="Text 3"/>
          <p:cNvSpPr txBox="1"/>
          <p:nvPr/>
        </p:nvSpPr>
        <p:spPr>
          <a:xfrm>
            <a:off x="987552" y="1325880"/>
            <a:ext cx="7589520" cy="594360"/>
          </a:xfrm>
          <a:prstGeom prst="rect">
            <a:avLst/>
          </a:prstGeom>
          <a:noFill/>
          <a:ln/>
        </p:spPr>
        <p:txBody>
          <a:bodyPr wrap="square" lIns="0" tIns="0" rIns="0" bIns="0" rtlCol="0" anchor="t"/>
          <a:lstStyle/>
          <a:p>
            <a:pPr indent="0" marL="0">
              <a:lnSpc>
                <a:spcPct val="110000"/>
              </a:lnSpc>
              <a:buNone/>
            </a:pPr>
            <a:r>
              <a:rPr lang="en-US" sz="1050" dirty="0">
                <a:solidFill>
                  <a:srgbClr val="C3D8E4"/>
                </a:solidFill>
                <a:latin typeface="Calibri" pitchFamily="34" charset="0"/>
                <a:ea typeface="Calibri" pitchFamily="34" charset="-122"/>
                <a:cs typeface="Calibri" pitchFamily="34" charset="-120"/>
              </a:rPr>
              <a:t>compare_runs.py and check_variance_source.py pool statistics across model types and print a meaningless noise band. No --model-type filter. Numbers were read off manually.</a:t>
            </a:r>
            <a:endParaRPr lang="en-US" sz="1050" dirty="0"/>
          </a:p>
        </p:txBody>
      </p:sp>
      <p:sp>
        <p:nvSpPr>
          <p:cNvPr id="6" name="Shape 4"/>
          <p:cNvSpPr/>
          <p:nvPr/>
        </p:nvSpPr>
        <p:spPr>
          <a:xfrm>
            <a:off x="594360" y="2020824"/>
            <a:ext cx="256032" cy="256032"/>
          </a:xfrm>
          <a:prstGeom prst="ellipse">
            <a:avLst/>
          </a:prstGeom>
          <a:solidFill>
            <a:srgbClr val="B8863B"/>
          </a:solidFill>
          <a:ln/>
        </p:spPr>
      </p:sp>
      <p:sp>
        <p:nvSpPr>
          <p:cNvPr id="7" name="Text 5"/>
          <p:cNvSpPr txBox="1"/>
          <p:nvPr/>
        </p:nvSpPr>
        <p:spPr>
          <a:xfrm>
            <a:off x="987552" y="1984248"/>
            <a:ext cx="758952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Ablation arm design flaw</a:t>
            </a:r>
            <a:endParaRPr lang="en-US" sz="1400" dirty="0"/>
          </a:p>
        </p:txBody>
      </p:sp>
      <p:sp>
        <p:nvSpPr>
          <p:cNvPr id="8" name="Text 6"/>
          <p:cNvSpPr txBox="1"/>
          <p:nvPr/>
        </p:nvSpPr>
        <p:spPr>
          <a:xfrm>
            <a:off x="987552" y="2258568"/>
            <a:ext cx="7589520" cy="594360"/>
          </a:xfrm>
          <a:prstGeom prst="rect">
            <a:avLst/>
          </a:prstGeom>
          <a:noFill/>
          <a:ln/>
        </p:spPr>
        <p:txBody>
          <a:bodyPr wrap="square" lIns="0" tIns="0" rIns="0" bIns="0" rtlCol="0" anchor="t"/>
          <a:lstStyle/>
          <a:p>
            <a:pPr indent="0" marL="0">
              <a:lnSpc>
                <a:spcPct val="110000"/>
              </a:lnSpc>
              <a:buNone/>
            </a:pPr>
            <a:r>
              <a:rPr lang="en-US" sz="1050" dirty="0">
                <a:solidFill>
                  <a:srgbClr val="C3D8E4"/>
                </a:solidFill>
                <a:latin typeface="Calibri" pitchFamily="34" charset="0"/>
                <a:ea typeface="Calibri" pitchFamily="34" charset="-122"/>
                <a:cs typeface="Calibri" pitchFamily="34" charset="-120"/>
              </a:rPr>
              <a:t>no_despike and no_savgol retain ASPLS, so comparing them against no_aspls differs by two steps. The tool's auto-interpretation for those two rows is wrong.</a:t>
            </a:r>
            <a:endParaRPr lang="en-US" sz="1050" dirty="0"/>
          </a:p>
        </p:txBody>
      </p:sp>
      <p:sp>
        <p:nvSpPr>
          <p:cNvPr id="9" name="Shape 7"/>
          <p:cNvSpPr/>
          <p:nvPr/>
        </p:nvSpPr>
        <p:spPr>
          <a:xfrm>
            <a:off x="594360" y="2953512"/>
            <a:ext cx="256032" cy="256032"/>
          </a:xfrm>
          <a:prstGeom prst="ellipse">
            <a:avLst/>
          </a:prstGeom>
          <a:solidFill>
            <a:srgbClr val="B8863B"/>
          </a:solidFill>
          <a:ln/>
        </p:spPr>
      </p:sp>
      <p:sp>
        <p:nvSpPr>
          <p:cNvPr id="10" name="Text 8"/>
          <p:cNvSpPr txBox="1"/>
          <p:nvPr/>
        </p:nvSpPr>
        <p:spPr>
          <a:xfrm>
            <a:off x="987552" y="2916936"/>
            <a:ext cx="758952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Unverified claim</a:t>
            </a:r>
            <a:endParaRPr lang="en-US" sz="1400" dirty="0"/>
          </a:p>
        </p:txBody>
      </p:sp>
      <p:sp>
        <p:nvSpPr>
          <p:cNvPr id="11" name="Text 9"/>
          <p:cNvSpPr txBox="1"/>
          <p:nvPr/>
        </p:nvSpPr>
        <p:spPr>
          <a:xfrm>
            <a:off x="987552" y="3191256"/>
            <a:ext cx="7589520" cy="594360"/>
          </a:xfrm>
          <a:prstGeom prst="rect">
            <a:avLst/>
          </a:prstGeom>
          <a:noFill/>
          <a:ln/>
        </p:spPr>
        <p:txBody>
          <a:bodyPr wrap="square" lIns="0" tIns="0" rIns="0" bIns="0" rtlCol="0" anchor="t"/>
          <a:lstStyle/>
          <a:p>
            <a:pPr indent="0" marL="0">
              <a:lnSpc>
                <a:spcPct val="110000"/>
              </a:lnSpc>
              <a:buNone/>
            </a:pPr>
            <a:r>
              <a:rPr lang="en-US" sz="1050" dirty="0">
                <a:solidFill>
                  <a:srgbClr val="C3D8E4"/>
                </a:solidFill>
                <a:latin typeface="Calibri" pitchFamily="34" charset="0"/>
                <a:ea typeface="Calibri" pitchFamily="34" charset="-122"/>
                <a:cs typeface="Calibri" pitchFamily="34" charset="-120"/>
              </a:rPr>
              <a:t>The preprocessing cache was ranked as a major speed win. The cold-vs-warm wall-clock was never measured.</a:t>
            </a:r>
            <a:endParaRPr lang="en-US" sz="1050" dirty="0"/>
          </a:p>
        </p:txBody>
      </p:sp>
      <p:sp>
        <p:nvSpPr>
          <p:cNvPr id="12" name="Shape 10"/>
          <p:cNvSpPr/>
          <p:nvPr/>
        </p:nvSpPr>
        <p:spPr>
          <a:xfrm>
            <a:off x="594360" y="3886200"/>
            <a:ext cx="256032" cy="256032"/>
          </a:xfrm>
          <a:prstGeom prst="ellipse">
            <a:avLst/>
          </a:prstGeom>
          <a:solidFill>
            <a:srgbClr val="3F9E86"/>
          </a:solidFill>
          <a:ln/>
        </p:spPr>
      </p:sp>
      <p:sp>
        <p:nvSpPr>
          <p:cNvPr id="13" name="Text 11"/>
          <p:cNvSpPr txBox="1"/>
          <p:nvPr/>
        </p:nvSpPr>
        <p:spPr>
          <a:xfrm>
            <a:off x="987552" y="3849624"/>
            <a:ext cx="758952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Untested, highest value</a:t>
            </a:r>
            <a:endParaRPr lang="en-US" sz="1400" dirty="0"/>
          </a:p>
        </p:txBody>
      </p:sp>
      <p:sp>
        <p:nvSpPr>
          <p:cNvPr id="14" name="Text 12"/>
          <p:cNvSpPr txBox="1"/>
          <p:nvPr/>
        </p:nvSpPr>
        <p:spPr>
          <a:xfrm>
            <a:off x="987552" y="4123944"/>
            <a:ext cx="7589520" cy="594360"/>
          </a:xfrm>
          <a:prstGeom prst="rect">
            <a:avLst/>
          </a:prstGeom>
          <a:noFill/>
          <a:ln/>
        </p:spPr>
        <p:txBody>
          <a:bodyPr wrap="square" lIns="0" tIns="0" rIns="0" bIns="0" rtlCol="0" anchor="t"/>
          <a:lstStyle/>
          <a:p>
            <a:pPr indent="0" marL="0">
              <a:lnSpc>
                <a:spcPct val="110000"/>
              </a:lnSpc>
              <a:buNone/>
            </a:pPr>
            <a:r>
              <a:rPr lang="en-US" sz="1050" dirty="0">
                <a:solidFill>
                  <a:srgbClr val="C3D8E4"/>
                </a:solidFill>
                <a:latin typeface="Calibri" pitchFamily="34" charset="0"/>
                <a:ea typeface="Calibri" pitchFamily="34" charset="-122"/>
                <a:cs typeface="Calibri" pitchFamily="34" charset="-120"/>
              </a:rPr>
              <a:t>Head normalisation for the new-class case, following directly from the frozen-backbone result. Also: the 8-group antibiotic task (published 97%) and 12,500 untouched clinical spectra.</a:t>
            </a:r>
            <a:endParaRPr lang="en-US" sz="1050" dirty="0"/>
          </a:p>
        </p:txBody>
      </p:sp>
      <p:sp>
        <p:nvSpPr>
          <p:cNvPr id="15" name="Text 13"/>
          <p:cNvSpPr txBox="1"/>
          <p:nvPr/>
        </p:nvSpPr>
        <p:spPr>
          <a:xfrm>
            <a:off x="594360" y="4828032"/>
            <a:ext cx="7955280" cy="310896"/>
          </a:xfrm>
          <a:prstGeom prst="rect">
            <a:avLst/>
          </a:prstGeom>
          <a:noFill/>
          <a:ln/>
        </p:spPr>
        <p:txBody>
          <a:bodyPr wrap="square" lIns="0" tIns="0" rIns="0" bIns="0" rtlCol="0" anchor="ctr"/>
          <a:lstStyle/>
          <a:p>
            <a:pPr indent="0" marL="0">
              <a:buNone/>
            </a:pPr>
            <a:r>
              <a:rPr lang="en-US" sz="950" i="1" dirty="0">
                <a:solidFill>
                  <a:srgbClr val="8FB2C6"/>
                </a:solidFill>
                <a:latin typeface="Calibri" pitchFamily="34" charset="0"/>
                <a:ea typeface="Calibri" pitchFamily="34" charset="-122"/>
                <a:cs typeface="Calibri" pitchFamily="34" charset="-120"/>
              </a:rPr>
              <a:t>Calibration: five of my six predictions during this work were wrong. ASPLS underestimated by half; the capacity finding survived when I argued it would not; forgetting appeared in the opposite configuration to the one predicted; a larger replay buffer halved new-class recall; longer fine-tuning lost a point.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RAMAN Effect: code changes, rationale and impact</dc:title>
  <dc:subject>PptxGenJS Presentation</dc:subject>
  <dc:creator>RAMAN Effect project</dc:creator>
  <cp:lastModifiedBy>RAMAN Effect project</cp:lastModifiedBy>
  <cp:revision>1</cp:revision>
  <dcterms:created xsi:type="dcterms:W3CDTF">2026-09-23T18:48:32Z</dcterms:created>
  <dcterms:modified xsi:type="dcterms:W3CDTF">2026-09-23T18:48:32Z</dcterms:modified>
</cp:coreProperties>
</file>